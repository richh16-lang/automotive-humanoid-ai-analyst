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Calibri" panose="020F0502020204030204" pitchFamily="34" charset="0"/>
      <p:regular r:id="rId12"/>
      <p:bold r:id="rId13"/>
      <p:italic r:id="rId14"/>
      <p:boldItalic r:id="rId15"/>
    </p:embeddedFont>
    <p:embeddedFont>
      <p:font typeface="Poppins" panose="020B0600000101010101" charset="0"/>
      <p:regular r:id="rId16"/>
    </p:embeddedFont>
    <p:embeddedFont>
      <p:font typeface="Poppins Bold" panose="020B0600000101010101" charset="0"/>
      <p:regular r:id="rId17"/>
    </p:embeddedFont>
    <p:embeddedFont>
      <p:font typeface="JASO Sans Bold" panose="020B0600000101010101" charset="-127"/>
      <p:regular r:id="rId18"/>
    </p:embeddedFont>
    <p:embeddedFont>
      <p:font typeface="JASO Sans" panose="020B0600000101010101" charset="-127"/>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69" d="100"/>
          <a:sy n="69" d="100"/>
        </p:scale>
        <p:origin x="114" y="21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5/10/2026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5/10/2026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5/10/2026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14.svg"/><Relationship Id="rId3" Type="http://schemas.openxmlformats.org/officeDocument/2006/relationships/image" Target="../media/image4.svg"/><Relationship Id="rId7" Type="http://schemas.openxmlformats.org/officeDocument/2006/relationships/image" Target="../media/image8.svg"/><Relationship Id="rId12"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12.svg"/><Relationship Id="rId5" Type="http://schemas.openxmlformats.org/officeDocument/2006/relationships/image" Target="../media/image6.svg"/><Relationship Id="rId10" Type="http://schemas.openxmlformats.org/officeDocument/2006/relationships/image" Target="../media/image6.png"/><Relationship Id="rId4" Type="http://schemas.openxmlformats.org/officeDocument/2006/relationships/image" Target="../media/image3.png"/><Relationship Id="rId9" Type="http://schemas.openxmlformats.org/officeDocument/2006/relationships/image" Target="../media/image10.svg"/></Relationships>
</file>

<file path=ppt/slides/_rels/slide4.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16.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6.sv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18.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6.sv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8" Type="http://schemas.openxmlformats.org/officeDocument/2006/relationships/image" Target="../media/image10.jpeg"/><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6.svg"/><Relationship Id="rId4" Type="http://schemas.openxmlformats.org/officeDocument/2006/relationships/image" Target="../media/image3.png"/><Relationship Id="rId9" Type="http://schemas.openxmlformats.org/officeDocument/2006/relationships/image" Target="../media/image11.jpeg"/></Relationships>
</file>

<file path=ppt/slides/_rels/slide7.xml.rels><?xml version="1.0" encoding="UTF-8" standalone="yes"?>
<Relationships xmlns="http://schemas.openxmlformats.org/package/2006/relationships"><Relationship Id="rId8" Type="http://schemas.openxmlformats.org/officeDocument/2006/relationships/image" Target="../media/image14.jpeg"/><Relationship Id="rId3" Type="http://schemas.openxmlformats.org/officeDocument/2006/relationships/image" Target="../media/image4.svg"/><Relationship Id="rId7" Type="http://schemas.openxmlformats.org/officeDocument/2006/relationships/image" Target="../media/image13.jpe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2.jpeg"/><Relationship Id="rId5" Type="http://schemas.openxmlformats.org/officeDocument/2006/relationships/image" Target="../media/image6.svg"/><Relationship Id="rId10" Type="http://schemas.openxmlformats.org/officeDocument/2006/relationships/image" Target="../media/image8.svg"/><Relationship Id="rId4" Type="http://schemas.openxmlformats.org/officeDocument/2006/relationships/image" Target="../media/image3.png"/><Relationship Id="rId9" Type="http://schemas.openxmlformats.org/officeDocument/2006/relationships/image" Target="../media/image4.png"/></Relationships>
</file>

<file path=ppt/slides/_rels/slide8.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4.svg"/><Relationship Id="rId7" Type="http://schemas.openxmlformats.org/officeDocument/2006/relationships/image" Target="../media/image25.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5.png"/><Relationship Id="rId11" Type="http://schemas.openxmlformats.org/officeDocument/2006/relationships/image" Target="../media/image29.svg"/><Relationship Id="rId5" Type="http://schemas.openxmlformats.org/officeDocument/2006/relationships/image" Target="../media/image6.svg"/><Relationship Id="rId10" Type="http://schemas.openxmlformats.org/officeDocument/2006/relationships/image" Target="../media/image17.png"/><Relationship Id="rId4" Type="http://schemas.openxmlformats.org/officeDocument/2006/relationships/image" Target="../media/image3.png"/><Relationship Id="rId9" Type="http://schemas.openxmlformats.org/officeDocument/2006/relationships/image" Target="../media/image27.svg"/></Relationships>
</file>

<file path=ppt/slides/_rels/slide9.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4.svg"/><Relationship Id="rId7"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6.sv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954873" cy="10287000"/>
            <a:chOff x="0" y="0"/>
            <a:chExt cx="211667" cy="2280318"/>
          </a:xfrm>
        </p:grpSpPr>
        <p:sp>
          <p:nvSpPr>
            <p:cNvPr id="3" name="Freeform 3"/>
            <p:cNvSpPr/>
            <p:nvPr/>
          </p:nvSpPr>
          <p:spPr>
            <a:xfrm>
              <a:off x="0" y="0"/>
              <a:ext cx="211667" cy="2280318"/>
            </a:xfrm>
            <a:custGeom>
              <a:avLst/>
              <a:gdLst/>
              <a:ahLst/>
              <a:cxnLst/>
              <a:rect l="l" t="t" r="r" b="b"/>
              <a:pathLst>
                <a:path w="211667" h="2280318">
                  <a:moveTo>
                    <a:pt x="0" y="0"/>
                  </a:moveTo>
                  <a:lnTo>
                    <a:pt x="211667" y="0"/>
                  </a:lnTo>
                  <a:lnTo>
                    <a:pt x="211667" y="2280318"/>
                  </a:lnTo>
                  <a:lnTo>
                    <a:pt x="0" y="2280318"/>
                  </a:lnTo>
                  <a:close/>
                </a:path>
              </a:pathLst>
            </a:custGeom>
            <a:solidFill>
              <a:srgbClr val="9F3838"/>
            </a:solidFill>
          </p:spPr>
        </p:sp>
        <p:sp>
          <p:nvSpPr>
            <p:cNvPr id="4" name="TextBox 4"/>
            <p:cNvSpPr txBox="1"/>
            <p:nvPr/>
          </p:nvSpPr>
          <p:spPr>
            <a:xfrm>
              <a:off x="0" y="-47625"/>
              <a:ext cx="211667" cy="2327943"/>
            </a:xfrm>
            <a:prstGeom prst="rect">
              <a:avLst/>
            </a:prstGeom>
          </p:spPr>
          <p:txBody>
            <a:bodyPr lIns="50800" tIns="50800" rIns="50800" bIns="50800" rtlCol="0" anchor="ctr"/>
            <a:lstStyle/>
            <a:p>
              <a:pPr algn="ctr">
                <a:lnSpc>
                  <a:spcPts val="2587"/>
                </a:lnSpc>
              </a:pPr>
              <a:endParaRPr/>
            </a:p>
          </p:txBody>
        </p:sp>
      </p:grpSp>
      <p:sp>
        <p:nvSpPr>
          <p:cNvPr id="5" name="TextBox 5"/>
          <p:cNvSpPr txBox="1"/>
          <p:nvPr/>
        </p:nvSpPr>
        <p:spPr>
          <a:xfrm>
            <a:off x="3299038" y="3368539"/>
            <a:ext cx="9759738" cy="1275556"/>
          </a:xfrm>
          <a:prstGeom prst="rect">
            <a:avLst/>
          </a:prstGeom>
        </p:spPr>
        <p:txBody>
          <a:bodyPr lIns="0" tIns="0" rIns="0" bIns="0" rtlCol="0" anchor="t">
            <a:spAutoFit/>
          </a:bodyPr>
          <a:lstStyle/>
          <a:p>
            <a:pPr marL="0" lvl="0" indent="0" algn="l">
              <a:lnSpc>
                <a:spcPts val="9649"/>
              </a:lnSpc>
            </a:pPr>
            <a:r>
              <a:rPr lang="en-US" sz="9460" b="1" spc="-189" dirty="0" err="1" smtClean="0">
                <a:solidFill>
                  <a:srgbClr val="333333"/>
                </a:solidFill>
                <a:latin typeface="JASO Sans Bold"/>
                <a:ea typeface="JASO Sans Bold"/>
                <a:cs typeface="JASO Sans Bold"/>
                <a:sym typeface="JASO Sans Bold"/>
              </a:rPr>
              <a:t>ROI를</a:t>
            </a:r>
            <a:r>
              <a:rPr lang="en-US" sz="9460" b="1" spc="-189" dirty="0" smtClean="0">
                <a:solidFill>
                  <a:srgbClr val="333333"/>
                </a:solidFill>
                <a:latin typeface="JASO Sans Bold"/>
                <a:ea typeface="JASO Sans Bold"/>
                <a:cs typeface="JASO Sans Bold"/>
                <a:sym typeface="JASO Sans Bold"/>
              </a:rPr>
              <a:t> </a:t>
            </a:r>
            <a:r>
              <a:rPr lang="en-US" sz="9460" b="1" spc="-189" dirty="0" err="1" smtClean="0">
                <a:solidFill>
                  <a:srgbClr val="333333"/>
                </a:solidFill>
                <a:latin typeface="JASO Sans Bold"/>
                <a:ea typeface="JASO Sans Bold"/>
                <a:cs typeface="JASO Sans Bold"/>
                <a:sym typeface="JASO Sans Bold"/>
              </a:rPr>
              <a:t>높이는</a:t>
            </a:r>
            <a:endParaRPr lang="en-US" sz="9460" b="1" spc="-189" dirty="0">
              <a:solidFill>
                <a:srgbClr val="333333"/>
              </a:solidFill>
              <a:latin typeface="JASO Sans Bold"/>
              <a:ea typeface="JASO Sans Bold"/>
              <a:cs typeface="JASO Sans Bold"/>
              <a:sym typeface="JASO Sans Bold"/>
            </a:endParaRPr>
          </a:p>
        </p:txBody>
      </p:sp>
      <p:sp>
        <p:nvSpPr>
          <p:cNvPr id="6" name="TextBox 6"/>
          <p:cNvSpPr txBox="1"/>
          <p:nvPr/>
        </p:nvSpPr>
        <p:spPr>
          <a:xfrm>
            <a:off x="3270463" y="4715670"/>
            <a:ext cx="10728021" cy="1278518"/>
          </a:xfrm>
          <a:prstGeom prst="rect">
            <a:avLst/>
          </a:prstGeom>
        </p:spPr>
        <p:txBody>
          <a:bodyPr lIns="0" tIns="0" rIns="0" bIns="0" rtlCol="0" anchor="t">
            <a:spAutoFit/>
          </a:bodyPr>
          <a:lstStyle/>
          <a:p>
            <a:pPr marL="0" lvl="0" indent="0" algn="l">
              <a:lnSpc>
                <a:spcPts val="9649"/>
              </a:lnSpc>
            </a:pPr>
            <a:r>
              <a:rPr lang="en-US" sz="9460" b="1" spc="-189">
                <a:solidFill>
                  <a:srgbClr val="9F3838"/>
                </a:solidFill>
                <a:latin typeface="JASO Sans Bold"/>
                <a:ea typeface="JASO Sans Bold"/>
                <a:cs typeface="JASO Sans Bold"/>
                <a:sym typeface="JASO Sans Bold"/>
              </a:rPr>
              <a:t>실행형 마케팅 전략</a:t>
            </a:r>
          </a:p>
        </p:txBody>
      </p:sp>
      <p:sp>
        <p:nvSpPr>
          <p:cNvPr id="7" name="Freeform 7"/>
          <p:cNvSpPr/>
          <p:nvPr/>
        </p:nvSpPr>
        <p:spPr>
          <a:xfrm>
            <a:off x="13327537" y="3374237"/>
            <a:ext cx="2536411" cy="2444466"/>
          </a:xfrm>
          <a:custGeom>
            <a:avLst/>
            <a:gdLst/>
            <a:ahLst/>
            <a:cxnLst/>
            <a:rect l="l" t="t" r="r" b="b"/>
            <a:pathLst>
              <a:path w="2536411" h="2444466">
                <a:moveTo>
                  <a:pt x="0" y="0"/>
                </a:moveTo>
                <a:lnTo>
                  <a:pt x="2536411" y="0"/>
                </a:lnTo>
                <a:lnTo>
                  <a:pt x="2536411" y="2444466"/>
                </a:lnTo>
                <a:lnTo>
                  <a:pt x="0" y="2444466"/>
                </a:lnTo>
                <a:lnTo>
                  <a:pt x="0" y="0"/>
                </a:lnTo>
                <a:close/>
              </a:path>
            </a:pathLst>
          </a:custGeom>
          <a:blipFill>
            <a:blip r:embed="rId2">
              <a:alphaModFix amt="15000"/>
              <a:extLst>
                <a:ext uri="{96DAC541-7B7A-43D3-8B79-37D633B846F1}">
                  <asvg:svgBlip xmlns:asvg="http://schemas.microsoft.com/office/drawing/2016/SVG/main" xmlns="" r:embed="rId3"/>
                </a:ext>
              </a:extLst>
            </a:blip>
            <a:stretch>
              <a:fillRect/>
            </a:stretch>
          </a:blipFill>
        </p:spPr>
      </p:sp>
      <p:sp>
        <p:nvSpPr>
          <p:cNvPr id="8" name="TextBox 8"/>
          <p:cNvSpPr txBox="1"/>
          <p:nvPr/>
        </p:nvSpPr>
        <p:spPr>
          <a:xfrm>
            <a:off x="3369401" y="6149734"/>
            <a:ext cx="10520872" cy="298977"/>
          </a:xfrm>
          <a:prstGeom prst="rect">
            <a:avLst/>
          </a:prstGeom>
        </p:spPr>
        <p:txBody>
          <a:bodyPr lIns="0" tIns="0" rIns="0" bIns="0" rtlCol="0" anchor="t">
            <a:spAutoFit/>
          </a:bodyPr>
          <a:lstStyle/>
          <a:p>
            <a:pPr algn="l">
              <a:lnSpc>
                <a:spcPts val="2587"/>
              </a:lnSpc>
            </a:pPr>
            <a:r>
              <a:rPr lang="en-US" sz="1679" spc="-16">
                <a:solidFill>
                  <a:srgbClr val="333333">
                    <a:alpha val="45882"/>
                  </a:srgbClr>
                </a:solidFill>
                <a:latin typeface="JASO Sans"/>
                <a:ea typeface="JASO Sans"/>
                <a:cs typeface="JASO Sans"/>
                <a:sym typeface="JASO Sans"/>
              </a:rPr>
              <a:t>데이터 기반 퍼널 최적화로 도달·참여·전환을 확대하고 정량적 ROI를 보장합니다.</a:t>
            </a:r>
          </a:p>
        </p:txBody>
      </p:sp>
      <p:sp>
        <p:nvSpPr>
          <p:cNvPr id="9" name="TextBox 9"/>
          <p:cNvSpPr txBox="1"/>
          <p:nvPr/>
        </p:nvSpPr>
        <p:spPr>
          <a:xfrm>
            <a:off x="3378926" y="2670467"/>
            <a:ext cx="4279199" cy="435104"/>
          </a:xfrm>
          <a:prstGeom prst="rect">
            <a:avLst/>
          </a:prstGeom>
        </p:spPr>
        <p:txBody>
          <a:bodyPr lIns="0" tIns="0" rIns="0" bIns="0" rtlCol="0" anchor="t">
            <a:spAutoFit/>
          </a:bodyPr>
          <a:lstStyle/>
          <a:p>
            <a:pPr marL="0" lvl="0" indent="0" algn="l">
              <a:lnSpc>
                <a:spcPts val="3313"/>
              </a:lnSpc>
            </a:pPr>
            <a:r>
              <a:rPr lang="en-US" sz="3248" b="1" spc="-64" dirty="0" err="1" smtClean="0">
                <a:solidFill>
                  <a:srgbClr val="333333"/>
                </a:solidFill>
                <a:latin typeface="JASO Sans Bold"/>
                <a:ea typeface="JASO Sans Bold"/>
                <a:cs typeface="JASO Sans Bold"/>
                <a:sym typeface="JASO Sans Bold"/>
              </a:rPr>
              <a:t>aaaa</a:t>
            </a:r>
            <a:endParaRPr lang="en-US" sz="3248" b="1" spc="-64" dirty="0">
              <a:solidFill>
                <a:srgbClr val="333333"/>
              </a:solidFill>
              <a:latin typeface="JASO Sans Bold"/>
              <a:ea typeface="JASO Sans Bold"/>
              <a:cs typeface="JASO Sans Bold"/>
              <a:sym typeface="JASO Sans Bold"/>
            </a:endParaRPr>
          </a:p>
        </p:txBody>
      </p:sp>
      <p:sp>
        <p:nvSpPr>
          <p:cNvPr id="11" name="AutoShape 11"/>
          <p:cNvSpPr/>
          <p:nvPr/>
        </p:nvSpPr>
        <p:spPr>
          <a:xfrm>
            <a:off x="3378926" y="7134079"/>
            <a:ext cx="12485022" cy="0"/>
          </a:xfrm>
          <a:prstGeom prst="line">
            <a:avLst/>
          </a:prstGeom>
          <a:ln w="9525" cap="flat">
            <a:solidFill>
              <a:srgbClr val="333333"/>
            </a:solidFill>
            <a:prstDash val="solid"/>
            <a:headEnd type="none" w="sm" len="sm"/>
            <a:tailEnd type="none" w="sm" len="sm"/>
          </a:ln>
        </p:spPr>
      </p:sp>
      <p:sp>
        <p:nvSpPr>
          <p:cNvPr id="12" name="AutoShape 12"/>
          <p:cNvSpPr/>
          <p:nvPr/>
        </p:nvSpPr>
        <p:spPr>
          <a:xfrm>
            <a:off x="5555731" y="7444970"/>
            <a:ext cx="0" cy="207696"/>
          </a:xfrm>
          <a:prstGeom prst="line">
            <a:avLst/>
          </a:prstGeom>
          <a:ln w="9525" cap="flat">
            <a:solidFill>
              <a:srgbClr val="333333"/>
            </a:solidFill>
            <a:prstDash val="solid"/>
            <a:headEnd type="none" w="sm" len="sm"/>
            <a:tailEnd type="none" w="sm" len="sm"/>
          </a:ln>
        </p:spPr>
      </p:sp>
      <p:sp>
        <p:nvSpPr>
          <p:cNvPr id="13" name="TextBox 13"/>
          <p:cNvSpPr txBox="1"/>
          <p:nvPr/>
        </p:nvSpPr>
        <p:spPr>
          <a:xfrm>
            <a:off x="3373847" y="7421613"/>
            <a:ext cx="2043327" cy="235001"/>
          </a:xfrm>
          <a:prstGeom prst="rect">
            <a:avLst/>
          </a:prstGeom>
        </p:spPr>
        <p:txBody>
          <a:bodyPr lIns="0" tIns="0" rIns="0" bIns="0" rtlCol="0" anchor="t">
            <a:spAutoFit/>
          </a:bodyPr>
          <a:lstStyle/>
          <a:p>
            <a:pPr algn="l">
              <a:lnSpc>
                <a:spcPts val="2047"/>
              </a:lnSpc>
            </a:pPr>
            <a:r>
              <a:rPr lang="ko-KR" altLang="en-US" sz="1563" spc="-31" dirty="0" err="1" smtClean="0">
                <a:solidFill>
                  <a:srgbClr val="333333"/>
                </a:solidFill>
                <a:latin typeface="JASO Sans"/>
                <a:ea typeface="JASO Sans"/>
                <a:cs typeface="JASO Sans"/>
                <a:sym typeface="JASO Sans"/>
              </a:rPr>
              <a:t>한인창</a:t>
            </a:r>
            <a:endParaRPr lang="en-US" sz="1563" spc="-31" dirty="0">
              <a:solidFill>
                <a:srgbClr val="333333"/>
              </a:solidFill>
              <a:latin typeface="JASO Sans"/>
              <a:ea typeface="JASO Sans"/>
              <a:cs typeface="JASO Sans"/>
              <a:sym typeface="JASO Sans"/>
            </a:endParaRPr>
          </a:p>
        </p:txBody>
      </p:sp>
      <p:sp>
        <p:nvSpPr>
          <p:cNvPr id="15" name="Freeform 15"/>
          <p:cNvSpPr/>
          <p:nvPr/>
        </p:nvSpPr>
        <p:spPr>
          <a:xfrm rot="-5400000">
            <a:off x="17537790" y="305848"/>
            <a:ext cx="82863" cy="368281"/>
          </a:xfrm>
          <a:custGeom>
            <a:avLst/>
            <a:gdLst/>
            <a:ahLst/>
            <a:cxnLst/>
            <a:rect l="l" t="t" r="r" b="b"/>
            <a:pathLst>
              <a:path w="82863" h="368281">
                <a:moveTo>
                  <a:pt x="0" y="0"/>
                </a:moveTo>
                <a:lnTo>
                  <a:pt x="82864" y="0"/>
                </a:lnTo>
                <a:lnTo>
                  <a:pt x="82864" y="368282"/>
                </a:lnTo>
                <a:lnTo>
                  <a:pt x="0" y="368282"/>
                </a:lnTo>
                <a:lnTo>
                  <a:pt x="0" y="0"/>
                </a:lnTo>
                <a:close/>
              </a:path>
            </a:pathLst>
          </a:custGeom>
          <a:blipFill>
            <a:blip r:embed="rId4">
              <a:alphaModFix amt="50000"/>
              <a:extLst>
                <a:ext uri="{96DAC541-7B7A-43D3-8B79-37D633B846F1}">
                  <asvg:svgBlip xmlns:asvg="http://schemas.microsoft.com/office/drawing/2016/SVG/main" xmlns="" r:embed="rId5"/>
                </a:ext>
              </a:extLst>
            </a:blip>
            <a:stretch>
              <a:fillRect/>
            </a:stretch>
          </a:blipFill>
          <a:ln cap="sq">
            <a:noFill/>
            <a:prstDash val="solid"/>
            <a:miter/>
          </a:ln>
        </p:spPr>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p:cNvGrpSpPr/>
        <p:nvPr/>
      </p:nvGrpSpPr>
      <p:grpSpPr>
        <a:xfrm>
          <a:off x="0" y="0"/>
          <a:ext cx="0" cy="0"/>
          <a:chOff x="0" y="0"/>
          <a:chExt cx="0" cy="0"/>
        </a:xfrm>
      </p:grpSpPr>
      <p:grpSp>
        <p:nvGrpSpPr>
          <p:cNvPr id="2" name="Group 2"/>
          <p:cNvGrpSpPr/>
          <p:nvPr/>
        </p:nvGrpSpPr>
        <p:grpSpPr>
          <a:xfrm rot="-5400000">
            <a:off x="9096607" y="1095607"/>
            <a:ext cx="94785" cy="18288000"/>
            <a:chOff x="0" y="0"/>
            <a:chExt cx="11819" cy="2280318"/>
          </a:xfrm>
        </p:grpSpPr>
        <p:sp>
          <p:nvSpPr>
            <p:cNvPr id="3" name="Freeform 3"/>
            <p:cNvSpPr/>
            <p:nvPr/>
          </p:nvSpPr>
          <p:spPr>
            <a:xfrm>
              <a:off x="0" y="0"/>
              <a:ext cx="11819" cy="2280318"/>
            </a:xfrm>
            <a:custGeom>
              <a:avLst/>
              <a:gdLst/>
              <a:ahLst/>
              <a:cxnLst/>
              <a:rect l="l" t="t" r="r" b="b"/>
              <a:pathLst>
                <a:path w="11819" h="2280318">
                  <a:moveTo>
                    <a:pt x="0" y="0"/>
                  </a:moveTo>
                  <a:lnTo>
                    <a:pt x="11819" y="0"/>
                  </a:lnTo>
                  <a:lnTo>
                    <a:pt x="11819" y="2280318"/>
                  </a:lnTo>
                  <a:lnTo>
                    <a:pt x="0" y="2280318"/>
                  </a:lnTo>
                  <a:close/>
                </a:path>
              </a:pathLst>
            </a:custGeom>
            <a:solidFill>
              <a:srgbClr val="9F3838"/>
            </a:solidFill>
          </p:spPr>
        </p:sp>
        <p:sp>
          <p:nvSpPr>
            <p:cNvPr id="4" name="TextBox 4"/>
            <p:cNvSpPr txBox="1"/>
            <p:nvPr/>
          </p:nvSpPr>
          <p:spPr>
            <a:xfrm>
              <a:off x="0" y="-47625"/>
              <a:ext cx="11819" cy="2327943"/>
            </a:xfrm>
            <a:prstGeom prst="rect">
              <a:avLst/>
            </a:prstGeom>
          </p:spPr>
          <p:txBody>
            <a:bodyPr lIns="50800" tIns="50800" rIns="50800" bIns="50800" rtlCol="0" anchor="ctr"/>
            <a:lstStyle/>
            <a:p>
              <a:pPr algn="ctr">
                <a:lnSpc>
                  <a:spcPts val="2587"/>
                </a:lnSpc>
              </a:pPr>
              <a:endParaRPr/>
            </a:p>
          </p:txBody>
        </p:sp>
      </p:grpSp>
      <p:sp>
        <p:nvSpPr>
          <p:cNvPr id="5" name="Freeform 5"/>
          <p:cNvSpPr/>
          <p:nvPr/>
        </p:nvSpPr>
        <p:spPr>
          <a:xfrm rot="-5400000">
            <a:off x="17537790" y="305848"/>
            <a:ext cx="82863" cy="368281"/>
          </a:xfrm>
          <a:custGeom>
            <a:avLst/>
            <a:gdLst/>
            <a:ahLst/>
            <a:cxnLst/>
            <a:rect l="l" t="t" r="r" b="b"/>
            <a:pathLst>
              <a:path w="82863" h="368281">
                <a:moveTo>
                  <a:pt x="0" y="0"/>
                </a:moveTo>
                <a:lnTo>
                  <a:pt x="82864" y="0"/>
                </a:lnTo>
                <a:lnTo>
                  <a:pt x="82864" y="368282"/>
                </a:lnTo>
                <a:lnTo>
                  <a:pt x="0" y="368282"/>
                </a:lnTo>
                <a:lnTo>
                  <a:pt x="0" y="0"/>
                </a:lnTo>
                <a:close/>
              </a:path>
            </a:pathLst>
          </a:custGeom>
          <a:blipFill>
            <a:blip r:embed="rId2">
              <a:alphaModFix amt="50000"/>
              <a:extLst>
                <a:ext uri="{96DAC541-7B7A-43D3-8B79-37D633B846F1}">
                  <asvg:svgBlip xmlns:asvg="http://schemas.microsoft.com/office/drawing/2016/SVG/main" xmlns="" r:embed="rId3"/>
                </a:ext>
              </a:extLst>
            </a:blip>
            <a:stretch>
              <a:fillRect/>
            </a:stretch>
          </a:blipFill>
          <a:ln cap="sq">
            <a:noFill/>
            <a:prstDash val="solid"/>
            <a:miter/>
          </a:ln>
        </p:spPr>
      </p:sp>
      <p:sp>
        <p:nvSpPr>
          <p:cNvPr id="6" name="AutoShape 6"/>
          <p:cNvSpPr/>
          <p:nvPr/>
        </p:nvSpPr>
        <p:spPr>
          <a:xfrm>
            <a:off x="651497" y="2036945"/>
            <a:ext cx="16985007" cy="0"/>
          </a:xfrm>
          <a:prstGeom prst="line">
            <a:avLst/>
          </a:prstGeom>
          <a:ln w="9525" cap="flat">
            <a:solidFill>
              <a:srgbClr val="333333">
                <a:alpha val="49804"/>
              </a:srgbClr>
            </a:solidFill>
            <a:prstDash val="solid"/>
            <a:headEnd type="none" w="sm" len="sm"/>
            <a:tailEnd type="none" w="sm" len="sm"/>
          </a:ln>
        </p:spPr>
      </p:sp>
      <p:sp>
        <p:nvSpPr>
          <p:cNvPr id="7" name="Freeform 7"/>
          <p:cNvSpPr/>
          <p:nvPr/>
        </p:nvSpPr>
        <p:spPr>
          <a:xfrm>
            <a:off x="958901" y="972638"/>
            <a:ext cx="321816" cy="321816"/>
          </a:xfrm>
          <a:custGeom>
            <a:avLst/>
            <a:gdLst/>
            <a:ahLst/>
            <a:cxnLst/>
            <a:rect l="l" t="t" r="r" b="b"/>
            <a:pathLst>
              <a:path w="321816" h="321816">
                <a:moveTo>
                  <a:pt x="0" y="0"/>
                </a:moveTo>
                <a:lnTo>
                  <a:pt x="321815" y="0"/>
                </a:lnTo>
                <a:lnTo>
                  <a:pt x="321815" y="321816"/>
                </a:lnTo>
                <a:lnTo>
                  <a:pt x="0" y="321816"/>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8" name="TextBox 8"/>
          <p:cNvSpPr txBox="1"/>
          <p:nvPr/>
        </p:nvSpPr>
        <p:spPr>
          <a:xfrm>
            <a:off x="1448568" y="830869"/>
            <a:ext cx="8440356" cy="710129"/>
          </a:xfrm>
          <a:prstGeom prst="rect">
            <a:avLst/>
          </a:prstGeom>
        </p:spPr>
        <p:txBody>
          <a:bodyPr lIns="0" tIns="0" rIns="0" bIns="0" rtlCol="0" anchor="t">
            <a:spAutoFit/>
          </a:bodyPr>
          <a:lstStyle/>
          <a:p>
            <a:pPr marL="0" lvl="0" indent="0" algn="l">
              <a:lnSpc>
                <a:spcPts val="5337"/>
              </a:lnSpc>
            </a:pPr>
            <a:r>
              <a:rPr lang="en-US" sz="5232" b="1" spc="-104">
                <a:solidFill>
                  <a:srgbClr val="333333"/>
                </a:solidFill>
                <a:latin typeface="JASO Sans Bold"/>
                <a:ea typeface="JASO Sans Bold"/>
                <a:cs typeface="JASO Sans Bold"/>
                <a:sym typeface="JASO Sans Bold"/>
              </a:rPr>
              <a:t>목차보기</a:t>
            </a:r>
          </a:p>
        </p:txBody>
      </p:sp>
      <p:sp>
        <p:nvSpPr>
          <p:cNvPr id="9" name="TextBox 9"/>
          <p:cNvSpPr txBox="1"/>
          <p:nvPr/>
        </p:nvSpPr>
        <p:spPr>
          <a:xfrm>
            <a:off x="1988929" y="4163422"/>
            <a:ext cx="3806749" cy="209506"/>
          </a:xfrm>
          <a:prstGeom prst="rect">
            <a:avLst/>
          </a:prstGeom>
        </p:spPr>
        <p:txBody>
          <a:bodyPr lIns="0" tIns="0" rIns="0" bIns="0" rtlCol="0" anchor="t">
            <a:spAutoFit/>
          </a:bodyPr>
          <a:lstStyle/>
          <a:p>
            <a:pPr algn="ctr">
              <a:lnSpc>
                <a:spcPts val="1620"/>
              </a:lnSpc>
            </a:pPr>
            <a:r>
              <a:rPr lang="en-US" sz="1350" spc="-62">
                <a:solidFill>
                  <a:srgbClr val="333333">
                    <a:alpha val="36863"/>
                  </a:srgbClr>
                </a:solidFill>
                <a:latin typeface="JASO Sans"/>
                <a:ea typeface="JASO Sans"/>
                <a:cs typeface="JASO Sans"/>
                <a:sym typeface="JASO Sans"/>
              </a:rPr>
              <a:t>현재 마케팅 시장의 환경 및 트렌드 분석자료입니다.</a:t>
            </a:r>
          </a:p>
        </p:txBody>
      </p:sp>
      <p:sp>
        <p:nvSpPr>
          <p:cNvPr id="10" name="TextBox 10"/>
          <p:cNvSpPr txBox="1"/>
          <p:nvPr/>
        </p:nvSpPr>
        <p:spPr>
          <a:xfrm>
            <a:off x="1988929" y="6170474"/>
            <a:ext cx="3806749" cy="209506"/>
          </a:xfrm>
          <a:prstGeom prst="rect">
            <a:avLst/>
          </a:prstGeom>
        </p:spPr>
        <p:txBody>
          <a:bodyPr lIns="0" tIns="0" rIns="0" bIns="0" rtlCol="0" anchor="t">
            <a:spAutoFit/>
          </a:bodyPr>
          <a:lstStyle/>
          <a:p>
            <a:pPr algn="ctr">
              <a:lnSpc>
                <a:spcPts val="1620"/>
              </a:lnSpc>
            </a:pPr>
            <a:r>
              <a:rPr lang="en-US" sz="1350" spc="-62">
                <a:solidFill>
                  <a:srgbClr val="333333">
                    <a:alpha val="36863"/>
                  </a:srgbClr>
                </a:solidFill>
                <a:latin typeface="JASO Sans"/>
                <a:ea typeface="JASO Sans"/>
                <a:cs typeface="JASO Sans"/>
                <a:sym typeface="JASO Sans"/>
              </a:rPr>
              <a:t>마케팅의 핵심, 콘텐츠 전략을 소개합니다.</a:t>
            </a:r>
          </a:p>
        </p:txBody>
      </p:sp>
      <p:sp>
        <p:nvSpPr>
          <p:cNvPr id="11" name="TextBox 11"/>
          <p:cNvSpPr txBox="1"/>
          <p:nvPr/>
        </p:nvSpPr>
        <p:spPr>
          <a:xfrm>
            <a:off x="1988929" y="8178480"/>
            <a:ext cx="3806749" cy="209506"/>
          </a:xfrm>
          <a:prstGeom prst="rect">
            <a:avLst/>
          </a:prstGeom>
        </p:spPr>
        <p:txBody>
          <a:bodyPr lIns="0" tIns="0" rIns="0" bIns="0" rtlCol="0" anchor="t">
            <a:spAutoFit/>
          </a:bodyPr>
          <a:lstStyle/>
          <a:p>
            <a:pPr algn="ctr">
              <a:lnSpc>
                <a:spcPts val="1620"/>
              </a:lnSpc>
            </a:pPr>
            <a:r>
              <a:rPr lang="en-US" sz="1350" spc="-62">
                <a:solidFill>
                  <a:srgbClr val="333333">
                    <a:alpha val="36863"/>
                  </a:srgbClr>
                </a:solidFill>
                <a:latin typeface="JASO Sans"/>
                <a:ea typeface="JASO Sans"/>
                <a:cs typeface="JASO Sans"/>
                <a:sym typeface="JASO Sans"/>
              </a:rPr>
              <a:t>프로젝트 전체 예산 및 성과에 대해 소개합니다.</a:t>
            </a:r>
          </a:p>
        </p:txBody>
      </p:sp>
      <p:sp>
        <p:nvSpPr>
          <p:cNvPr id="12" name="TextBox 12"/>
          <p:cNvSpPr txBox="1"/>
          <p:nvPr/>
        </p:nvSpPr>
        <p:spPr>
          <a:xfrm>
            <a:off x="7240625" y="8178480"/>
            <a:ext cx="3806749" cy="209506"/>
          </a:xfrm>
          <a:prstGeom prst="rect">
            <a:avLst/>
          </a:prstGeom>
        </p:spPr>
        <p:txBody>
          <a:bodyPr lIns="0" tIns="0" rIns="0" bIns="0" rtlCol="0" anchor="t">
            <a:spAutoFit/>
          </a:bodyPr>
          <a:lstStyle/>
          <a:p>
            <a:pPr algn="ctr">
              <a:lnSpc>
                <a:spcPts val="1620"/>
              </a:lnSpc>
            </a:pPr>
            <a:r>
              <a:rPr lang="en-US" sz="1350" spc="-62">
                <a:solidFill>
                  <a:srgbClr val="333333">
                    <a:alpha val="36863"/>
                  </a:srgbClr>
                </a:solidFill>
                <a:latin typeface="JASO Sans"/>
                <a:ea typeface="JASO Sans"/>
                <a:cs typeface="JASO Sans"/>
                <a:sym typeface="JASO Sans"/>
              </a:rPr>
              <a:t>프로젝트에 대한 질의응답 시간입니다.</a:t>
            </a:r>
          </a:p>
        </p:txBody>
      </p:sp>
      <p:sp>
        <p:nvSpPr>
          <p:cNvPr id="13" name="TextBox 13"/>
          <p:cNvSpPr txBox="1"/>
          <p:nvPr/>
        </p:nvSpPr>
        <p:spPr>
          <a:xfrm>
            <a:off x="7240625" y="4163422"/>
            <a:ext cx="3806749" cy="209506"/>
          </a:xfrm>
          <a:prstGeom prst="rect">
            <a:avLst/>
          </a:prstGeom>
        </p:spPr>
        <p:txBody>
          <a:bodyPr lIns="0" tIns="0" rIns="0" bIns="0" rtlCol="0" anchor="t">
            <a:spAutoFit/>
          </a:bodyPr>
          <a:lstStyle/>
          <a:p>
            <a:pPr algn="ctr">
              <a:lnSpc>
                <a:spcPts val="1620"/>
              </a:lnSpc>
            </a:pPr>
            <a:r>
              <a:rPr lang="en-US" sz="1350" spc="-62">
                <a:solidFill>
                  <a:srgbClr val="333333">
                    <a:alpha val="36863"/>
                  </a:srgbClr>
                </a:solidFill>
                <a:latin typeface="JASO Sans"/>
                <a:ea typeface="JASO Sans"/>
                <a:cs typeface="JASO Sans"/>
                <a:sym typeface="JASO Sans"/>
              </a:rPr>
              <a:t>효율적 마케팅을 위한 타겟 고객 세분화 전략입니다.</a:t>
            </a:r>
          </a:p>
        </p:txBody>
      </p:sp>
      <p:sp>
        <p:nvSpPr>
          <p:cNvPr id="14" name="TextBox 14"/>
          <p:cNvSpPr txBox="1"/>
          <p:nvPr/>
        </p:nvSpPr>
        <p:spPr>
          <a:xfrm>
            <a:off x="7240625" y="6170474"/>
            <a:ext cx="3806749" cy="209506"/>
          </a:xfrm>
          <a:prstGeom prst="rect">
            <a:avLst/>
          </a:prstGeom>
        </p:spPr>
        <p:txBody>
          <a:bodyPr lIns="0" tIns="0" rIns="0" bIns="0" rtlCol="0" anchor="t">
            <a:spAutoFit/>
          </a:bodyPr>
          <a:lstStyle/>
          <a:p>
            <a:pPr algn="ctr">
              <a:lnSpc>
                <a:spcPts val="1620"/>
              </a:lnSpc>
            </a:pPr>
            <a:r>
              <a:rPr lang="en-US" sz="1350" spc="-62">
                <a:solidFill>
                  <a:srgbClr val="333333">
                    <a:alpha val="36863"/>
                  </a:srgbClr>
                </a:solidFill>
                <a:latin typeface="JASO Sans"/>
                <a:ea typeface="JASO Sans"/>
                <a:cs typeface="JASO Sans"/>
                <a:sym typeface="JASO Sans"/>
              </a:rPr>
              <a:t>인플루언서와의 협업을 통한 성장을 예측합니다.</a:t>
            </a:r>
          </a:p>
        </p:txBody>
      </p:sp>
      <p:sp>
        <p:nvSpPr>
          <p:cNvPr id="15" name="TextBox 15"/>
          <p:cNvSpPr txBox="1"/>
          <p:nvPr/>
        </p:nvSpPr>
        <p:spPr>
          <a:xfrm>
            <a:off x="12501846" y="4163422"/>
            <a:ext cx="3806749" cy="209506"/>
          </a:xfrm>
          <a:prstGeom prst="rect">
            <a:avLst/>
          </a:prstGeom>
        </p:spPr>
        <p:txBody>
          <a:bodyPr lIns="0" tIns="0" rIns="0" bIns="0" rtlCol="0" anchor="t">
            <a:spAutoFit/>
          </a:bodyPr>
          <a:lstStyle/>
          <a:p>
            <a:pPr algn="ctr">
              <a:lnSpc>
                <a:spcPts val="1620"/>
              </a:lnSpc>
            </a:pPr>
            <a:r>
              <a:rPr lang="en-US" sz="1350" spc="-62">
                <a:solidFill>
                  <a:srgbClr val="333333">
                    <a:alpha val="36863"/>
                  </a:srgbClr>
                </a:solidFill>
                <a:latin typeface="JASO Sans"/>
                <a:ea typeface="JASO Sans"/>
                <a:cs typeface="JASO Sans"/>
                <a:sym typeface="JASO Sans"/>
              </a:rPr>
              <a:t>다양한 SNS별 맞춤 전략을 소개합니다.</a:t>
            </a:r>
          </a:p>
        </p:txBody>
      </p:sp>
      <p:sp>
        <p:nvSpPr>
          <p:cNvPr id="16" name="TextBox 16"/>
          <p:cNvSpPr txBox="1"/>
          <p:nvPr/>
        </p:nvSpPr>
        <p:spPr>
          <a:xfrm>
            <a:off x="12501846" y="6170474"/>
            <a:ext cx="3806749" cy="209506"/>
          </a:xfrm>
          <a:prstGeom prst="rect">
            <a:avLst/>
          </a:prstGeom>
        </p:spPr>
        <p:txBody>
          <a:bodyPr lIns="0" tIns="0" rIns="0" bIns="0" rtlCol="0" anchor="t">
            <a:spAutoFit/>
          </a:bodyPr>
          <a:lstStyle/>
          <a:p>
            <a:pPr algn="ctr">
              <a:lnSpc>
                <a:spcPts val="1620"/>
              </a:lnSpc>
            </a:pPr>
            <a:r>
              <a:rPr lang="en-US" sz="1350" spc="-62">
                <a:solidFill>
                  <a:srgbClr val="333333">
                    <a:alpha val="36863"/>
                  </a:srgbClr>
                </a:solidFill>
                <a:latin typeface="JASO Sans"/>
                <a:ea typeface="JASO Sans"/>
                <a:cs typeface="JASO Sans"/>
                <a:sym typeface="JASO Sans"/>
              </a:rPr>
              <a:t>라라나만의 캠페인 플로우를 소개합니다.</a:t>
            </a:r>
          </a:p>
        </p:txBody>
      </p:sp>
      <p:sp>
        <p:nvSpPr>
          <p:cNvPr id="17" name="TextBox 17"/>
          <p:cNvSpPr txBox="1"/>
          <p:nvPr/>
        </p:nvSpPr>
        <p:spPr>
          <a:xfrm>
            <a:off x="3370889" y="3126923"/>
            <a:ext cx="1042830" cy="314347"/>
          </a:xfrm>
          <a:prstGeom prst="rect">
            <a:avLst/>
          </a:prstGeom>
        </p:spPr>
        <p:txBody>
          <a:bodyPr lIns="0" tIns="0" rIns="0" bIns="0" rtlCol="0" anchor="t">
            <a:spAutoFit/>
          </a:bodyPr>
          <a:lstStyle/>
          <a:p>
            <a:pPr algn="ctr">
              <a:lnSpc>
                <a:spcPts val="2416"/>
              </a:lnSpc>
            </a:pPr>
            <a:r>
              <a:rPr lang="en-US" sz="2013" spc="40">
                <a:solidFill>
                  <a:srgbClr val="9F3838"/>
                </a:solidFill>
                <a:latin typeface="JASO Sans"/>
                <a:ea typeface="JASO Sans"/>
                <a:cs typeface="JASO Sans"/>
                <a:sym typeface="JASO Sans"/>
              </a:rPr>
              <a:t>01</a:t>
            </a:r>
          </a:p>
        </p:txBody>
      </p:sp>
      <p:sp>
        <p:nvSpPr>
          <p:cNvPr id="18" name="TextBox 18"/>
          <p:cNvSpPr txBox="1"/>
          <p:nvPr/>
        </p:nvSpPr>
        <p:spPr>
          <a:xfrm>
            <a:off x="3370889" y="5133975"/>
            <a:ext cx="1042830" cy="314347"/>
          </a:xfrm>
          <a:prstGeom prst="rect">
            <a:avLst/>
          </a:prstGeom>
        </p:spPr>
        <p:txBody>
          <a:bodyPr lIns="0" tIns="0" rIns="0" bIns="0" rtlCol="0" anchor="t">
            <a:spAutoFit/>
          </a:bodyPr>
          <a:lstStyle/>
          <a:p>
            <a:pPr algn="ctr">
              <a:lnSpc>
                <a:spcPts val="2416"/>
              </a:lnSpc>
            </a:pPr>
            <a:r>
              <a:rPr lang="en-US" sz="2013" spc="40">
                <a:solidFill>
                  <a:srgbClr val="9F3838"/>
                </a:solidFill>
                <a:latin typeface="JASO Sans"/>
                <a:ea typeface="JASO Sans"/>
                <a:cs typeface="JASO Sans"/>
                <a:sym typeface="JASO Sans"/>
              </a:rPr>
              <a:t>04</a:t>
            </a:r>
          </a:p>
        </p:txBody>
      </p:sp>
      <p:sp>
        <p:nvSpPr>
          <p:cNvPr id="19" name="TextBox 19"/>
          <p:cNvSpPr txBox="1"/>
          <p:nvPr/>
        </p:nvSpPr>
        <p:spPr>
          <a:xfrm>
            <a:off x="3370889" y="7141980"/>
            <a:ext cx="1042830" cy="314347"/>
          </a:xfrm>
          <a:prstGeom prst="rect">
            <a:avLst/>
          </a:prstGeom>
        </p:spPr>
        <p:txBody>
          <a:bodyPr lIns="0" tIns="0" rIns="0" bIns="0" rtlCol="0" anchor="t">
            <a:spAutoFit/>
          </a:bodyPr>
          <a:lstStyle/>
          <a:p>
            <a:pPr algn="ctr">
              <a:lnSpc>
                <a:spcPts val="2416"/>
              </a:lnSpc>
            </a:pPr>
            <a:r>
              <a:rPr lang="en-US" sz="2013" spc="40">
                <a:solidFill>
                  <a:srgbClr val="9F3838"/>
                </a:solidFill>
                <a:latin typeface="JASO Sans"/>
                <a:ea typeface="JASO Sans"/>
                <a:cs typeface="JASO Sans"/>
                <a:sym typeface="JASO Sans"/>
              </a:rPr>
              <a:t>07</a:t>
            </a:r>
          </a:p>
        </p:txBody>
      </p:sp>
      <p:sp>
        <p:nvSpPr>
          <p:cNvPr id="20" name="TextBox 20"/>
          <p:cNvSpPr txBox="1"/>
          <p:nvPr/>
        </p:nvSpPr>
        <p:spPr>
          <a:xfrm>
            <a:off x="8622585" y="7141980"/>
            <a:ext cx="1042830" cy="314347"/>
          </a:xfrm>
          <a:prstGeom prst="rect">
            <a:avLst/>
          </a:prstGeom>
        </p:spPr>
        <p:txBody>
          <a:bodyPr lIns="0" tIns="0" rIns="0" bIns="0" rtlCol="0" anchor="t">
            <a:spAutoFit/>
          </a:bodyPr>
          <a:lstStyle/>
          <a:p>
            <a:pPr algn="ctr">
              <a:lnSpc>
                <a:spcPts val="2416"/>
              </a:lnSpc>
            </a:pPr>
            <a:r>
              <a:rPr lang="en-US" sz="2013" spc="40">
                <a:solidFill>
                  <a:srgbClr val="9F3838"/>
                </a:solidFill>
                <a:latin typeface="JASO Sans"/>
                <a:ea typeface="JASO Sans"/>
                <a:cs typeface="JASO Sans"/>
                <a:sym typeface="JASO Sans"/>
              </a:rPr>
              <a:t>08</a:t>
            </a:r>
          </a:p>
        </p:txBody>
      </p:sp>
      <p:sp>
        <p:nvSpPr>
          <p:cNvPr id="21" name="TextBox 21"/>
          <p:cNvSpPr txBox="1"/>
          <p:nvPr/>
        </p:nvSpPr>
        <p:spPr>
          <a:xfrm>
            <a:off x="8622585" y="3126923"/>
            <a:ext cx="1042830" cy="314347"/>
          </a:xfrm>
          <a:prstGeom prst="rect">
            <a:avLst/>
          </a:prstGeom>
        </p:spPr>
        <p:txBody>
          <a:bodyPr lIns="0" tIns="0" rIns="0" bIns="0" rtlCol="0" anchor="t">
            <a:spAutoFit/>
          </a:bodyPr>
          <a:lstStyle/>
          <a:p>
            <a:pPr algn="ctr">
              <a:lnSpc>
                <a:spcPts val="2416"/>
              </a:lnSpc>
            </a:pPr>
            <a:r>
              <a:rPr lang="en-US" sz="2013" spc="40">
                <a:solidFill>
                  <a:srgbClr val="9F3838"/>
                </a:solidFill>
                <a:latin typeface="JASO Sans"/>
                <a:ea typeface="JASO Sans"/>
                <a:cs typeface="JASO Sans"/>
                <a:sym typeface="JASO Sans"/>
              </a:rPr>
              <a:t>02</a:t>
            </a:r>
          </a:p>
        </p:txBody>
      </p:sp>
      <p:sp>
        <p:nvSpPr>
          <p:cNvPr id="22" name="TextBox 22"/>
          <p:cNvSpPr txBox="1"/>
          <p:nvPr/>
        </p:nvSpPr>
        <p:spPr>
          <a:xfrm>
            <a:off x="8622585" y="5133975"/>
            <a:ext cx="1042830" cy="314347"/>
          </a:xfrm>
          <a:prstGeom prst="rect">
            <a:avLst/>
          </a:prstGeom>
        </p:spPr>
        <p:txBody>
          <a:bodyPr lIns="0" tIns="0" rIns="0" bIns="0" rtlCol="0" anchor="t">
            <a:spAutoFit/>
          </a:bodyPr>
          <a:lstStyle/>
          <a:p>
            <a:pPr algn="ctr">
              <a:lnSpc>
                <a:spcPts val="2416"/>
              </a:lnSpc>
            </a:pPr>
            <a:r>
              <a:rPr lang="en-US" sz="2013" spc="40">
                <a:solidFill>
                  <a:srgbClr val="9F3838"/>
                </a:solidFill>
                <a:latin typeface="JASO Sans"/>
                <a:ea typeface="JASO Sans"/>
                <a:cs typeface="JASO Sans"/>
                <a:sym typeface="JASO Sans"/>
              </a:rPr>
              <a:t>05</a:t>
            </a:r>
          </a:p>
        </p:txBody>
      </p:sp>
      <p:sp>
        <p:nvSpPr>
          <p:cNvPr id="23" name="TextBox 23"/>
          <p:cNvSpPr txBox="1"/>
          <p:nvPr/>
        </p:nvSpPr>
        <p:spPr>
          <a:xfrm>
            <a:off x="13883806" y="3126923"/>
            <a:ext cx="1042830" cy="314347"/>
          </a:xfrm>
          <a:prstGeom prst="rect">
            <a:avLst/>
          </a:prstGeom>
        </p:spPr>
        <p:txBody>
          <a:bodyPr lIns="0" tIns="0" rIns="0" bIns="0" rtlCol="0" anchor="t">
            <a:spAutoFit/>
          </a:bodyPr>
          <a:lstStyle/>
          <a:p>
            <a:pPr algn="ctr">
              <a:lnSpc>
                <a:spcPts val="2416"/>
              </a:lnSpc>
            </a:pPr>
            <a:r>
              <a:rPr lang="en-US" sz="2013" spc="40">
                <a:solidFill>
                  <a:srgbClr val="9F3838"/>
                </a:solidFill>
                <a:latin typeface="JASO Sans"/>
                <a:ea typeface="JASO Sans"/>
                <a:cs typeface="JASO Sans"/>
                <a:sym typeface="JASO Sans"/>
              </a:rPr>
              <a:t>03</a:t>
            </a:r>
          </a:p>
        </p:txBody>
      </p:sp>
      <p:sp>
        <p:nvSpPr>
          <p:cNvPr id="24" name="TextBox 24"/>
          <p:cNvSpPr txBox="1"/>
          <p:nvPr/>
        </p:nvSpPr>
        <p:spPr>
          <a:xfrm>
            <a:off x="13883806" y="5133975"/>
            <a:ext cx="1042830" cy="314347"/>
          </a:xfrm>
          <a:prstGeom prst="rect">
            <a:avLst/>
          </a:prstGeom>
        </p:spPr>
        <p:txBody>
          <a:bodyPr lIns="0" tIns="0" rIns="0" bIns="0" rtlCol="0" anchor="t">
            <a:spAutoFit/>
          </a:bodyPr>
          <a:lstStyle/>
          <a:p>
            <a:pPr algn="ctr">
              <a:lnSpc>
                <a:spcPts val="2416"/>
              </a:lnSpc>
            </a:pPr>
            <a:r>
              <a:rPr lang="en-US" sz="2013" spc="40">
                <a:solidFill>
                  <a:srgbClr val="9F3838"/>
                </a:solidFill>
                <a:latin typeface="JASO Sans"/>
                <a:ea typeface="JASO Sans"/>
                <a:cs typeface="JASO Sans"/>
                <a:sym typeface="JASO Sans"/>
              </a:rPr>
              <a:t>06</a:t>
            </a:r>
          </a:p>
        </p:txBody>
      </p:sp>
      <p:sp>
        <p:nvSpPr>
          <p:cNvPr id="25" name="TextBox 25"/>
          <p:cNvSpPr txBox="1"/>
          <p:nvPr/>
        </p:nvSpPr>
        <p:spPr>
          <a:xfrm>
            <a:off x="1717296" y="3590958"/>
            <a:ext cx="4350015" cy="487129"/>
          </a:xfrm>
          <a:prstGeom prst="rect">
            <a:avLst/>
          </a:prstGeom>
        </p:spPr>
        <p:txBody>
          <a:bodyPr lIns="0" tIns="0" rIns="0" bIns="0" rtlCol="0" anchor="t">
            <a:spAutoFit/>
          </a:bodyPr>
          <a:lstStyle/>
          <a:p>
            <a:pPr algn="ctr">
              <a:lnSpc>
                <a:spcPts val="3804"/>
              </a:lnSpc>
            </a:pPr>
            <a:r>
              <a:rPr lang="en-US" sz="3366" b="1" spc="-154">
                <a:solidFill>
                  <a:srgbClr val="333333"/>
                </a:solidFill>
                <a:latin typeface="JASO Sans Bold"/>
                <a:ea typeface="JASO Sans Bold"/>
                <a:cs typeface="JASO Sans Bold"/>
                <a:sym typeface="JASO Sans Bold"/>
              </a:rPr>
              <a:t>시장 환경 및 트렌드 분석</a:t>
            </a:r>
          </a:p>
        </p:txBody>
      </p:sp>
      <p:sp>
        <p:nvSpPr>
          <p:cNvPr id="26" name="TextBox 26"/>
          <p:cNvSpPr txBox="1"/>
          <p:nvPr/>
        </p:nvSpPr>
        <p:spPr>
          <a:xfrm>
            <a:off x="1717296" y="5598010"/>
            <a:ext cx="4350015" cy="487129"/>
          </a:xfrm>
          <a:prstGeom prst="rect">
            <a:avLst/>
          </a:prstGeom>
        </p:spPr>
        <p:txBody>
          <a:bodyPr lIns="0" tIns="0" rIns="0" bIns="0" rtlCol="0" anchor="t">
            <a:spAutoFit/>
          </a:bodyPr>
          <a:lstStyle/>
          <a:p>
            <a:pPr algn="ctr">
              <a:lnSpc>
                <a:spcPts val="3804"/>
              </a:lnSpc>
            </a:pPr>
            <a:r>
              <a:rPr lang="en-US" sz="3366" b="1" spc="-154">
                <a:solidFill>
                  <a:srgbClr val="333333"/>
                </a:solidFill>
                <a:latin typeface="JASO Sans Bold"/>
                <a:ea typeface="JASO Sans Bold"/>
                <a:cs typeface="JASO Sans Bold"/>
                <a:sym typeface="JASO Sans Bold"/>
              </a:rPr>
              <a:t>콘텐츠 전략 보고</a:t>
            </a:r>
          </a:p>
        </p:txBody>
      </p:sp>
      <p:sp>
        <p:nvSpPr>
          <p:cNvPr id="27" name="TextBox 27"/>
          <p:cNvSpPr txBox="1"/>
          <p:nvPr/>
        </p:nvSpPr>
        <p:spPr>
          <a:xfrm>
            <a:off x="1717296" y="7606015"/>
            <a:ext cx="4350015" cy="487129"/>
          </a:xfrm>
          <a:prstGeom prst="rect">
            <a:avLst/>
          </a:prstGeom>
        </p:spPr>
        <p:txBody>
          <a:bodyPr lIns="0" tIns="0" rIns="0" bIns="0" rtlCol="0" anchor="t">
            <a:spAutoFit/>
          </a:bodyPr>
          <a:lstStyle/>
          <a:p>
            <a:pPr algn="ctr">
              <a:lnSpc>
                <a:spcPts val="3804"/>
              </a:lnSpc>
            </a:pPr>
            <a:r>
              <a:rPr lang="en-US" sz="3366" b="1" spc="-154">
                <a:solidFill>
                  <a:srgbClr val="333333"/>
                </a:solidFill>
                <a:latin typeface="JASO Sans Bold"/>
                <a:ea typeface="JASO Sans Bold"/>
                <a:cs typeface="JASO Sans Bold"/>
                <a:sym typeface="JASO Sans Bold"/>
              </a:rPr>
              <a:t>예산 및 성과 관리</a:t>
            </a:r>
          </a:p>
        </p:txBody>
      </p:sp>
      <p:sp>
        <p:nvSpPr>
          <p:cNvPr id="28" name="TextBox 28"/>
          <p:cNvSpPr txBox="1"/>
          <p:nvPr/>
        </p:nvSpPr>
        <p:spPr>
          <a:xfrm>
            <a:off x="6968992" y="7606015"/>
            <a:ext cx="4350015" cy="487129"/>
          </a:xfrm>
          <a:prstGeom prst="rect">
            <a:avLst/>
          </a:prstGeom>
        </p:spPr>
        <p:txBody>
          <a:bodyPr lIns="0" tIns="0" rIns="0" bIns="0" rtlCol="0" anchor="t">
            <a:spAutoFit/>
          </a:bodyPr>
          <a:lstStyle/>
          <a:p>
            <a:pPr algn="ctr">
              <a:lnSpc>
                <a:spcPts val="3804"/>
              </a:lnSpc>
            </a:pPr>
            <a:r>
              <a:rPr lang="en-US" sz="3366" b="1" spc="-154">
                <a:solidFill>
                  <a:srgbClr val="333333"/>
                </a:solidFill>
                <a:latin typeface="JASO Sans Bold"/>
                <a:ea typeface="JASO Sans Bold"/>
                <a:cs typeface="JASO Sans Bold"/>
                <a:sym typeface="JASO Sans Bold"/>
              </a:rPr>
              <a:t>질문과 답변</a:t>
            </a:r>
          </a:p>
        </p:txBody>
      </p:sp>
      <p:sp>
        <p:nvSpPr>
          <p:cNvPr id="29" name="TextBox 29"/>
          <p:cNvSpPr txBox="1"/>
          <p:nvPr/>
        </p:nvSpPr>
        <p:spPr>
          <a:xfrm>
            <a:off x="6968992" y="3590958"/>
            <a:ext cx="4350015" cy="487129"/>
          </a:xfrm>
          <a:prstGeom prst="rect">
            <a:avLst/>
          </a:prstGeom>
        </p:spPr>
        <p:txBody>
          <a:bodyPr lIns="0" tIns="0" rIns="0" bIns="0" rtlCol="0" anchor="t">
            <a:spAutoFit/>
          </a:bodyPr>
          <a:lstStyle/>
          <a:p>
            <a:pPr algn="ctr">
              <a:lnSpc>
                <a:spcPts val="3804"/>
              </a:lnSpc>
            </a:pPr>
            <a:r>
              <a:rPr lang="en-US" sz="3366" b="1" spc="-154">
                <a:solidFill>
                  <a:srgbClr val="333333"/>
                </a:solidFill>
                <a:latin typeface="JASO Sans Bold"/>
                <a:ea typeface="JASO Sans Bold"/>
                <a:cs typeface="JASO Sans Bold"/>
                <a:sym typeface="JASO Sans Bold"/>
              </a:rPr>
              <a:t>타깃 고객 세분화</a:t>
            </a:r>
          </a:p>
        </p:txBody>
      </p:sp>
      <p:sp>
        <p:nvSpPr>
          <p:cNvPr id="30" name="TextBox 30"/>
          <p:cNvSpPr txBox="1"/>
          <p:nvPr/>
        </p:nvSpPr>
        <p:spPr>
          <a:xfrm>
            <a:off x="6968992" y="5598010"/>
            <a:ext cx="4350015" cy="487129"/>
          </a:xfrm>
          <a:prstGeom prst="rect">
            <a:avLst/>
          </a:prstGeom>
        </p:spPr>
        <p:txBody>
          <a:bodyPr lIns="0" tIns="0" rIns="0" bIns="0" rtlCol="0" anchor="t">
            <a:spAutoFit/>
          </a:bodyPr>
          <a:lstStyle/>
          <a:p>
            <a:pPr algn="ctr">
              <a:lnSpc>
                <a:spcPts val="3804"/>
              </a:lnSpc>
            </a:pPr>
            <a:r>
              <a:rPr lang="en-US" sz="3366" b="1" spc="-154">
                <a:solidFill>
                  <a:srgbClr val="333333"/>
                </a:solidFill>
                <a:latin typeface="JASO Sans Bold"/>
                <a:ea typeface="JASO Sans Bold"/>
                <a:cs typeface="JASO Sans Bold"/>
                <a:sym typeface="JASO Sans Bold"/>
              </a:rPr>
              <a:t>인플루언서 협업</a:t>
            </a:r>
          </a:p>
        </p:txBody>
      </p:sp>
      <p:sp>
        <p:nvSpPr>
          <p:cNvPr id="31" name="TextBox 31"/>
          <p:cNvSpPr txBox="1"/>
          <p:nvPr/>
        </p:nvSpPr>
        <p:spPr>
          <a:xfrm>
            <a:off x="12230213" y="3590958"/>
            <a:ext cx="4350015" cy="487129"/>
          </a:xfrm>
          <a:prstGeom prst="rect">
            <a:avLst/>
          </a:prstGeom>
        </p:spPr>
        <p:txBody>
          <a:bodyPr lIns="0" tIns="0" rIns="0" bIns="0" rtlCol="0" anchor="t">
            <a:spAutoFit/>
          </a:bodyPr>
          <a:lstStyle/>
          <a:p>
            <a:pPr algn="ctr">
              <a:lnSpc>
                <a:spcPts val="3804"/>
              </a:lnSpc>
            </a:pPr>
            <a:r>
              <a:rPr lang="en-US" sz="3366" b="1" spc="-154">
                <a:solidFill>
                  <a:srgbClr val="333333"/>
                </a:solidFill>
                <a:latin typeface="JASO Sans Bold"/>
                <a:ea typeface="JASO Sans Bold"/>
                <a:cs typeface="JASO Sans Bold"/>
                <a:sym typeface="JASO Sans Bold"/>
              </a:rPr>
              <a:t>SNS 채널별 전략</a:t>
            </a:r>
          </a:p>
        </p:txBody>
      </p:sp>
      <p:sp>
        <p:nvSpPr>
          <p:cNvPr id="32" name="TextBox 32"/>
          <p:cNvSpPr txBox="1"/>
          <p:nvPr/>
        </p:nvSpPr>
        <p:spPr>
          <a:xfrm>
            <a:off x="12230213" y="5598010"/>
            <a:ext cx="4350015" cy="487129"/>
          </a:xfrm>
          <a:prstGeom prst="rect">
            <a:avLst/>
          </a:prstGeom>
        </p:spPr>
        <p:txBody>
          <a:bodyPr lIns="0" tIns="0" rIns="0" bIns="0" rtlCol="0" anchor="t">
            <a:spAutoFit/>
          </a:bodyPr>
          <a:lstStyle/>
          <a:p>
            <a:pPr algn="ctr">
              <a:lnSpc>
                <a:spcPts val="3804"/>
              </a:lnSpc>
            </a:pPr>
            <a:r>
              <a:rPr lang="en-US" sz="3366" b="1" spc="-154">
                <a:solidFill>
                  <a:srgbClr val="333333"/>
                </a:solidFill>
                <a:latin typeface="JASO Sans Bold"/>
                <a:ea typeface="JASO Sans Bold"/>
                <a:cs typeface="JASO Sans Bold"/>
                <a:sym typeface="JASO Sans Bold"/>
              </a:rPr>
              <a:t>캠페인 플로우</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p:cNvGrpSpPr/>
        <p:nvPr/>
      </p:nvGrpSpPr>
      <p:grpSpPr>
        <a:xfrm>
          <a:off x="0" y="0"/>
          <a:ext cx="0" cy="0"/>
          <a:chOff x="0" y="0"/>
          <a:chExt cx="0" cy="0"/>
        </a:xfrm>
      </p:grpSpPr>
      <p:grpSp>
        <p:nvGrpSpPr>
          <p:cNvPr id="2" name="Group 2"/>
          <p:cNvGrpSpPr/>
          <p:nvPr/>
        </p:nvGrpSpPr>
        <p:grpSpPr>
          <a:xfrm rot="-5400000">
            <a:off x="9096607" y="1095607"/>
            <a:ext cx="94785" cy="18288000"/>
            <a:chOff x="0" y="0"/>
            <a:chExt cx="11819" cy="2280318"/>
          </a:xfrm>
        </p:grpSpPr>
        <p:sp>
          <p:nvSpPr>
            <p:cNvPr id="3" name="Freeform 3"/>
            <p:cNvSpPr/>
            <p:nvPr/>
          </p:nvSpPr>
          <p:spPr>
            <a:xfrm>
              <a:off x="0" y="0"/>
              <a:ext cx="11819" cy="2280318"/>
            </a:xfrm>
            <a:custGeom>
              <a:avLst/>
              <a:gdLst/>
              <a:ahLst/>
              <a:cxnLst/>
              <a:rect l="l" t="t" r="r" b="b"/>
              <a:pathLst>
                <a:path w="11819" h="2280318">
                  <a:moveTo>
                    <a:pt x="0" y="0"/>
                  </a:moveTo>
                  <a:lnTo>
                    <a:pt x="11819" y="0"/>
                  </a:lnTo>
                  <a:lnTo>
                    <a:pt x="11819" y="2280318"/>
                  </a:lnTo>
                  <a:lnTo>
                    <a:pt x="0" y="2280318"/>
                  </a:lnTo>
                  <a:close/>
                </a:path>
              </a:pathLst>
            </a:custGeom>
            <a:solidFill>
              <a:srgbClr val="9F3838"/>
            </a:solidFill>
          </p:spPr>
        </p:sp>
        <p:sp>
          <p:nvSpPr>
            <p:cNvPr id="4" name="TextBox 4"/>
            <p:cNvSpPr txBox="1"/>
            <p:nvPr/>
          </p:nvSpPr>
          <p:spPr>
            <a:xfrm>
              <a:off x="0" y="-47625"/>
              <a:ext cx="11819" cy="2327943"/>
            </a:xfrm>
            <a:prstGeom prst="rect">
              <a:avLst/>
            </a:prstGeom>
          </p:spPr>
          <p:txBody>
            <a:bodyPr lIns="50800" tIns="50800" rIns="50800" bIns="50800" rtlCol="0" anchor="ctr"/>
            <a:lstStyle/>
            <a:p>
              <a:pPr algn="ctr">
                <a:lnSpc>
                  <a:spcPts val="2587"/>
                </a:lnSpc>
              </a:pPr>
              <a:endParaRPr/>
            </a:p>
          </p:txBody>
        </p:sp>
      </p:grpSp>
      <p:sp>
        <p:nvSpPr>
          <p:cNvPr id="5" name="Freeform 5"/>
          <p:cNvSpPr/>
          <p:nvPr/>
        </p:nvSpPr>
        <p:spPr>
          <a:xfrm rot="-5400000">
            <a:off x="17537790" y="305848"/>
            <a:ext cx="82863" cy="368281"/>
          </a:xfrm>
          <a:custGeom>
            <a:avLst/>
            <a:gdLst/>
            <a:ahLst/>
            <a:cxnLst/>
            <a:rect l="l" t="t" r="r" b="b"/>
            <a:pathLst>
              <a:path w="82863" h="368281">
                <a:moveTo>
                  <a:pt x="0" y="0"/>
                </a:moveTo>
                <a:lnTo>
                  <a:pt x="82864" y="0"/>
                </a:lnTo>
                <a:lnTo>
                  <a:pt x="82864" y="368282"/>
                </a:lnTo>
                <a:lnTo>
                  <a:pt x="0" y="368282"/>
                </a:lnTo>
                <a:lnTo>
                  <a:pt x="0" y="0"/>
                </a:lnTo>
                <a:close/>
              </a:path>
            </a:pathLst>
          </a:custGeom>
          <a:blipFill>
            <a:blip r:embed="rId2">
              <a:alphaModFix amt="50000"/>
              <a:extLst>
                <a:ext uri="{96DAC541-7B7A-43D3-8B79-37D633B846F1}">
                  <asvg:svgBlip xmlns:asvg="http://schemas.microsoft.com/office/drawing/2016/SVG/main" xmlns="" r:embed="rId3"/>
                </a:ext>
              </a:extLst>
            </a:blip>
            <a:stretch>
              <a:fillRect/>
            </a:stretch>
          </a:blipFill>
          <a:ln cap="sq">
            <a:noFill/>
            <a:prstDash val="solid"/>
            <a:miter/>
          </a:ln>
        </p:spPr>
      </p:sp>
      <p:sp>
        <p:nvSpPr>
          <p:cNvPr id="6" name="AutoShape 6"/>
          <p:cNvSpPr/>
          <p:nvPr/>
        </p:nvSpPr>
        <p:spPr>
          <a:xfrm>
            <a:off x="651497" y="2036945"/>
            <a:ext cx="16985007" cy="0"/>
          </a:xfrm>
          <a:prstGeom prst="line">
            <a:avLst/>
          </a:prstGeom>
          <a:ln w="9525" cap="flat">
            <a:solidFill>
              <a:srgbClr val="333333">
                <a:alpha val="49804"/>
              </a:srgbClr>
            </a:solidFill>
            <a:prstDash val="solid"/>
            <a:headEnd type="none" w="sm" len="sm"/>
            <a:tailEnd type="none" w="sm" len="sm"/>
          </a:ln>
        </p:spPr>
      </p:sp>
      <p:sp>
        <p:nvSpPr>
          <p:cNvPr id="7" name="Freeform 7"/>
          <p:cNvSpPr/>
          <p:nvPr/>
        </p:nvSpPr>
        <p:spPr>
          <a:xfrm>
            <a:off x="958901" y="972638"/>
            <a:ext cx="321816" cy="321816"/>
          </a:xfrm>
          <a:custGeom>
            <a:avLst/>
            <a:gdLst/>
            <a:ahLst/>
            <a:cxnLst/>
            <a:rect l="l" t="t" r="r" b="b"/>
            <a:pathLst>
              <a:path w="321816" h="321816">
                <a:moveTo>
                  <a:pt x="0" y="0"/>
                </a:moveTo>
                <a:lnTo>
                  <a:pt x="321815" y="0"/>
                </a:lnTo>
                <a:lnTo>
                  <a:pt x="321815" y="321816"/>
                </a:lnTo>
                <a:lnTo>
                  <a:pt x="0" y="321816"/>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8" name="TextBox 8"/>
          <p:cNvSpPr txBox="1"/>
          <p:nvPr/>
        </p:nvSpPr>
        <p:spPr>
          <a:xfrm>
            <a:off x="1448568" y="830869"/>
            <a:ext cx="8440356" cy="710129"/>
          </a:xfrm>
          <a:prstGeom prst="rect">
            <a:avLst/>
          </a:prstGeom>
        </p:spPr>
        <p:txBody>
          <a:bodyPr lIns="0" tIns="0" rIns="0" bIns="0" rtlCol="0" anchor="t">
            <a:spAutoFit/>
          </a:bodyPr>
          <a:lstStyle/>
          <a:p>
            <a:pPr marL="0" lvl="0" indent="0" algn="l">
              <a:lnSpc>
                <a:spcPts val="5337"/>
              </a:lnSpc>
            </a:pPr>
            <a:r>
              <a:rPr lang="en-US" sz="5232" b="1" spc="-104">
                <a:solidFill>
                  <a:srgbClr val="333333"/>
                </a:solidFill>
                <a:latin typeface="JASO Sans Bold"/>
                <a:ea typeface="JASO Sans Bold"/>
                <a:cs typeface="JASO Sans Bold"/>
                <a:sym typeface="JASO Sans Bold"/>
              </a:rPr>
              <a:t>시장 환경 및 트렌드 분석</a:t>
            </a:r>
          </a:p>
        </p:txBody>
      </p:sp>
      <p:sp>
        <p:nvSpPr>
          <p:cNvPr id="9" name="AutoShape 9"/>
          <p:cNvSpPr/>
          <p:nvPr/>
        </p:nvSpPr>
        <p:spPr>
          <a:xfrm>
            <a:off x="9148762" y="3136448"/>
            <a:ext cx="0" cy="5701057"/>
          </a:xfrm>
          <a:prstGeom prst="line">
            <a:avLst/>
          </a:prstGeom>
          <a:ln w="9525" cap="flat">
            <a:solidFill>
              <a:srgbClr val="333333">
                <a:alpha val="29804"/>
              </a:srgbClr>
            </a:solidFill>
            <a:prstDash val="solid"/>
            <a:headEnd type="none" w="sm" len="sm"/>
            <a:tailEnd type="none" w="sm" len="sm"/>
          </a:ln>
        </p:spPr>
      </p:sp>
      <p:sp>
        <p:nvSpPr>
          <p:cNvPr id="10" name="Freeform 10"/>
          <p:cNvSpPr/>
          <p:nvPr/>
        </p:nvSpPr>
        <p:spPr>
          <a:xfrm>
            <a:off x="1717296" y="3289712"/>
            <a:ext cx="180224" cy="137421"/>
          </a:xfrm>
          <a:custGeom>
            <a:avLst/>
            <a:gdLst/>
            <a:ahLst/>
            <a:cxnLst/>
            <a:rect l="l" t="t" r="r" b="b"/>
            <a:pathLst>
              <a:path w="180224" h="137421">
                <a:moveTo>
                  <a:pt x="0" y="0"/>
                </a:moveTo>
                <a:lnTo>
                  <a:pt x="180225" y="0"/>
                </a:lnTo>
                <a:lnTo>
                  <a:pt x="180225" y="137421"/>
                </a:lnTo>
                <a:lnTo>
                  <a:pt x="0" y="137421"/>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11" name="Freeform 11"/>
          <p:cNvSpPr/>
          <p:nvPr/>
        </p:nvSpPr>
        <p:spPr>
          <a:xfrm>
            <a:off x="9888924" y="3289712"/>
            <a:ext cx="180224" cy="137421"/>
          </a:xfrm>
          <a:custGeom>
            <a:avLst/>
            <a:gdLst/>
            <a:ahLst/>
            <a:cxnLst/>
            <a:rect l="l" t="t" r="r" b="b"/>
            <a:pathLst>
              <a:path w="180224" h="137421">
                <a:moveTo>
                  <a:pt x="0" y="0"/>
                </a:moveTo>
                <a:lnTo>
                  <a:pt x="180224" y="0"/>
                </a:lnTo>
                <a:lnTo>
                  <a:pt x="180224" y="137421"/>
                </a:lnTo>
                <a:lnTo>
                  <a:pt x="0" y="137421"/>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grpSp>
        <p:nvGrpSpPr>
          <p:cNvPr id="12" name="Group 12"/>
          <p:cNvGrpSpPr/>
          <p:nvPr/>
        </p:nvGrpSpPr>
        <p:grpSpPr>
          <a:xfrm>
            <a:off x="9888924" y="4064205"/>
            <a:ext cx="6691305" cy="1480866"/>
            <a:chOff x="0" y="0"/>
            <a:chExt cx="1762319" cy="390022"/>
          </a:xfrm>
        </p:grpSpPr>
        <p:sp>
          <p:nvSpPr>
            <p:cNvPr id="13" name="Freeform 13"/>
            <p:cNvSpPr/>
            <p:nvPr/>
          </p:nvSpPr>
          <p:spPr>
            <a:xfrm>
              <a:off x="0" y="0"/>
              <a:ext cx="1762319" cy="390022"/>
            </a:xfrm>
            <a:custGeom>
              <a:avLst/>
              <a:gdLst/>
              <a:ahLst/>
              <a:cxnLst/>
              <a:rect l="l" t="t" r="r" b="b"/>
              <a:pathLst>
                <a:path w="1762319" h="390022">
                  <a:moveTo>
                    <a:pt x="0" y="0"/>
                  </a:moveTo>
                  <a:lnTo>
                    <a:pt x="1762319" y="0"/>
                  </a:lnTo>
                  <a:lnTo>
                    <a:pt x="1762319" y="390022"/>
                  </a:lnTo>
                  <a:lnTo>
                    <a:pt x="0" y="390022"/>
                  </a:lnTo>
                  <a:close/>
                </a:path>
              </a:pathLst>
            </a:custGeom>
            <a:ln w="9525" cap="sq">
              <a:solidFill>
                <a:srgbClr val="333333"/>
              </a:solidFill>
              <a:prstDash val="solid"/>
              <a:miter/>
            </a:ln>
          </p:spPr>
        </p:sp>
        <p:sp>
          <p:nvSpPr>
            <p:cNvPr id="14" name="TextBox 14"/>
            <p:cNvSpPr txBox="1"/>
            <p:nvPr/>
          </p:nvSpPr>
          <p:spPr>
            <a:xfrm>
              <a:off x="0" y="28575"/>
              <a:ext cx="1762319" cy="361447"/>
            </a:xfrm>
            <a:prstGeom prst="rect">
              <a:avLst/>
            </a:prstGeom>
          </p:spPr>
          <p:txBody>
            <a:bodyPr lIns="50800" tIns="50800" rIns="50800" bIns="50800" rtlCol="0" anchor="ctr"/>
            <a:lstStyle/>
            <a:p>
              <a:pPr marL="0" lvl="0" indent="0" algn="ctr">
                <a:lnSpc>
                  <a:spcPts val="2743"/>
                </a:lnSpc>
                <a:spcBef>
                  <a:spcPct val="0"/>
                </a:spcBef>
              </a:pPr>
              <a:endParaRPr/>
            </a:p>
          </p:txBody>
        </p:sp>
      </p:grpSp>
      <p:grpSp>
        <p:nvGrpSpPr>
          <p:cNvPr id="15" name="Group 15"/>
          <p:cNvGrpSpPr/>
          <p:nvPr/>
        </p:nvGrpSpPr>
        <p:grpSpPr>
          <a:xfrm>
            <a:off x="9888924" y="5710421"/>
            <a:ext cx="6691305" cy="1480866"/>
            <a:chOff x="0" y="0"/>
            <a:chExt cx="1762319" cy="390022"/>
          </a:xfrm>
        </p:grpSpPr>
        <p:sp>
          <p:nvSpPr>
            <p:cNvPr id="16" name="Freeform 16"/>
            <p:cNvSpPr/>
            <p:nvPr/>
          </p:nvSpPr>
          <p:spPr>
            <a:xfrm>
              <a:off x="0" y="0"/>
              <a:ext cx="1762319" cy="390022"/>
            </a:xfrm>
            <a:custGeom>
              <a:avLst/>
              <a:gdLst/>
              <a:ahLst/>
              <a:cxnLst/>
              <a:rect l="l" t="t" r="r" b="b"/>
              <a:pathLst>
                <a:path w="1762319" h="390022">
                  <a:moveTo>
                    <a:pt x="0" y="0"/>
                  </a:moveTo>
                  <a:lnTo>
                    <a:pt x="1762319" y="0"/>
                  </a:lnTo>
                  <a:lnTo>
                    <a:pt x="1762319" y="390022"/>
                  </a:lnTo>
                  <a:lnTo>
                    <a:pt x="0" y="390022"/>
                  </a:lnTo>
                  <a:close/>
                </a:path>
              </a:pathLst>
            </a:custGeom>
            <a:ln w="9525" cap="sq">
              <a:solidFill>
                <a:srgbClr val="333333"/>
              </a:solidFill>
              <a:prstDash val="solid"/>
              <a:miter/>
            </a:ln>
          </p:spPr>
        </p:sp>
        <p:sp>
          <p:nvSpPr>
            <p:cNvPr id="17" name="TextBox 17"/>
            <p:cNvSpPr txBox="1"/>
            <p:nvPr/>
          </p:nvSpPr>
          <p:spPr>
            <a:xfrm>
              <a:off x="0" y="28575"/>
              <a:ext cx="1762319" cy="361447"/>
            </a:xfrm>
            <a:prstGeom prst="rect">
              <a:avLst/>
            </a:prstGeom>
          </p:spPr>
          <p:txBody>
            <a:bodyPr lIns="50800" tIns="50800" rIns="50800" bIns="50800" rtlCol="0" anchor="ctr"/>
            <a:lstStyle/>
            <a:p>
              <a:pPr marL="0" lvl="0" indent="0" algn="ctr">
                <a:lnSpc>
                  <a:spcPts val="2743"/>
                </a:lnSpc>
                <a:spcBef>
                  <a:spcPct val="0"/>
                </a:spcBef>
              </a:pPr>
              <a:endParaRPr/>
            </a:p>
          </p:txBody>
        </p:sp>
      </p:grpSp>
      <p:grpSp>
        <p:nvGrpSpPr>
          <p:cNvPr id="18" name="Group 18"/>
          <p:cNvGrpSpPr/>
          <p:nvPr/>
        </p:nvGrpSpPr>
        <p:grpSpPr>
          <a:xfrm>
            <a:off x="9888924" y="7356638"/>
            <a:ext cx="6691305" cy="1480866"/>
            <a:chOff x="0" y="0"/>
            <a:chExt cx="1762319" cy="390022"/>
          </a:xfrm>
        </p:grpSpPr>
        <p:sp>
          <p:nvSpPr>
            <p:cNvPr id="19" name="Freeform 19"/>
            <p:cNvSpPr/>
            <p:nvPr/>
          </p:nvSpPr>
          <p:spPr>
            <a:xfrm>
              <a:off x="0" y="0"/>
              <a:ext cx="1762319" cy="390022"/>
            </a:xfrm>
            <a:custGeom>
              <a:avLst/>
              <a:gdLst/>
              <a:ahLst/>
              <a:cxnLst/>
              <a:rect l="l" t="t" r="r" b="b"/>
              <a:pathLst>
                <a:path w="1762319" h="390022">
                  <a:moveTo>
                    <a:pt x="0" y="0"/>
                  </a:moveTo>
                  <a:lnTo>
                    <a:pt x="1762319" y="0"/>
                  </a:lnTo>
                  <a:lnTo>
                    <a:pt x="1762319" y="390022"/>
                  </a:lnTo>
                  <a:lnTo>
                    <a:pt x="0" y="390022"/>
                  </a:lnTo>
                  <a:close/>
                </a:path>
              </a:pathLst>
            </a:custGeom>
            <a:ln w="9525" cap="sq">
              <a:solidFill>
                <a:srgbClr val="333333"/>
              </a:solidFill>
              <a:prstDash val="solid"/>
              <a:miter/>
            </a:ln>
          </p:spPr>
        </p:sp>
        <p:sp>
          <p:nvSpPr>
            <p:cNvPr id="20" name="TextBox 20"/>
            <p:cNvSpPr txBox="1"/>
            <p:nvPr/>
          </p:nvSpPr>
          <p:spPr>
            <a:xfrm>
              <a:off x="0" y="28575"/>
              <a:ext cx="1762319" cy="361447"/>
            </a:xfrm>
            <a:prstGeom prst="rect">
              <a:avLst/>
            </a:prstGeom>
          </p:spPr>
          <p:txBody>
            <a:bodyPr lIns="50800" tIns="50800" rIns="50800" bIns="50800" rtlCol="0" anchor="ctr"/>
            <a:lstStyle/>
            <a:p>
              <a:pPr marL="0" lvl="0" indent="0" algn="ctr">
                <a:lnSpc>
                  <a:spcPts val="2743"/>
                </a:lnSpc>
                <a:spcBef>
                  <a:spcPct val="0"/>
                </a:spcBef>
              </a:pPr>
              <a:endParaRPr/>
            </a:p>
          </p:txBody>
        </p:sp>
      </p:grpSp>
      <p:sp>
        <p:nvSpPr>
          <p:cNvPr id="21" name="Freeform 21"/>
          <p:cNvSpPr/>
          <p:nvPr/>
        </p:nvSpPr>
        <p:spPr>
          <a:xfrm>
            <a:off x="10438767" y="7721304"/>
            <a:ext cx="792421" cy="683463"/>
          </a:xfrm>
          <a:custGeom>
            <a:avLst/>
            <a:gdLst/>
            <a:ahLst/>
            <a:cxnLst/>
            <a:rect l="l" t="t" r="r" b="b"/>
            <a:pathLst>
              <a:path w="792421" h="683463">
                <a:moveTo>
                  <a:pt x="0" y="0"/>
                </a:moveTo>
                <a:lnTo>
                  <a:pt x="792421" y="0"/>
                </a:lnTo>
                <a:lnTo>
                  <a:pt x="792421" y="683463"/>
                </a:lnTo>
                <a:lnTo>
                  <a:pt x="0" y="683463"/>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sp>
      <p:sp>
        <p:nvSpPr>
          <p:cNvPr id="22" name="Freeform 22"/>
          <p:cNvSpPr/>
          <p:nvPr/>
        </p:nvSpPr>
        <p:spPr>
          <a:xfrm>
            <a:off x="10585854" y="6058446"/>
            <a:ext cx="450193" cy="750321"/>
          </a:xfrm>
          <a:custGeom>
            <a:avLst/>
            <a:gdLst/>
            <a:ahLst/>
            <a:cxnLst/>
            <a:rect l="l" t="t" r="r" b="b"/>
            <a:pathLst>
              <a:path w="450193" h="750321">
                <a:moveTo>
                  <a:pt x="0" y="0"/>
                </a:moveTo>
                <a:lnTo>
                  <a:pt x="450193" y="0"/>
                </a:lnTo>
                <a:lnTo>
                  <a:pt x="450193" y="750321"/>
                </a:lnTo>
                <a:lnTo>
                  <a:pt x="0" y="750321"/>
                </a:lnTo>
                <a:lnTo>
                  <a:pt x="0" y="0"/>
                </a:lnTo>
                <a:close/>
              </a:path>
            </a:pathLst>
          </a:custGeom>
          <a:blipFill>
            <a:blip r:embed="rId10">
              <a:extLst>
                <a:ext uri="{96DAC541-7B7A-43D3-8B79-37D633B846F1}">
                  <asvg:svgBlip xmlns:asvg="http://schemas.microsoft.com/office/drawing/2016/SVG/main" xmlns="" r:embed="rId11"/>
                </a:ext>
              </a:extLst>
            </a:blip>
            <a:stretch>
              <a:fillRect/>
            </a:stretch>
          </a:blipFill>
        </p:spPr>
      </p:sp>
      <p:sp>
        <p:nvSpPr>
          <p:cNvPr id="23" name="Freeform 23"/>
          <p:cNvSpPr/>
          <p:nvPr/>
        </p:nvSpPr>
        <p:spPr>
          <a:xfrm>
            <a:off x="10438767" y="4401604"/>
            <a:ext cx="744368" cy="779443"/>
          </a:xfrm>
          <a:custGeom>
            <a:avLst/>
            <a:gdLst/>
            <a:ahLst/>
            <a:cxnLst/>
            <a:rect l="l" t="t" r="r" b="b"/>
            <a:pathLst>
              <a:path w="744368" h="779443">
                <a:moveTo>
                  <a:pt x="0" y="0"/>
                </a:moveTo>
                <a:lnTo>
                  <a:pt x="744367" y="0"/>
                </a:lnTo>
                <a:lnTo>
                  <a:pt x="744367" y="779442"/>
                </a:lnTo>
                <a:lnTo>
                  <a:pt x="0" y="779442"/>
                </a:lnTo>
                <a:lnTo>
                  <a:pt x="0" y="0"/>
                </a:lnTo>
                <a:close/>
              </a:path>
            </a:pathLst>
          </a:custGeom>
          <a:blipFill>
            <a:blip r:embed="rId12">
              <a:extLst>
                <a:ext uri="{96DAC541-7B7A-43D3-8B79-37D633B846F1}">
                  <asvg:svgBlip xmlns:asvg="http://schemas.microsoft.com/office/drawing/2016/SVG/main" xmlns="" r:embed="rId13"/>
                </a:ext>
              </a:extLst>
            </a:blip>
            <a:stretch>
              <a:fillRect/>
            </a:stretch>
          </a:blipFill>
        </p:spPr>
      </p:sp>
      <p:sp>
        <p:nvSpPr>
          <p:cNvPr id="24" name="TextBox 24"/>
          <p:cNvSpPr txBox="1"/>
          <p:nvPr/>
        </p:nvSpPr>
        <p:spPr>
          <a:xfrm>
            <a:off x="1717296" y="4007055"/>
            <a:ext cx="6691305" cy="4551046"/>
          </a:xfrm>
          <a:prstGeom prst="rect">
            <a:avLst/>
          </a:prstGeom>
        </p:spPr>
        <p:txBody>
          <a:bodyPr lIns="0" tIns="0" rIns="0" bIns="0" rtlCol="0" anchor="t">
            <a:spAutoFit/>
          </a:bodyPr>
          <a:lstStyle/>
          <a:p>
            <a:pPr algn="l">
              <a:lnSpc>
                <a:spcPts val="3074"/>
              </a:lnSpc>
            </a:pPr>
            <a:r>
              <a:rPr lang="en-US" sz="2049" spc="-40">
                <a:solidFill>
                  <a:srgbClr val="333333">
                    <a:alpha val="69804"/>
                  </a:srgbClr>
                </a:solidFill>
                <a:latin typeface="JASO Sans"/>
                <a:ea typeface="JASO Sans"/>
                <a:cs typeface="JASO Sans"/>
                <a:sym typeface="JASO Sans"/>
              </a:rPr>
              <a:t>최근 SNS는 검색·소비·구매까지 연결되는 ‘소비 패스웨이의 중심’으로 자리 잡았습니다. 사용자들은 브랜드 탐색을 SNS에서 먼저 시작하고, 커뮤니티형 상호작용을 통해 신뢰도를 판단합니다. 단순 노출 중심의 마케팅을 넘어 AI 기반 추천 알고리즘, 숏폼 중심 소비 습관, UGC 확산 구조가 핵심 동력으로 떠오르고 있습니다.</a:t>
            </a:r>
          </a:p>
          <a:p>
            <a:pPr algn="l">
              <a:lnSpc>
                <a:spcPts val="3074"/>
              </a:lnSpc>
            </a:pPr>
            <a:endParaRPr lang="en-US" sz="2049" spc="-40">
              <a:solidFill>
                <a:srgbClr val="333333">
                  <a:alpha val="69804"/>
                </a:srgbClr>
              </a:solidFill>
              <a:latin typeface="JASO Sans"/>
              <a:ea typeface="JASO Sans"/>
              <a:cs typeface="JASO Sans"/>
              <a:sym typeface="JASO Sans"/>
            </a:endParaRPr>
          </a:p>
          <a:p>
            <a:pPr algn="l">
              <a:lnSpc>
                <a:spcPts val="3074"/>
              </a:lnSpc>
            </a:pPr>
            <a:r>
              <a:rPr lang="en-US" sz="2049" spc="-40">
                <a:solidFill>
                  <a:srgbClr val="333333">
                    <a:alpha val="69804"/>
                  </a:srgbClr>
                </a:solidFill>
                <a:latin typeface="JASO Sans"/>
                <a:ea typeface="JASO Sans"/>
                <a:cs typeface="JASO Sans"/>
                <a:sym typeface="JASO Sans"/>
              </a:rPr>
              <a:t>이러한 변화는 특히 젊은 소비자층에게 강력한 영향을 미치며, 그들의 소비 패턴과 선호도에 적극적으로 반영되고 있습니다. </a:t>
            </a:r>
          </a:p>
          <a:p>
            <a:pPr algn="l">
              <a:lnSpc>
                <a:spcPts val="3074"/>
              </a:lnSpc>
            </a:pPr>
            <a:endParaRPr lang="en-US" sz="2049" spc="-40">
              <a:solidFill>
                <a:srgbClr val="333333">
                  <a:alpha val="69804"/>
                </a:srgbClr>
              </a:solidFill>
              <a:latin typeface="JASO Sans"/>
              <a:ea typeface="JASO Sans"/>
              <a:cs typeface="JASO Sans"/>
              <a:sym typeface="JASO Sans"/>
            </a:endParaRPr>
          </a:p>
          <a:p>
            <a:pPr algn="l">
              <a:lnSpc>
                <a:spcPts val="3074"/>
              </a:lnSpc>
            </a:pPr>
            <a:r>
              <a:rPr lang="en-US" sz="2049" spc="-40">
                <a:solidFill>
                  <a:srgbClr val="333333">
                    <a:alpha val="69804"/>
                  </a:srgbClr>
                </a:solidFill>
                <a:latin typeface="JASO Sans"/>
                <a:ea typeface="JASO Sans"/>
                <a:cs typeface="JASO Sans"/>
                <a:sym typeface="JASO Sans"/>
              </a:rPr>
              <a:t>브랜드들은 이러한 흐름에 발맞추어 SNS 플랫폼을 활용한 맞춤형 콘텐츠 전략을 강화하고 있으며, 소비자의 참여를 유도하는 인터랙티브 캠페인을 통해 브랜드 충성도를 높이고자 합니다.</a:t>
            </a:r>
          </a:p>
        </p:txBody>
      </p:sp>
      <p:sp>
        <p:nvSpPr>
          <p:cNvPr id="25" name="TextBox 25"/>
          <p:cNvSpPr txBox="1"/>
          <p:nvPr/>
        </p:nvSpPr>
        <p:spPr>
          <a:xfrm>
            <a:off x="1996241" y="3165023"/>
            <a:ext cx="5056371" cy="460976"/>
          </a:xfrm>
          <a:prstGeom prst="rect">
            <a:avLst/>
          </a:prstGeom>
        </p:spPr>
        <p:txBody>
          <a:bodyPr lIns="0" tIns="0" rIns="0" bIns="0" rtlCol="0" anchor="t">
            <a:spAutoFit/>
          </a:bodyPr>
          <a:lstStyle/>
          <a:p>
            <a:pPr marL="0" lvl="0" indent="0" algn="l">
              <a:lnSpc>
                <a:spcPts val="3567"/>
              </a:lnSpc>
            </a:pPr>
            <a:r>
              <a:rPr lang="en-US" sz="3497" b="1" spc="-69">
                <a:solidFill>
                  <a:srgbClr val="333333"/>
                </a:solidFill>
                <a:latin typeface="JASO Sans Bold"/>
                <a:ea typeface="JASO Sans Bold"/>
                <a:cs typeface="JASO Sans Bold"/>
                <a:sym typeface="JASO Sans Bold"/>
              </a:rPr>
              <a:t>시장 환경 분석</a:t>
            </a:r>
          </a:p>
        </p:txBody>
      </p:sp>
      <p:sp>
        <p:nvSpPr>
          <p:cNvPr id="26" name="TextBox 26"/>
          <p:cNvSpPr txBox="1"/>
          <p:nvPr/>
        </p:nvSpPr>
        <p:spPr>
          <a:xfrm>
            <a:off x="10167868" y="3165023"/>
            <a:ext cx="5056371" cy="460976"/>
          </a:xfrm>
          <a:prstGeom prst="rect">
            <a:avLst/>
          </a:prstGeom>
        </p:spPr>
        <p:txBody>
          <a:bodyPr lIns="0" tIns="0" rIns="0" bIns="0" rtlCol="0" anchor="t">
            <a:spAutoFit/>
          </a:bodyPr>
          <a:lstStyle/>
          <a:p>
            <a:pPr marL="0" lvl="0" indent="0" algn="l">
              <a:lnSpc>
                <a:spcPts val="3567"/>
              </a:lnSpc>
            </a:pPr>
            <a:r>
              <a:rPr lang="en-US" sz="3497" b="1" spc="-69">
                <a:solidFill>
                  <a:srgbClr val="333333"/>
                </a:solidFill>
                <a:latin typeface="JASO Sans Bold"/>
                <a:ea typeface="JASO Sans Bold"/>
                <a:cs typeface="JASO Sans Bold"/>
                <a:sym typeface="JASO Sans Bold"/>
              </a:rPr>
              <a:t>3대 주요 트렌드</a:t>
            </a:r>
          </a:p>
        </p:txBody>
      </p:sp>
      <p:sp>
        <p:nvSpPr>
          <p:cNvPr id="27" name="TextBox 27"/>
          <p:cNvSpPr txBox="1"/>
          <p:nvPr/>
        </p:nvSpPr>
        <p:spPr>
          <a:xfrm>
            <a:off x="11688623" y="4336029"/>
            <a:ext cx="2524821" cy="455296"/>
          </a:xfrm>
          <a:prstGeom prst="rect">
            <a:avLst/>
          </a:prstGeom>
        </p:spPr>
        <p:txBody>
          <a:bodyPr lIns="0" tIns="0" rIns="0" bIns="0" rtlCol="0" anchor="t">
            <a:spAutoFit/>
          </a:bodyPr>
          <a:lstStyle/>
          <a:p>
            <a:pPr algn="l">
              <a:lnSpc>
                <a:spcPts val="3824"/>
              </a:lnSpc>
            </a:pPr>
            <a:r>
              <a:rPr lang="en-US" sz="2549" b="1" spc="-50">
                <a:solidFill>
                  <a:srgbClr val="333333"/>
                </a:solidFill>
                <a:latin typeface="JASO Sans Bold"/>
                <a:ea typeface="JASO Sans Bold"/>
                <a:cs typeface="JASO Sans Bold"/>
                <a:sym typeface="JASO Sans Bold"/>
              </a:rPr>
              <a:t>AI 추천 강화</a:t>
            </a:r>
          </a:p>
        </p:txBody>
      </p:sp>
      <p:sp>
        <p:nvSpPr>
          <p:cNvPr id="28" name="TextBox 28"/>
          <p:cNvSpPr txBox="1"/>
          <p:nvPr/>
        </p:nvSpPr>
        <p:spPr>
          <a:xfrm>
            <a:off x="11688623" y="5982246"/>
            <a:ext cx="2524821" cy="455296"/>
          </a:xfrm>
          <a:prstGeom prst="rect">
            <a:avLst/>
          </a:prstGeom>
        </p:spPr>
        <p:txBody>
          <a:bodyPr lIns="0" tIns="0" rIns="0" bIns="0" rtlCol="0" anchor="t">
            <a:spAutoFit/>
          </a:bodyPr>
          <a:lstStyle/>
          <a:p>
            <a:pPr algn="l">
              <a:lnSpc>
                <a:spcPts val="3824"/>
              </a:lnSpc>
            </a:pPr>
            <a:r>
              <a:rPr lang="en-US" sz="2549" b="1" spc="-50">
                <a:solidFill>
                  <a:srgbClr val="333333"/>
                </a:solidFill>
                <a:latin typeface="JASO Sans Bold"/>
                <a:ea typeface="JASO Sans Bold"/>
                <a:cs typeface="JASO Sans Bold"/>
                <a:sym typeface="JASO Sans Bold"/>
              </a:rPr>
              <a:t>숏폼 기반 소비</a:t>
            </a:r>
          </a:p>
        </p:txBody>
      </p:sp>
      <p:sp>
        <p:nvSpPr>
          <p:cNvPr id="29" name="TextBox 29"/>
          <p:cNvSpPr txBox="1"/>
          <p:nvPr/>
        </p:nvSpPr>
        <p:spPr>
          <a:xfrm>
            <a:off x="11688623" y="7628463"/>
            <a:ext cx="2524821" cy="455296"/>
          </a:xfrm>
          <a:prstGeom prst="rect">
            <a:avLst/>
          </a:prstGeom>
        </p:spPr>
        <p:txBody>
          <a:bodyPr lIns="0" tIns="0" rIns="0" bIns="0" rtlCol="0" anchor="t">
            <a:spAutoFit/>
          </a:bodyPr>
          <a:lstStyle/>
          <a:p>
            <a:pPr algn="l">
              <a:lnSpc>
                <a:spcPts val="3824"/>
              </a:lnSpc>
            </a:pPr>
            <a:r>
              <a:rPr lang="en-US" sz="2549" b="1" spc="-50">
                <a:solidFill>
                  <a:srgbClr val="333333"/>
                </a:solidFill>
                <a:latin typeface="JASO Sans Bold"/>
                <a:ea typeface="JASO Sans Bold"/>
                <a:cs typeface="JASO Sans Bold"/>
                <a:sym typeface="JASO Sans Bold"/>
              </a:rPr>
              <a:t>커뮤니티 확산</a:t>
            </a:r>
          </a:p>
        </p:txBody>
      </p:sp>
      <p:sp>
        <p:nvSpPr>
          <p:cNvPr id="30" name="TextBox 30"/>
          <p:cNvSpPr txBox="1"/>
          <p:nvPr/>
        </p:nvSpPr>
        <p:spPr>
          <a:xfrm>
            <a:off x="11669573" y="4802505"/>
            <a:ext cx="3996891" cy="360045"/>
          </a:xfrm>
          <a:prstGeom prst="rect">
            <a:avLst/>
          </a:prstGeom>
        </p:spPr>
        <p:txBody>
          <a:bodyPr lIns="0" tIns="0" rIns="0" bIns="0" rtlCol="0" anchor="t">
            <a:spAutoFit/>
          </a:bodyPr>
          <a:lstStyle/>
          <a:p>
            <a:pPr algn="l">
              <a:lnSpc>
                <a:spcPts val="3074"/>
              </a:lnSpc>
            </a:pPr>
            <a:r>
              <a:rPr lang="en-US" sz="2049" spc="-40">
                <a:solidFill>
                  <a:srgbClr val="333333">
                    <a:alpha val="69804"/>
                  </a:srgbClr>
                </a:solidFill>
                <a:latin typeface="JASO Sans"/>
                <a:ea typeface="JASO Sans"/>
                <a:cs typeface="JASO Sans"/>
                <a:sym typeface="JASO Sans"/>
              </a:rPr>
              <a:t>사용자 행동 기반 콘텐츠 노출 증가</a:t>
            </a:r>
          </a:p>
        </p:txBody>
      </p:sp>
      <p:sp>
        <p:nvSpPr>
          <p:cNvPr id="31" name="TextBox 31"/>
          <p:cNvSpPr txBox="1"/>
          <p:nvPr/>
        </p:nvSpPr>
        <p:spPr>
          <a:xfrm>
            <a:off x="11669573" y="6448721"/>
            <a:ext cx="3996891" cy="360045"/>
          </a:xfrm>
          <a:prstGeom prst="rect">
            <a:avLst/>
          </a:prstGeom>
        </p:spPr>
        <p:txBody>
          <a:bodyPr lIns="0" tIns="0" rIns="0" bIns="0" rtlCol="0" anchor="t">
            <a:spAutoFit/>
          </a:bodyPr>
          <a:lstStyle/>
          <a:p>
            <a:pPr algn="l">
              <a:lnSpc>
                <a:spcPts val="3074"/>
              </a:lnSpc>
            </a:pPr>
            <a:r>
              <a:rPr lang="en-US" sz="2049" spc="-40">
                <a:solidFill>
                  <a:srgbClr val="333333">
                    <a:alpha val="69804"/>
                  </a:srgbClr>
                </a:solidFill>
                <a:latin typeface="JASO Sans"/>
                <a:ea typeface="JASO Sans"/>
                <a:cs typeface="JASO Sans"/>
                <a:sym typeface="JASO Sans"/>
              </a:rPr>
              <a:t>15초~30초 콘텐츠 집중 소비</a:t>
            </a:r>
          </a:p>
        </p:txBody>
      </p:sp>
      <p:sp>
        <p:nvSpPr>
          <p:cNvPr id="32" name="TextBox 32"/>
          <p:cNvSpPr txBox="1"/>
          <p:nvPr/>
        </p:nvSpPr>
        <p:spPr>
          <a:xfrm>
            <a:off x="11669573" y="8094938"/>
            <a:ext cx="4575204" cy="360045"/>
          </a:xfrm>
          <a:prstGeom prst="rect">
            <a:avLst/>
          </a:prstGeom>
        </p:spPr>
        <p:txBody>
          <a:bodyPr lIns="0" tIns="0" rIns="0" bIns="0" rtlCol="0" anchor="t">
            <a:spAutoFit/>
          </a:bodyPr>
          <a:lstStyle/>
          <a:p>
            <a:pPr algn="l">
              <a:lnSpc>
                <a:spcPts val="3074"/>
              </a:lnSpc>
            </a:pPr>
            <a:r>
              <a:rPr lang="en-US" sz="2049" spc="-40">
                <a:solidFill>
                  <a:srgbClr val="333333">
                    <a:alpha val="69804"/>
                  </a:srgbClr>
                </a:solidFill>
                <a:latin typeface="JASO Sans"/>
                <a:ea typeface="JASO Sans"/>
                <a:cs typeface="JASO Sans"/>
                <a:sym typeface="JASO Sans"/>
              </a:rPr>
              <a:t>공감 기반 바이럴, 커뮤니티 신뢰도 상승</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p:cNvGrpSpPr/>
        <p:nvPr/>
      </p:nvGrpSpPr>
      <p:grpSpPr>
        <a:xfrm>
          <a:off x="0" y="0"/>
          <a:ext cx="0" cy="0"/>
          <a:chOff x="0" y="0"/>
          <a:chExt cx="0" cy="0"/>
        </a:xfrm>
      </p:grpSpPr>
      <p:grpSp>
        <p:nvGrpSpPr>
          <p:cNvPr id="2" name="Group 2"/>
          <p:cNvGrpSpPr/>
          <p:nvPr/>
        </p:nvGrpSpPr>
        <p:grpSpPr>
          <a:xfrm rot="-5400000">
            <a:off x="9096607" y="1095607"/>
            <a:ext cx="94785" cy="18288000"/>
            <a:chOff x="0" y="0"/>
            <a:chExt cx="11819" cy="2280318"/>
          </a:xfrm>
        </p:grpSpPr>
        <p:sp>
          <p:nvSpPr>
            <p:cNvPr id="3" name="Freeform 3"/>
            <p:cNvSpPr/>
            <p:nvPr/>
          </p:nvSpPr>
          <p:spPr>
            <a:xfrm>
              <a:off x="0" y="0"/>
              <a:ext cx="11819" cy="2280318"/>
            </a:xfrm>
            <a:custGeom>
              <a:avLst/>
              <a:gdLst/>
              <a:ahLst/>
              <a:cxnLst/>
              <a:rect l="l" t="t" r="r" b="b"/>
              <a:pathLst>
                <a:path w="11819" h="2280318">
                  <a:moveTo>
                    <a:pt x="0" y="0"/>
                  </a:moveTo>
                  <a:lnTo>
                    <a:pt x="11819" y="0"/>
                  </a:lnTo>
                  <a:lnTo>
                    <a:pt x="11819" y="2280318"/>
                  </a:lnTo>
                  <a:lnTo>
                    <a:pt x="0" y="2280318"/>
                  </a:lnTo>
                  <a:close/>
                </a:path>
              </a:pathLst>
            </a:custGeom>
            <a:solidFill>
              <a:srgbClr val="9F3838"/>
            </a:solidFill>
          </p:spPr>
        </p:sp>
        <p:sp>
          <p:nvSpPr>
            <p:cNvPr id="4" name="TextBox 4"/>
            <p:cNvSpPr txBox="1"/>
            <p:nvPr/>
          </p:nvSpPr>
          <p:spPr>
            <a:xfrm>
              <a:off x="0" y="-47625"/>
              <a:ext cx="11819" cy="2327943"/>
            </a:xfrm>
            <a:prstGeom prst="rect">
              <a:avLst/>
            </a:prstGeom>
          </p:spPr>
          <p:txBody>
            <a:bodyPr lIns="50800" tIns="50800" rIns="50800" bIns="50800" rtlCol="0" anchor="ctr"/>
            <a:lstStyle/>
            <a:p>
              <a:pPr algn="ctr">
                <a:lnSpc>
                  <a:spcPts val="2587"/>
                </a:lnSpc>
              </a:pPr>
              <a:endParaRPr/>
            </a:p>
          </p:txBody>
        </p:sp>
      </p:grpSp>
      <p:sp>
        <p:nvSpPr>
          <p:cNvPr id="5" name="Freeform 5"/>
          <p:cNvSpPr/>
          <p:nvPr/>
        </p:nvSpPr>
        <p:spPr>
          <a:xfrm rot="-5400000">
            <a:off x="17537790" y="305848"/>
            <a:ext cx="82863" cy="368281"/>
          </a:xfrm>
          <a:custGeom>
            <a:avLst/>
            <a:gdLst/>
            <a:ahLst/>
            <a:cxnLst/>
            <a:rect l="l" t="t" r="r" b="b"/>
            <a:pathLst>
              <a:path w="82863" h="368281">
                <a:moveTo>
                  <a:pt x="0" y="0"/>
                </a:moveTo>
                <a:lnTo>
                  <a:pt x="82864" y="0"/>
                </a:lnTo>
                <a:lnTo>
                  <a:pt x="82864" y="368282"/>
                </a:lnTo>
                <a:lnTo>
                  <a:pt x="0" y="368282"/>
                </a:lnTo>
                <a:lnTo>
                  <a:pt x="0" y="0"/>
                </a:lnTo>
                <a:close/>
              </a:path>
            </a:pathLst>
          </a:custGeom>
          <a:blipFill>
            <a:blip r:embed="rId2">
              <a:alphaModFix amt="50000"/>
              <a:extLst>
                <a:ext uri="{96DAC541-7B7A-43D3-8B79-37D633B846F1}">
                  <asvg:svgBlip xmlns:asvg="http://schemas.microsoft.com/office/drawing/2016/SVG/main" xmlns="" r:embed="rId3"/>
                </a:ext>
              </a:extLst>
            </a:blip>
            <a:stretch>
              <a:fillRect/>
            </a:stretch>
          </a:blipFill>
          <a:ln cap="sq">
            <a:noFill/>
            <a:prstDash val="solid"/>
            <a:miter/>
          </a:ln>
        </p:spPr>
      </p:sp>
      <p:sp>
        <p:nvSpPr>
          <p:cNvPr id="6" name="AutoShape 6"/>
          <p:cNvSpPr/>
          <p:nvPr/>
        </p:nvSpPr>
        <p:spPr>
          <a:xfrm>
            <a:off x="651497" y="2036945"/>
            <a:ext cx="16985007" cy="0"/>
          </a:xfrm>
          <a:prstGeom prst="line">
            <a:avLst/>
          </a:prstGeom>
          <a:ln w="9525" cap="flat">
            <a:solidFill>
              <a:srgbClr val="333333">
                <a:alpha val="49804"/>
              </a:srgbClr>
            </a:solidFill>
            <a:prstDash val="solid"/>
            <a:headEnd type="none" w="sm" len="sm"/>
            <a:tailEnd type="none" w="sm" len="sm"/>
          </a:ln>
        </p:spPr>
      </p:sp>
      <p:sp>
        <p:nvSpPr>
          <p:cNvPr id="7" name="Freeform 7"/>
          <p:cNvSpPr/>
          <p:nvPr/>
        </p:nvSpPr>
        <p:spPr>
          <a:xfrm>
            <a:off x="958901" y="972638"/>
            <a:ext cx="321816" cy="321816"/>
          </a:xfrm>
          <a:custGeom>
            <a:avLst/>
            <a:gdLst/>
            <a:ahLst/>
            <a:cxnLst/>
            <a:rect l="l" t="t" r="r" b="b"/>
            <a:pathLst>
              <a:path w="321816" h="321816">
                <a:moveTo>
                  <a:pt x="0" y="0"/>
                </a:moveTo>
                <a:lnTo>
                  <a:pt x="321815" y="0"/>
                </a:lnTo>
                <a:lnTo>
                  <a:pt x="321815" y="321816"/>
                </a:lnTo>
                <a:lnTo>
                  <a:pt x="0" y="321816"/>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8" name="TextBox 8"/>
          <p:cNvSpPr txBox="1"/>
          <p:nvPr/>
        </p:nvSpPr>
        <p:spPr>
          <a:xfrm>
            <a:off x="1448568" y="830869"/>
            <a:ext cx="14134398" cy="710129"/>
          </a:xfrm>
          <a:prstGeom prst="rect">
            <a:avLst/>
          </a:prstGeom>
        </p:spPr>
        <p:txBody>
          <a:bodyPr lIns="0" tIns="0" rIns="0" bIns="0" rtlCol="0" anchor="t">
            <a:spAutoFit/>
          </a:bodyPr>
          <a:lstStyle/>
          <a:p>
            <a:pPr marL="0" lvl="0" indent="0" algn="l">
              <a:lnSpc>
                <a:spcPts val="5337"/>
              </a:lnSpc>
            </a:pPr>
            <a:r>
              <a:rPr lang="en-US" sz="5232" b="1" spc="-104">
                <a:solidFill>
                  <a:srgbClr val="333333"/>
                </a:solidFill>
                <a:latin typeface="JASO Sans Bold"/>
                <a:ea typeface="JASO Sans Bold"/>
                <a:cs typeface="JASO Sans Bold"/>
                <a:sym typeface="JASO Sans Bold"/>
              </a:rPr>
              <a:t>세그먼트별 포지셔닝과 채널 역할 정의</a:t>
            </a:r>
          </a:p>
        </p:txBody>
      </p:sp>
      <p:sp>
        <p:nvSpPr>
          <p:cNvPr id="9" name="Freeform 9"/>
          <p:cNvSpPr/>
          <p:nvPr/>
        </p:nvSpPr>
        <p:spPr>
          <a:xfrm rot="2071988">
            <a:off x="7645665" y="3988112"/>
            <a:ext cx="3880760" cy="2818402"/>
          </a:xfrm>
          <a:custGeom>
            <a:avLst/>
            <a:gdLst/>
            <a:ahLst/>
            <a:cxnLst/>
            <a:rect l="l" t="t" r="r" b="b"/>
            <a:pathLst>
              <a:path w="3880760" h="2818402">
                <a:moveTo>
                  <a:pt x="0" y="0"/>
                </a:moveTo>
                <a:lnTo>
                  <a:pt x="3880761" y="0"/>
                </a:lnTo>
                <a:lnTo>
                  <a:pt x="3880761" y="2818403"/>
                </a:lnTo>
                <a:lnTo>
                  <a:pt x="0" y="2818403"/>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10" name="TextBox 10"/>
          <p:cNvSpPr txBox="1"/>
          <p:nvPr/>
        </p:nvSpPr>
        <p:spPr>
          <a:xfrm>
            <a:off x="11111267" y="4758009"/>
            <a:ext cx="4588348" cy="455296"/>
          </a:xfrm>
          <a:prstGeom prst="rect">
            <a:avLst/>
          </a:prstGeom>
        </p:spPr>
        <p:txBody>
          <a:bodyPr lIns="0" tIns="0" rIns="0" bIns="0" rtlCol="0" anchor="t">
            <a:spAutoFit/>
          </a:bodyPr>
          <a:lstStyle/>
          <a:p>
            <a:pPr algn="l">
              <a:lnSpc>
                <a:spcPts val="3824"/>
              </a:lnSpc>
            </a:pPr>
            <a:r>
              <a:rPr lang="en-US" sz="2549" b="1" spc="-50">
                <a:solidFill>
                  <a:srgbClr val="333333"/>
                </a:solidFill>
                <a:latin typeface="JASO Sans Bold"/>
                <a:ea typeface="JASO Sans Bold"/>
                <a:cs typeface="JASO Sans Bold"/>
                <a:sym typeface="JASO Sans Bold"/>
              </a:rPr>
              <a:t>고관심 검토층(설득)</a:t>
            </a:r>
          </a:p>
        </p:txBody>
      </p:sp>
      <p:sp>
        <p:nvSpPr>
          <p:cNvPr id="11" name="TextBox 11"/>
          <p:cNvSpPr txBox="1"/>
          <p:nvPr/>
        </p:nvSpPr>
        <p:spPr>
          <a:xfrm>
            <a:off x="3535659" y="6925331"/>
            <a:ext cx="4588348" cy="455296"/>
          </a:xfrm>
          <a:prstGeom prst="rect">
            <a:avLst/>
          </a:prstGeom>
        </p:spPr>
        <p:txBody>
          <a:bodyPr lIns="0" tIns="0" rIns="0" bIns="0" rtlCol="0" anchor="t">
            <a:spAutoFit/>
          </a:bodyPr>
          <a:lstStyle/>
          <a:p>
            <a:pPr algn="r">
              <a:lnSpc>
                <a:spcPts val="3824"/>
              </a:lnSpc>
            </a:pPr>
            <a:r>
              <a:rPr lang="en-US" sz="2549" b="1" spc="-50">
                <a:solidFill>
                  <a:srgbClr val="333333"/>
                </a:solidFill>
                <a:latin typeface="JASO Sans Bold"/>
                <a:ea typeface="JASO Sans Bold"/>
                <a:cs typeface="JASO Sans Bold"/>
                <a:sym typeface="JASO Sans Bold"/>
              </a:rPr>
              <a:t>구매전환층(결정)</a:t>
            </a:r>
          </a:p>
        </p:txBody>
      </p:sp>
      <p:sp>
        <p:nvSpPr>
          <p:cNvPr id="12" name="TextBox 12"/>
          <p:cNvSpPr txBox="1"/>
          <p:nvPr/>
        </p:nvSpPr>
        <p:spPr>
          <a:xfrm>
            <a:off x="2247597" y="3213100"/>
            <a:ext cx="4588348" cy="455296"/>
          </a:xfrm>
          <a:prstGeom prst="rect">
            <a:avLst/>
          </a:prstGeom>
        </p:spPr>
        <p:txBody>
          <a:bodyPr lIns="0" tIns="0" rIns="0" bIns="0" rtlCol="0" anchor="t">
            <a:spAutoFit/>
          </a:bodyPr>
          <a:lstStyle/>
          <a:p>
            <a:pPr algn="r">
              <a:lnSpc>
                <a:spcPts val="3824"/>
              </a:lnSpc>
            </a:pPr>
            <a:r>
              <a:rPr lang="en-US" sz="2549" b="1" spc="-50">
                <a:solidFill>
                  <a:srgbClr val="333333"/>
                </a:solidFill>
                <a:latin typeface="JASO Sans Bold"/>
                <a:ea typeface="JASO Sans Bold"/>
                <a:cs typeface="JASO Sans Bold"/>
                <a:sym typeface="JASO Sans Bold"/>
              </a:rPr>
              <a:t>잠재탐색층(브랜드 발견)</a:t>
            </a:r>
          </a:p>
        </p:txBody>
      </p:sp>
      <p:sp>
        <p:nvSpPr>
          <p:cNvPr id="13" name="TextBox 13"/>
          <p:cNvSpPr txBox="1"/>
          <p:nvPr/>
        </p:nvSpPr>
        <p:spPr>
          <a:xfrm>
            <a:off x="11111267" y="5422855"/>
            <a:ext cx="5468961" cy="1122045"/>
          </a:xfrm>
          <a:prstGeom prst="rect">
            <a:avLst/>
          </a:prstGeom>
        </p:spPr>
        <p:txBody>
          <a:bodyPr lIns="0" tIns="0" rIns="0" bIns="0" rtlCol="0" anchor="t">
            <a:spAutoFit/>
          </a:bodyPr>
          <a:lstStyle/>
          <a:p>
            <a:pPr algn="l">
              <a:lnSpc>
                <a:spcPts val="3074"/>
              </a:lnSpc>
            </a:pPr>
            <a:r>
              <a:rPr lang="en-US" sz="2049" spc="-40">
                <a:solidFill>
                  <a:srgbClr val="333333">
                    <a:alpha val="69804"/>
                  </a:srgbClr>
                </a:solidFill>
                <a:latin typeface="JASO Sans"/>
                <a:ea typeface="JASO Sans"/>
                <a:cs typeface="JASO Sans"/>
                <a:sym typeface="JASO Sans"/>
              </a:rPr>
              <a:t>제품 비교·리뷰 검색자 대상 가치·리뷰중심 메시지 </a:t>
            </a:r>
          </a:p>
          <a:p>
            <a:pPr algn="l">
              <a:lnSpc>
                <a:spcPts val="3074"/>
              </a:lnSpc>
            </a:pPr>
            <a:r>
              <a:rPr lang="en-US" sz="2049" spc="-40">
                <a:solidFill>
                  <a:srgbClr val="333333">
                    <a:alpha val="69804"/>
                  </a:srgbClr>
                </a:solidFill>
                <a:latin typeface="JASO Sans"/>
                <a:ea typeface="JASO Sans"/>
                <a:cs typeface="JASO Sans"/>
                <a:sym typeface="JASO Sans"/>
              </a:rPr>
              <a:t>채널: LARANA PAGE</a:t>
            </a:r>
          </a:p>
          <a:p>
            <a:pPr algn="l">
              <a:lnSpc>
                <a:spcPts val="3074"/>
              </a:lnSpc>
            </a:pPr>
            <a:r>
              <a:rPr lang="en-US" sz="2049" spc="-40">
                <a:solidFill>
                  <a:srgbClr val="333333">
                    <a:alpha val="69804"/>
                  </a:srgbClr>
                </a:solidFill>
                <a:latin typeface="JASO Sans"/>
                <a:ea typeface="JASO Sans"/>
                <a:cs typeface="JASO Sans"/>
                <a:sym typeface="JASO Sans"/>
              </a:rPr>
              <a:t>오퍼: 한정 할인·심층 리뷰·라이브 Q&amp;A</a:t>
            </a:r>
          </a:p>
        </p:txBody>
      </p:sp>
      <p:sp>
        <p:nvSpPr>
          <p:cNvPr id="14" name="TextBox 14"/>
          <p:cNvSpPr txBox="1"/>
          <p:nvPr/>
        </p:nvSpPr>
        <p:spPr>
          <a:xfrm>
            <a:off x="2655045" y="7590177"/>
            <a:ext cx="5468961" cy="1503045"/>
          </a:xfrm>
          <a:prstGeom prst="rect">
            <a:avLst/>
          </a:prstGeom>
        </p:spPr>
        <p:txBody>
          <a:bodyPr lIns="0" tIns="0" rIns="0" bIns="0" rtlCol="0" anchor="t">
            <a:spAutoFit/>
          </a:bodyPr>
          <a:lstStyle/>
          <a:p>
            <a:pPr algn="r">
              <a:lnSpc>
                <a:spcPts val="3074"/>
              </a:lnSpc>
            </a:pPr>
            <a:r>
              <a:rPr lang="en-US" sz="2049" spc="-40">
                <a:solidFill>
                  <a:srgbClr val="333333">
                    <a:alpha val="69804"/>
                  </a:srgbClr>
                </a:solidFill>
                <a:latin typeface="JASO Sans"/>
                <a:ea typeface="JASO Sans"/>
                <a:cs typeface="JASO Sans"/>
                <a:sym typeface="JASO Sans"/>
              </a:rPr>
              <a:t>장바구니·리타겟 대상에 사회적 증거 기반 CTA 전달 채널: LARANA Ads·LARANA Email</a:t>
            </a:r>
          </a:p>
          <a:p>
            <a:pPr algn="r">
              <a:lnSpc>
                <a:spcPts val="3074"/>
              </a:lnSpc>
            </a:pPr>
            <a:r>
              <a:rPr lang="en-US" sz="2049" spc="-40">
                <a:solidFill>
                  <a:srgbClr val="333333">
                    <a:alpha val="69804"/>
                  </a:srgbClr>
                </a:solidFill>
                <a:latin typeface="JASO Sans"/>
                <a:ea typeface="JASO Sans"/>
                <a:cs typeface="JASO Sans"/>
                <a:sym typeface="JASO Sans"/>
              </a:rPr>
              <a:t>오퍼: 즉시 구매 쿠폰·무료배송</a:t>
            </a:r>
          </a:p>
          <a:p>
            <a:pPr algn="r">
              <a:lnSpc>
                <a:spcPts val="3074"/>
              </a:lnSpc>
            </a:pPr>
            <a:endParaRPr lang="en-US" sz="2049" spc="-40">
              <a:solidFill>
                <a:srgbClr val="333333">
                  <a:alpha val="69804"/>
                </a:srgbClr>
              </a:solidFill>
              <a:latin typeface="JASO Sans"/>
              <a:ea typeface="JASO Sans"/>
              <a:cs typeface="JASO Sans"/>
              <a:sym typeface="JASO Sans"/>
            </a:endParaRPr>
          </a:p>
        </p:txBody>
      </p:sp>
      <p:sp>
        <p:nvSpPr>
          <p:cNvPr id="15" name="TextBox 15"/>
          <p:cNvSpPr txBox="1"/>
          <p:nvPr/>
        </p:nvSpPr>
        <p:spPr>
          <a:xfrm>
            <a:off x="1366984" y="3877946"/>
            <a:ext cx="5468961" cy="1503045"/>
          </a:xfrm>
          <a:prstGeom prst="rect">
            <a:avLst/>
          </a:prstGeom>
        </p:spPr>
        <p:txBody>
          <a:bodyPr lIns="0" tIns="0" rIns="0" bIns="0" rtlCol="0" anchor="t">
            <a:spAutoFit/>
          </a:bodyPr>
          <a:lstStyle/>
          <a:p>
            <a:pPr algn="r">
              <a:lnSpc>
                <a:spcPts val="3074"/>
              </a:lnSpc>
            </a:pPr>
            <a:r>
              <a:rPr lang="en-US" sz="2049" spc="-40">
                <a:solidFill>
                  <a:srgbClr val="333333">
                    <a:alpha val="69804"/>
                  </a:srgbClr>
                </a:solidFill>
                <a:latin typeface="JASO Sans"/>
                <a:ea typeface="JASO Sans"/>
                <a:cs typeface="JASO Sans"/>
                <a:sym typeface="JASO Sans"/>
              </a:rPr>
              <a:t>소셜 컨텐츠 소비층에 호기심 유발하는 숏폼 스토리</a:t>
            </a:r>
          </a:p>
          <a:p>
            <a:pPr algn="r">
              <a:lnSpc>
                <a:spcPts val="3074"/>
              </a:lnSpc>
            </a:pPr>
            <a:r>
              <a:rPr lang="en-US" sz="2049" spc="-40">
                <a:solidFill>
                  <a:srgbClr val="333333">
                    <a:alpha val="69804"/>
                  </a:srgbClr>
                </a:solidFill>
                <a:latin typeface="JASO Sans"/>
                <a:ea typeface="JASO Sans"/>
                <a:cs typeface="JASO Sans"/>
                <a:sym typeface="JASO Sans"/>
              </a:rPr>
              <a:t>채널: LARANA Reels·LARANA Short</a:t>
            </a:r>
          </a:p>
          <a:p>
            <a:pPr algn="r">
              <a:lnSpc>
                <a:spcPts val="3074"/>
              </a:lnSpc>
            </a:pPr>
            <a:r>
              <a:rPr lang="en-US" sz="2049" spc="-40">
                <a:solidFill>
                  <a:srgbClr val="333333">
                    <a:alpha val="69804"/>
                  </a:srgbClr>
                </a:solidFill>
                <a:latin typeface="JASO Sans"/>
                <a:ea typeface="JASO Sans"/>
                <a:cs typeface="JASO Sans"/>
                <a:sym typeface="JASO Sans"/>
              </a:rPr>
              <a:t>오퍼: 브랜드 체험형 쿠폰·콘텐츠 시리즈</a:t>
            </a:r>
          </a:p>
          <a:p>
            <a:pPr algn="r">
              <a:lnSpc>
                <a:spcPts val="3074"/>
              </a:lnSpc>
            </a:pPr>
            <a:endParaRPr lang="en-US" sz="2049" spc="-40">
              <a:solidFill>
                <a:srgbClr val="333333">
                  <a:alpha val="69804"/>
                </a:srgbClr>
              </a:solidFill>
              <a:latin typeface="JASO Sans"/>
              <a:ea typeface="JASO Sans"/>
              <a:cs typeface="JASO Sans"/>
              <a:sym typeface="JASO Sa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p:cNvGrpSpPr/>
        <p:nvPr/>
      </p:nvGrpSpPr>
      <p:grpSpPr>
        <a:xfrm>
          <a:off x="0" y="0"/>
          <a:ext cx="0" cy="0"/>
          <a:chOff x="0" y="0"/>
          <a:chExt cx="0" cy="0"/>
        </a:xfrm>
      </p:grpSpPr>
      <p:grpSp>
        <p:nvGrpSpPr>
          <p:cNvPr id="2" name="Group 2"/>
          <p:cNvGrpSpPr/>
          <p:nvPr/>
        </p:nvGrpSpPr>
        <p:grpSpPr>
          <a:xfrm rot="-5400000">
            <a:off x="9096607" y="1095607"/>
            <a:ext cx="94785" cy="18288000"/>
            <a:chOff x="0" y="0"/>
            <a:chExt cx="11819" cy="2280318"/>
          </a:xfrm>
        </p:grpSpPr>
        <p:sp>
          <p:nvSpPr>
            <p:cNvPr id="3" name="Freeform 3"/>
            <p:cNvSpPr/>
            <p:nvPr/>
          </p:nvSpPr>
          <p:spPr>
            <a:xfrm>
              <a:off x="0" y="0"/>
              <a:ext cx="11819" cy="2280318"/>
            </a:xfrm>
            <a:custGeom>
              <a:avLst/>
              <a:gdLst/>
              <a:ahLst/>
              <a:cxnLst/>
              <a:rect l="l" t="t" r="r" b="b"/>
              <a:pathLst>
                <a:path w="11819" h="2280318">
                  <a:moveTo>
                    <a:pt x="0" y="0"/>
                  </a:moveTo>
                  <a:lnTo>
                    <a:pt x="11819" y="0"/>
                  </a:lnTo>
                  <a:lnTo>
                    <a:pt x="11819" y="2280318"/>
                  </a:lnTo>
                  <a:lnTo>
                    <a:pt x="0" y="2280318"/>
                  </a:lnTo>
                  <a:close/>
                </a:path>
              </a:pathLst>
            </a:custGeom>
            <a:solidFill>
              <a:srgbClr val="9F3838"/>
            </a:solidFill>
          </p:spPr>
        </p:sp>
        <p:sp>
          <p:nvSpPr>
            <p:cNvPr id="4" name="TextBox 4"/>
            <p:cNvSpPr txBox="1"/>
            <p:nvPr/>
          </p:nvSpPr>
          <p:spPr>
            <a:xfrm>
              <a:off x="0" y="-47625"/>
              <a:ext cx="11819" cy="2327943"/>
            </a:xfrm>
            <a:prstGeom prst="rect">
              <a:avLst/>
            </a:prstGeom>
          </p:spPr>
          <p:txBody>
            <a:bodyPr lIns="50800" tIns="50800" rIns="50800" bIns="50800" rtlCol="0" anchor="ctr"/>
            <a:lstStyle/>
            <a:p>
              <a:pPr algn="ctr">
                <a:lnSpc>
                  <a:spcPts val="2587"/>
                </a:lnSpc>
              </a:pPr>
              <a:endParaRPr/>
            </a:p>
          </p:txBody>
        </p:sp>
      </p:grpSp>
      <p:sp>
        <p:nvSpPr>
          <p:cNvPr id="5" name="Freeform 5"/>
          <p:cNvSpPr/>
          <p:nvPr/>
        </p:nvSpPr>
        <p:spPr>
          <a:xfrm rot="-5400000">
            <a:off x="17537790" y="305848"/>
            <a:ext cx="82863" cy="368281"/>
          </a:xfrm>
          <a:custGeom>
            <a:avLst/>
            <a:gdLst/>
            <a:ahLst/>
            <a:cxnLst/>
            <a:rect l="l" t="t" r="r" b="b"/>
            <a:pathLst>
              <a:path w="82863" h="368281">
                <a:moveTo>
                  <a:pt x="0" y="0"/>
                </a:moveTo>
                <a:lnTo>
                  <a:pt x="82864" y="0"/>
                </a:lnTo>
                <a:lnTo>
                  <a:pt x="82864" y="368282"/>
                </a:lnTo>
                <a:lnTo>
                  <a:pt x="0" y="368282"/>
                </a:lnTo>
                <a:lnTo>
                  <a:pt x="0" y="0"/>
                </a:lnTo>
                <a:close/>
              </a:path>
            </a:pathLst>
          </a:custGeom>
          <a:blipFill>
            <a:blip r:embed="rId2">
              <a:alphaModFix amt="50000"/>
              <a:extLst>
                <a:ext uri="{96DAC541-7B7A-43D3-8B79-37D633B846F1}">
                  <asvg:svgBlip xmlns:asvg="http://schemas.microsoft.com/office/drawing/2016/SVG/main" xmlns="" r:embed="rId3"/>
                </a:ext>
              </a:extLst>
            </a:blip>
            <a:stretch>
              <a:fillRect/>
            </a:stretch>
          </a:blipFill>
          <a:ln cap="sq">
            <a:noFill/>
            <a:prstDash val="solid"/>
            <a:miter/>
          </a:ln>
        </p:spPr>
      </p:sp>
      <p:sp>
        <p:nvSpPr>
          <p:cNvPr id="6" name="AutoShape 6"/>
          <p:cNvSpPr/>
          <p:nvPr/>
        </p:nvSpPr>
        <p:spPr>
          <a:xfrm>
            <a:off x="651497" y="2036945"/>
            <a:ext cx="16985007" cy="0"/>
          </a:xfrm>
          <a:prstGeom prst="line">
            <a:avLst/>
          </a:prstGeom>
          <a:ln w="9525" cap="flat">
            <a:solidFill>
              <a:srgbClr val="333333">
                <a:alpha val="49804"/>
              </a:srgbClr>
            </a:solidFill>
            <a:prstDash val="solid"/>
            <a:headEnd type="none" w="sm" len="sm"/>
            <a:tailEnd type="none" w="sm" len="sm"/>
          </a:ln>
        </p:spPr>
      </p:sp>
      <p:sp>
        <p:nvSpPr>
          <p:cNvPr id="7" name="Freeform 7"/>
          <p:cNvSpPr/>
          <p:nvPr/>
        </p:nvSpPr>
        <p:spPr>
          <a:xfrm>
            <a:off x="958901" y="972638"/>
            <a:ext cx="321816" cy="321816"/>
          </a:xfrm>
          <a:custGeom>
            <a:avLst/>
            <a:gdLst/>
            <a:ahLst/>
            <a:cxnLst/>
            <a:rect l="l" t="t" r="r" b="b"/>
            <a:pathLst>
              <a:path w="321816" h="321816">
                <a:moveTo>
                  <a:pt x="0" y="0"/>
                </a:moveTo>
                <a:lnTo>
                  <a:pt x="321815" y="0"/>
                </a:lnTo>
                <a:lnTo>
                  <a:pt x="321815" y="321816"/>
                </a:lnTo>
                <a:lnTo>
                  <a:pt x="0" y="321816"/>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8" name="TextBox 8"/>
          <p:cNvSpPr txBox="1"/>
          <p:nvPr/>
        </p:nvSpPr>
        <p:spPr>
          <a:xfrm>
            <a:off x="1448568" y="830869"/>
            <a:ext cx="14134398" cy="710129"/>
          </a:xfrm>
          <a:prstGeom prst="rect">
            <a:avLst/>
          </a:prstGeom>
        </p:spPr>
        <p:txBody>
          <a:bodyPr lIns="0" tIns="0" rIns="0" bIns="0" rtlCol="0" anchor="t">
            <a:spAutoFit/>
          </a:bodyPr>
          <a:lstStyle/>
          <a:p>
            <a:pPr marL="0" lvl="0" indent="0" algn="l">
              <a:lnSpc>
                <a:spcPts val="5337"/>
              </a:lnSpc>
            </a:pPr>
            <a:r>
              <a:rPr lang="en-US" sz="5232" b="1" spc="-104">
                <a:solidFill>
                  <a:srgbClr val="333333"/>
                </a:solidFill>
                <a:latin typeface="JASO Sans Bold"/>
                <a:ea typeface="JASO Sans Bold"/>
                <a:cs typeface="JASO Sans Bold"/>
                <a:sym typeface="JASO Sans Bold"/>
              </a:rPr>
              <a:t>현재 과제 진단: 채널별 성과 편차</a:t>
            </a:r>
          </a:p>
        </p:txBody>
      </p:sp>
      <p:grpSp>
        <p:nvGrpSpPr>
          <p:cNvPr id="9" name="Group 9"/>
          <p:cNvGrpSpPr/>
          <p:nvPr/>
        </p:nvGrpSpPr>
        <p:grpSpPr>
          <a:xfrm>
            <a:off x="1717296" y="3136448"/>
            <a:ext cx="4640922" cy="5701057"/>
            <a:chOff x="0" y="0"/>
            <a:chExt cx="1222300" cy="1501513"/>
          </a:xfrm>
        </p:grpSpPr>
        <p:sp>
          <p:nvSpPr>
            <p:cNvPr id="10" name="Freeform 10"/>
            <p:cNvSpPr/>
            <p:nvPr/>
          </p:nvSpPr>
          <p:spPr>
            <a:xfrm>
              <a:off x="0" y="0"/>
              <a:ext cx="1222300" cy="1501513"/>
            </a:xfrm>
            <a:custGeom>
              <a:avLst/>
              <a:gdLst/>
              <a:ahLst/>
              <a:cxnLst/>
              <a:rect l="l" t="t" r="r" b="b"/>
              <a:pathLst>
                <a:path w="1222300" h="1501513">
                  <a:moveTo>
                    <a:pt x="0" y="0"/>
                  </a:moveTo>
                  <a:lnTo>
                    <a:pt x="1222300" y="0"/>
                  </a:lnTo>
                  <a:lnTo>
                    <a:pt x="1222300" y="1501513"/>
                  </a:lnTo>
                  <a:lnTo>
                    <a:pt x="0" y="1501513"/>
                  </a:lnTo>
                  <a:close/>
                </a:path>
              </a:pathLst>
            </a:custGeom>
            <a:ln w="9525" cap="sq">
              <a:solidFill>
                <a:srgbClr val="333333"/>
              </a:solidFill>
              <a:prstDash val="solid"/>
              <a:miter/>
            </a:ln>
          </p:spPr>
        </p:sp>
        <p:sp>
          <p:nvSpPr>
            <p:cNvPr id="11" name="TextBox 11"/>
            <p:cNvSpPr txBox="1"/>
            <p:nvPr/>
          </p:nvSpPr>
          <p:spPr>
            <a:xfrm>
              <a:off x="0" y="28575"/>
              <a:ext cx="1222300" cy="1472938"/>
            </a:xfrm>
            <a:prstGeom prst="rect">
              <a:avLst/>
            </a:prstGeom>
          </p:spPr>
          <p:txBody>
            <a:bodyPr lIns="50800" tIns="50800" rIns="50800" bIns="50800" rtlCol="0" anchor="ctr"/>
            <a:lstStyle/>
            <a:p>
              <a:pPr marL="0" lvl="0" indent="0" algn="ctr">
                <a:lnSpc>
                  <a:spcPts val="2743"/>
                </a:lnSpc>
                <a:spcBef>
                  <a:spcPct val="0"/>
                </a:spcBef>
              </a:pPr>
              <a:endParaRPr/>
            </a:p>
          </p:txBody>
        </p:sp>
      </p:grpSp>
      <p:grpSp>
        <p:nvGrpSpPr>
          <p:cNvPr id="12" name="Group 12"/>
          <p:cNvGrpSpPr/>
          <p:nvPr/>
        </p:nvGrpSpPr>
        <p:grpSpPr>
          <a:xfrm>
            <a:off x="6823539" y="3136448"/>
            <a:ext cx="4640922" cy="5701057"/>
            <a:chOff x="0" y="0"/>
            <a:chExt cx="1222300" cy="1501513"/>
          </a:xfrm>
        </p:grpSpPr>
        <p:sp>
          <p:nvSpPr>
            <p:cNvPr id="13" name="Freeform 13"/>
            <p:cNvSpPr/>
            <p:nvPr/>
          </p:nvSpPr>
          <p:spPr>
            <a:xfrm>
              <a:off x="0" y="0"/>
              <a:ext cx="1222300" cy="1501513"/>
            </a:xfrm>
            <a:custGeom>
              <a:avLst/>
              <a:gdLst/>
              <a:ahLst/>
              <a:cxnLst/>
              <a:rect l="l" t="t" r="r" b="b"/>
              <a:pathLst>
                <a:path w="1222300" h="1501513">
                  <a:moveTo>
                    <a:pt x="0" y="0"/>
                  </a:moveTo>
                  <a:lnTo>
                    <a:pt x="1222300" y="0"/>
                  </a:lnTo>
                  <a:lnTo>
                    <a:pt x="1222300" y="1501513"/>
                  </a:lnTo>
                  <a:lnTo>
                    <a:pt x="0" y="1501513"/>
                  </a:lnTo>
                  <a:close/>
                </a:path>
              </a:pathLst>
            </a:custGeom>
            <a:ln w="9525" cap="sq">
              <a:solidFill>
                <a:srgbClr val="333333"/>
              </a:solidFill>
              <a:prstDash val="solid"/>
              <a:miter/>
            </a:ln>
          </p:spPr>
        </p:sp>
        <p:sp>
          <p:nvSpPr>
            <p:cNvPr id="14" name="TextBox 14"/>
            <p:cNvSpPr txBox="1"/>
            <p:nvPr/>
          </p:nvSpPr>
          <p:spPr>
            <a:xfrm>
              <a:off x="0" y="28575"/>
              <a:ext cx="1222300" cy="1472938"/>
            </a:xfrm>
            <a:prstGeom prst="rect">
              <a:avLst/>
            </a:prstGeom>
          </p:spPr>
          <p:txBody>
            <a:bodyPr lIns="50800" tIns="50800" rIns="50800" bIns="50800" rtlCol="0" anchor="ctr"/>
            <a:lstStyle/>
            <a:p>
              <a:pPr marL="0" lvl="0" indent="0" algn="ctr">
                <a:lnSpc>
                  <a:spcPts val="2743"/>
                </a:lnSpc>
                <a:spcBef>
                  <a:spcPct val="0"/>
                </a:spcBef>
              </a:pPr>
              <a:endParaRPr/>
            </a:p>
          </p:txBody>
        </p:sp>
      </p:grpSp>
      <p:grpSp>
        <p:nvGrpSpPr>
          <p:cNvPr id="15" name="Group 15"/>
          <p:cNvGrpSpPr/>
          <p:nvPr/>
        </p:nvGrpSpPr>
        <p:grpSpPr>
          <a:xfrm>
            <a:off x="11931186" y="3136448"/>
            <a:ext cx="4640922" cy="5701057"/>
            <a:chOff x="0" y="0"/>
            <a:chExt cx="1222300" cy="1501513"/>
          </a:xfrm>
        </p:grpSpPr>
        <p:sp>
          <p:nvSpPr>
            <p:cNvPr id="16" name="Freeform 16"/>
            <p:cNvSpPr/>
            <p:nvPr/>
          </p:nvSpPr>
          <p:spPr>
            <a:xfrm>
              <a:off x="0" y="0"/>
              <a:ext cx="1222300" cy="1501513"/>
            </a:xfrm>
            <a:custGeom>
              <a:avLst/>
              <a:gdLst/>
              <a:ahLst/>
              <a:cxnLst/>
              <a:rect l="l" t="t" r="r" b="b"/>
              <a:pathLst>
                <a:path w="1222300" h="1501513">
                  <a:moveTo>
                    <a:pt x="0" y="0"/>
                  </a:moveTo>
                  <a:lnTo>
                    <a:pt x="1222300" y="0"/>
                  </a:lnTo>
                  <a:lnTo>
                    <a:pt x="1222300" y="1501513"/>
                  </a:lnTo>
                  <a:lnTo>
                    <a:pt x="0" y="1501513"/>
                  </a:lnTo>
                  <a:close/>
                </a:path>
              </a:pathLst>
            </a:custGeom>
            <a:ln w="9525" cap="sq">
              <a:solidFill>
                <a:srgbClr val="333333"/>
              </a:solidFill>
              <a:prstDash val="solid"/>
              <a:miter/>
            </a:ln>
          </p:spPr>
        </p:sp>
        <p:sp>
          <p:nvSpPr>
            <p:cNvPr id="17" name="TextBox 17"/>
            <p:cNvSpPr txBox="1"/>
            <p:nvPr/>
          </p:nvSpPr>
          <p:spPr>
            <a:xfrm>
              <a:off x="0" y="28575"/>
              <a:ext cx="1222300" cy="1472938"/>
            </a:xfrm>
            <a:prstGeom prst="rect">
              <a:avLst/>
            </a:prstGeom>
          </p:spPr>
          <p:txBody>
            <a:bodyPr lIns="50800" tIns="50800" rIns="50800" bIns="50800" rtlCol="0" anchor="ctr"/>
            <a:lstStyle/>
            <a:p>
              <a:pPr marL="0" lvl="0" indent="0" algn="ctr">
                <a:lnSpc>
                  <a:spcPts val="2743"/>
                </a:lnSpc>
                <a:spcBef>
                  <a:spcPct val="0"/>
                </a:spcBef>
              </a:pPr>
              <a:endParaRPr/>
            </a:p>
          </p:txBody>
        </p:sp>
      </p:grpSp>
      <p:grpSp>
        <p:nvGrpSpPr>
          <p:cNvPr id="18" name="Group 18"/>
          <p:cNvGrpSpPr/>
          <p:nvPr/>
        </p:nvGrpSpPr>
        <p:grpSpPr>
          <a:xfrm>
            <a:off x="3287330" y="3854418"/>
            <a:ext cx="1500854" cy="558832"/>
            <a:chOff x="0" y="0"/>
            <a:chExt cx="1125576" cy="419100"/>
          </a:xfrm>
        </p:grpSpPr>
        <p:sp>
          <p:nvSpPr>
            <p:cNvPr id="19" name="Freeform 19"/>
            <p:cNvSpPr/>
            <p:nvPr/>
          </p:nvSpPr>
          <p:spPr>
            <a:xfrm>
              <a:off x="0" y="0"/>
              <a:ext cx="1125575" cy="419100"/>
            </a:xfrm>
            <a:custGeom>
              <a:avLst/>
              <a:gdLst/>
              <a:ahLst/>
              <a:cxnLst/>
              <a:rect l="l" t="t" r="r" b="b"/>
              <a:pathLst>
                <a:path w="1125575" h="419100">
                  <a:moveTo>
                    <a:pt x="209550" y="0"/>
                  </a:moveTo>
                  <a:lnTo>
                    <a:pt x="916025" y="0"/>
                  </a:lnTo>
                  <a:cubicBezTo>
                    <a:pt x="1031757" y="0"/>
                    <a:pt x="1125575" y="93819"/>
                    <a:pt x="1125575" y="209550"/>
                  </a:cubicBezTo>
                  <a:lnTo>
                    <a:pt x="1125575" y="209550"/>
                  </a:lnTo>
                  <a:cubicBezTo>
                    <a:pt x="1125575" y="265126"/>
                    <a:pt x="1103498" y="318426"/>
                    <a:pt x="1064200" y="357724"/>
                  </a:cubicBezTo>
                  <a:cubicBezTo>
                    <a:pt x="1024901" y="397022"/>
                    <a:pt x="971602" y="419100"/>
                    <a:pt x="916025" y="419100"/>
                  </a:cubicBezTo>
                  <a:lnTo>
                    <a:pt x="209550" y="419100"/>
                  </a:lnTo>
                  <a:cubicBezTo>
                    <a:pt x="93819" y="419100"/>
                    <a:pt x="0" y="325281"/>
                    <a:pt x="0" y="209550"/>
                  </a:cubicBezTo>
                  <a:lnTo>
                    <a:pt x="0" y="209550"/>
                  </a:lnTo>
                  <a:cubicBezTo>
                    <a:pt x="0" y="93819"/>
                    <a:pt x="93819" y="0"/>
                    <a:pt x="209550" y="0"/>
                  </a:cubicBezTo>
                  <a:close/>
                </a:path>
              </a:pathLst>
            </a:custGeom>
            <a:solidFill>
              <a:srgbClr val="333333"/>
            </a:solidFill>
          </p:spPr>
        </p:sp>
        <p:sp>
          <p:nvSpPr>
            <p:cNvPr id="20" name="TextBox 20"/>
            <p:cNvSpPr txBox="1"/>
            <p:nvPr/>
          </p:nvSpPr>
          <p:spPr>
            <a:xfrm>
              <a:off x="0" y="-57150"/>
              <a:ext cx="1125576" cy="476250"/>
            </a:xfrm>
            <a:prstGeom prst="rect">
              <a:avLst/>
            </a:prstGeom>
          </p:spPr>
          <p:txBody>
            <a:bodyPr lIns="50800" tIns="50800" rIns="50800" bIns="50800" rtlCol="0" anchor="ctr"/>
            <a:lstStyle/>
            <a:p>
              <a:pPr algn="ctr">
                <a:lnSpc>
                  <a:spcPts val="3074"/>
                </a:lnSpc>
              </a:pPr>
              <a:endParaRPr/>
            </a:p>
          </p:txBody>
        </p:sp>
      </p:grpSp>
      <p:grpSp>
        <p:nvGrpSpPr>
          <p:cNvPr id="21" name="Group 21"/>
          <p:cNvGrpSpPr/>
          <p:nvPr/>
        </p:nvGrpSpPr>
        <p:grpSpPr>
          <a:xfrm>
            <a:off x="8393573" y="3854418"/>
            <a:ext cx="1500854" cy="558832"/>
            <a:chOff x="0" y="0"/>
            <a:chExt cx="1125576" cy="419100"/>
          </a:xfrm>
        </p:grpSpPr>
        <p:sp>
          <p:nvSpPr>
            <p:cNvPr id="22" name="Freeform 22"/>
            <p:cNvSpPr/>
            <p:nvPr/>
          </p:nvSpPr>
          <p:spPr>
            <a:xfrm>
              <a:off x="0" y="0"/>
              <a:ext cx="1125575" cy="419100"/>
            </a:xfrm>
            <a:custGeom>
              <a:avLst/>
              <a:gdLst/>
              <a:ahLst/>
              <a:cxnLst/>
              <a:rect l="l" t="t" r="r" b="b"/>
              <a:pathLst>
                <a:path w="1125575" h="419100">
                  <a:moveTo>
                    <a:pt x="209550" y="0"/>
                  </a:moveTo>
                  <a:lnTo>
                    <a:pt x="916025" y="0"/>
                  </a:lnTo>
                  <a:cubicBezTo>
                    <a:pt x="1031757" y="0"/>
                    <a:pt x="1125575" y="93819"/>
                    <a:pt x="1125575" y="209550"/>
                  </a:cubicBezTo>
                  <a:lnTo>
                    <a:pt x="1125575" y="209550"/>
                  </a:lnTo>
                  <a:cubicBezTo>
                    <a:pt x="1125575" y="265126"/>
                    <a:pt x="1103498" y="318426"/>
                    <a:pt x="1064200" y="357724"/>
                  </a:cubicBezTo>
                  <a:cubicBezTo>
                    <a:pt x="1024901" y="397022"/>
                    <a:pt x="971602" y="419100"/>
                    <a:pt x="916025" y="419100"/>
                  </a:cubicBezTo>
                  <a:lnTo>
                    <a:pt x="209550" y="419100"/>
                  </a:lnTo>
                  <a:cubicBezTo>
                    <a:pt x="93819" y="419100"/>
                    <a:pt x="0" y="325281"/>
                    <a:pt x="0" y="209550"/>
                  </a:cubicBezTo>
                  <a:lnTo>
                    <a:pt x="0" y="209550"/>
                  </a:lnTo>
                  <a:cubicBezTo>
                    <a:pt x="0" y="93819"/>
                    <a:pt x="93819" y="0"/>
                    <a:pt x="209550" y="0"/>
                  </a:cubicBezTo>
                  <a:close/>
                </a:path>
              </a:pathLst>
            </a:custGeom>
            <a:solidFill>
              <a:srgbClr val="333333"/>
            </a:solidFill>
          </p:spPr>
        </p:sp>
        <p:sp>
          <p:nvSpPr>
            <p:cNvPr id="23" name="TextBox 23"/>
            <p:cNvSpPr txBox="1"/>
            <p:nvPr/>
          </p:nvSpPr>
          <p:spPr>
            <a:xfrm>
              <a:off x="0" y="-57150"/>
              <a:ext cx="1125576" cy="476250"/>
            </a:xfrm>
            <a:prstGeom prst="rect">
              <a:avLst/>
            </a:prstGeom>
          </p:spPr>
          <p:txBody>
            <a:bodyPr lIns="50800" tIns="50800" rIns="50800" bIns="50800" rtlCol="0" anchor="ctr"/>
            <a:lstStyle/>
            <a:p>
              <a:pPr algn="ctr">
                <a:lnSpc>
                  <a:spcPts val="3074"/>
                </a:lnSpc>
              </a:pPr>
              <a:endParaRPr/>
            </a:p>
          </p:txBody>
        </p:sp>
      </p:grpSp>
      <p:grpSp>
        <p:nvGrpSpPr>
          <p:cNvPr id="24" name="Group 24"/>
          <p:cNvGrpSpPr/>
          <p:nvPr/>
        </p:nvGrpSpPr>
        <p:grpSpPr>
          <a:xfrm>
            <a:off x="13501220" y="3854418"/>
            <a:ext cx="1500854" cy="558832"/>
            <a:chOff x="0" y="0"/>
            <a:chExt cx="1125576" cy="419100"/>
          </a:xfrm>
        </p:grpSpPr>
        <p:sp>
          <p:nvSpPr>
            <p:cNvPr id="25" name="Freeform 25"/>
            <p:cNvSpPr/>
            <p:nvPr/>
          </p:nvSpPr>
          <p:spPr>
            <a:xfrm>
              <a:off x="0" y="0"/>
              <a:ext cx="1125575" cy="419100"/>
            </a:xfrm>
            <a:custGeom>
              <a:avLst/>
              <a:gdLst/>
              <a:ahLst/>
              <a:cxnLst/>
              <a:rect l="l" t="t" r="r" b="b"/>
              <a:pathLst>
                <a:path w="1125575" h="419100">
                  <a:moveTo>
                    <a:pt x="209550" y="0"/>
                  </a:moveTo>
                  <a:lnTo>
                    <a:pt x="916025" y="0"/>
                  </a:lnTo>
                  <a:cubicBezTo>
                    <a:pt x="1031757" y="0"/>
                    <a:pt x="1125575" y="93819"/>
                    <a:pt x="1125575" y="209550"/>
                  </a:cubicBezTo>
                  <a:lnTo>
                    <a:pt x="1125575" y="209550"/>
                  </a:lnTo>
                  <a:cubicBezTo>
                    <a:pt x="1125575" y="265126"/>
                    <a:pt x="1103498" y="318426"/>
                    <a:pt x="1064200" y="357724"/>
                  </a:cubicBezTo>
                  <a:cubicBezTo>
                    <a:pt x="1024901" y="397022"/>
                    <a:pt x="971602" y="419100"/>
                    <a:pt x="916025" y="419100"/>
                  </a:cubicBezTo>
                  <a:lnTo>
                    <a:pt x="209550" y="419100"/>
                  </a:lnTo>
                  <a:cubicBezTo>
                    <a:pt x="93819" y="419100"/>
                    <a:pt x="0" y="325281"/>
                    <a:pt x="0" y="209550"/>
                  </a:cubicBezTo>
                  <a:lnTo>
                    <a:pt x="0" y="209550"/>
                  </a:lnTo>
                  <a:cubicBezTo>
                    <a:pt x="0" y="93819"/>
                    <a:pt x="93819" y="0"/>
                    <a:pt x="209550" y="0"/>
                  </a:cubicBezTo>
                  <a:close/>
                </a:path>
              </a:pathLst>
            </a:custGeom>
            <a:solidFill>
              <a:srgbClr val="333333"/>
            </a:solidFill>
          </p:spPr>
        </p:sp>
        <p:sp>
          <p:nvSpPr>
            <p:cNvPr id="26" name="TextBox 26"/>
            <p:cNvSpPr txBox="1"/>
            <p:nvPr/>
          </p:nvSpPr>
          <p:spPr>
            <a:xfrm>
              <a:off x="0" y="-57150"/>
              <a:ext cx="1125576" cy="476250"/>
            </a:xfrm>
            <a:prstGeom prst="rect">
              <a:avLst/>
            </a:prstGeom>
          </p:spPr>
          <p:txBody>
            <a:bodyPr lIns="50800" tIns="50800" rIns="50800" bIns="50800" rtlCol="0" anchor="ctr"/>
            <a:lstStyle/>
            <a:p>
              <a:pPr algn="ctr">
                <a:lnSpc>
                  <a:spcPts val="3074"/>
                </a:lnSpc>
              </a:pPr>
              <a:endParaRPr/>
            </a:p>
          </p:txBody>
        </p:sp>
      </p:grpSp>
      <p:grpSp>
        <p:nvGrpSpPr>
          <p:cNvPr id="27" name="Group 27"/>
          <p:cNvGrpSpPr/>
          <p:nvPr/>
        </p:nvGrpSpPr>
        <p:grpSpPr>
          <a:xfrm>
            <a:off x="3287330" y="6644201"/>
            <a:ext cx="1500854" cy="558832"/>
            <a:chOff x="0" y="0"/>
            <a:chExt cx="1125576" cy="419100"/>
          </a:xfrm>
        </p:grpSpPr>
        <p:sp>
          <p:nvSpPr>
            <p:cNvPr id="28" name="Freeform 28"/>
            <p:cNvSpPr/>
            <p:nvPr/>
          </p:nvSpPr>
          <p:spPr>
            <a:xfrm>
              <a:off x="0" y="0"/>
              <a:ext cx="1125575" cy="419100"/>
            </a:xfrm>
            <a:custGeom>
              <a:avLst/>
              <a:gdLst/>
              <a:ahLst/>
              <a:cxnLst/>
              <a:rect l="l" t="t" r="r" b="b"/>
              <a:pathLst>
                <a:path w="1125575" h="419100">
                  <a:moveTo>
                    <a:pt x="209550" y="0"/>
                  </a:moveTo>
                  <a:lnTo>
                    <a:pt x="916025" y="0"/>
                  </a:lnTo>
                  <a:cubicBezTo>
                    <a:pt x="1031757" y="0"/>
                    <a:pt x="1125575" y="93819"/>
                    <a:pt x="1125575" y="209550"/>
                  </a:cubicBezTo>
                  <a:lnTo>
                    <a:pt x="1125575" y="209550"/>
                  </a:lnTo>
                  <a:cubicBezTo>
                    <a:pt x="1125575" y="265126"/>
                    <a:pt x="1103498" y="318426"/>
                    <a:pt x="1064200" y="357724"/>
                  </a:cubicBezTo>
                  <a:cubicBezTo>
                    <a:pt x="1024901" y="397022"/>
                    <a:pt x="971602" y="419100"/>
                    <a:pt x="916025" y="419100"/>
                  </a:cubicBezTo>
                  <a:lnTo>
                    <a:pt x="209550" y="419100"/>
                  </a:lnTo>
                  <a:cubicBezTo>
                    <a:pt x="93819" y="419100"/>
                    <a:pt x="0" y="325281"/>
                    <a:pt x="0" y="209550"/>
                  </a:cubicBezTo>
                  <a:lnTo>
                    <a:pt x="0" y="209550"/>
                  </a:lnTo>
                  <a:cubicBezTo>
                    <a:pt x="0" y="93819"/>
                    <a:pt x="93819" y="0"/>
                    <a:pt x="209550" y="0"/>
                  </a:cubicBezTo>
                  <a:close/>
                </a:path>
              </a:pathLst>
            </a:custGeom>
            <a:solidFill>
              <a:srgbClr val="9F3838"/>
            </a:solidFill>
          </p:spPr>
        </p:sp>
        <p:sp>
          <p:nvSpPr>
            <p:cNvPr id="29" name="TextBox 29"/>
            <p:cNvSpPr txBox="1"/>
            <p:nvPr/>
          </p:nvSpPr>
          <p:spPr>
            <a:xfrm>
              <a:off x="0" y="-57150"/>
              <a:ext cx="1125576" cy="476250"/>
            </a:xfrm>
            <a:prstGeom prst="rect">
              <a:avLst/>
            </a:prstGeom>
          </p:spPr>
          <p:txBody>
            <a:bodyPr lIns="50800" tIns="50800" rIns="50800" bIns="50800" rtlCol="0" anchor="ctr"/>
            <a:lstStyle/>
            <a:p>
              <a:pPr algn="ctr">
                <a:lnSpc>
                  <a:spcPts val="3074"/>
                </a:lnSpc>
              </a:pPr>
              <a:endParaRPr/>
            </a:p>
          </p:txBody>
        </p:sp>
      </p:grpSp>
      <p:grpSp>
        <p:nvGrpSpPr>
          <p:cNvPr id="30" name="Group 30"/>
          <p:cNvGrpSpPr/>
          <p:nvPr/>
        </p:nvGrpSpPr>
        <p:grpSpPr>
          <a:xfrm>
            <a:off x="8393573" y="6644201"/>
            <a:ext cx="1500854" cy="558832"/>
            <a:chOff x="0" y="0"/>
            <a:chExt cx="1125576" cy="419100"/>
          </a:xfrm>
        </p:grpSpPr>
        <p:sp>
          <p:nvSpPr>
            <p:cNvPr id="31" name="Freeform 31"/>
            <p:cNvSpPr/>
            <p:nvPr/>
          </p:nvSpPr>
          <p:spPr>
            <a:xfrm>
              <a:off x="0" y="0"/>
              <a:ext cx="1125575" cy="419100"/>
            </a:xfrm>
            <a:custGeom>
              <a:avLst/>
              <a:gdLst/>
              <a:ahLst/>
              <a:cxnLst/>
              <a:rect l="l" t="t" r="r" b="b"/>
              <a:pathLst>
                <a:path w="1125575" h="419100">
                  <a:moveTo>
                    <a:pt x="209550" y="0"/>
                  </a:moveTo>
                  <a:lnTo>
                    <a:pt x="916025" y="0"/>
                  </a:lnTo>
                  <a:cubicBezTo>
                    <a:pt x="1031757" y="0"/>
                    <a:pt x="1125575" y="93819"/>
                    <a:pt x="1125575" y="209550"/>
                  </a:cubicBezTo>
                  <a:lnTo>
                    <a:pt x="1125575" y="209550"/>
                  </a:lnTo>
                  <a:cubicBezTo>
                    <a:pt x="1125575" y="265126"/>
                    <a:pt x="1103498" y="318426"/>
                    <a:pt x="1064200" y="357724"/>
                  </a:cubicBezTo>
                  <a:cubicBezTo>
                    <a:pt x="1024901" y="397022"/>
                    <a:pt x="971602" y="419100"/>
                    <a:pt x="916025" y="419100"/>
                  </a:cubicBezTo>
                  <a:lnTo>
                    <a:pt x="209550" y="419100"/>
                  </a:lnTo>
                  <a:cubicBezTo>
                    <a:pt x="93819" y="419100"/>
                    <a:pt x="0" y="325281"/>
                    <a:pt x="0" y="209550"/>
                  </a:cubicBezTo>
                  <a:lnTo>
                    <a:pt x="0" y="209550"/>
                  </a:lnTo>
                  <a:cubicBezTo>
                    <a:pt x="0" y="93819"/>
                    <a:pt x="93819" y="0"/>
                    <a:pt x="209550" y="0"/>
                  </a:cubicBezTo>
                  <a:close/>
                </a:path>
              </a:pathLst>
            </a:custGeom>
            <a:solidFill>
              <a:srgbClr val="9F3838"/>
            </a:solidFill>
          </p:spPr>
        </p:sp>
        <p:sp>
          <p:nvSpPr>
            <p:cNvPr id="32" name="TextBox 32"/>
            <p:cNvSpPr txBox="1"/>
            <p:nvPr/>
          </p:nvSpPr>
          <p:spPr>
            <a:xfrm>
              <a:off x="0" y="-57150"/>
              <a:ext cx="1125576" cy="476250"/>
            </a:xfrm>
            <a:prstGeom prst="rect">
              <a:avLst/>
            </a:prstGeom>
          </p:spPr>
          <p:txBody>
            <a:bodyPr lIns="50800" tIns="50800" rIns="50800" bIns="50800" rtlCol="0" anchor="ctr"/>
            <a:lstStyle/>
            <a:p>
              <a:pPr algn="ctr">
                <a:lnSpc>
                  <a:spcPts val="3074"/>
                </a:lnSpc>
              </a:pPr>
              <a:endParaRPr/>
            </a:p>
          </p:txBody>
        </p:sp>
      </p:grpSp>
      <p:grpSp>
        <p:nvGrpSpPr>
          <p:cNvPr id="33" name="Group 33"/>
          <p:cNvGrpSpPr/>
          <p:nvPr/>
        </p:nvGrpSpPr>
        <p:grpSpPr>
          <a:xfrm>
            <a:off x="13501220" y="6644201"/>
            <a:ext cx="1500854" cy="558832"/>
            <a:chOff x="0" y="0"/>
            <a:chExt cx="1125576" cy="419100"/>
          </a:xfrm>
        </p:grpSpPr>
        <p:sp>
          <p:nvSpPr>
            <p:cNvPr id="34" name="Freeform 34"/>
            <p:cNvSpPr/>
            <p:nvPr/>
          </p:nvSpPr>
          <p:spPr>
            <a:xfrm>
              <a:off x="0" y="0"/>
              <a:ext cx="1125575" cy="419100"/>
            </a:xfrm>
            <a:custGeom>
              <a:avLst/>
              <a:gdLst/>
              <a:ahLst/>
              <a:cxnLst/>
              <a:rect l="l" t="t" r="r" b="b"/>
              <a:pathLst>
                <a:path w="1125575" h="419100">
                  <a:moveTo>
                    <a:pt x="209550" y="0"/>
                  </a:moveTo>
                  <a:lnTo>
                    <a:pt x="916025" y="0"/>
                  </a:lnTo>
                  <a:cubicBezTo>
                    <a:pt x="1031757" y="0"/>
                    <a:pt x="1125575" y="93819"/>
                    <a:pt x="1125575" y="209550"/>
                  </a:cubicBezTo>
                  <a:lnTo>
                    <a:pt x="1125575" y="209550"/>
                  </a:lnTo>
                  <a:cubicBezTo>
                    <a:pt x="1125575" y="265126"/>
                    <a:pt x="1103498" y="318426"/>
                    <a:pt x="1064200" y="357724"/>
                  </a:cubicBezTo>
                  <a:cubicBezTo>
                    <a:pt x="1024901" y="397022"/>
                    <a:pt x="971602" y="419100"/>
                    <a:pt x="916025" y="419100"/>
                  </a:cubicBezTo>
                  <a:lnTo>
                    <a:pt x="209550" y="419100"/>
                  </a:lnTo>
                  <a:cubicBezTo>
                    <a:pt x="93819" y="419100"/>
                    <a:pt x="0" y="325281"/>
                    <a:pt x="0" y="209550"/>
                  </a:cubicBezTo>
                  <a:lnTo>
                    <a:pt x="0" y="209550"/>
                  </a:lnTo>
                  <a:cubicBezTo>
                    <a:pt x="0" y="93819"/>
                    <a:pt x="93819" y="0"/>
                    <a:pt x="209550" y="0"/>
                  </a:cubicBezTo>
                  <a:close/>
                </a:path>
              </a:pathLst>
            </a:custGeom>
            <a:solidFill>
              <a:srgbClr val="9F3838"/>
            </a:solidFill>
          </p:spPr>
        </p:sp>
        <p:sp>
          <p:nvSpPr>
            <p:cNvPr id="35" name="TextBox 35"/>
            <p:cNvSpPr txBox="1"/>
            <p:nvPr/>
          </p:nvSpPr>
          <p:spPr>
            <a:xfrm>
              <a:off x="0" y="-57150"/>
              <a:ext cx="1125576" cy="476250"/>
            </a:xfrm>
            <a:prstGeom prst="rect">
              <a:avLst/>
            </a:prstGeom>
          </p:spPr>
          <p:txBody>
            <a:bodyPr lIns="50800" tIns="50800" rIns="50800" bIns="50800" rtlCol="0" anchor="ctr"/>
            <a:lstStyle/>
            <a:p>
              <a:pPr algn="ctr">
                <a:lnSpc>
                  <a:spcPts val="3074"/>
                </a:lnSpc>
              </a:pPr>
              <a:endParaRPr/>
            </a:p>
          </p:txBody>
        </p:sp>
      </p:grpSp>
      <p:sp>
        <p:nvSpPr>
          <p:cNvPr id="36" name="TextBox 36"/>
          <p:cNvSpPr txBox="1"/>
          <p:nvPr/>
        </p:nvSpPr>
        <p:spPr>
          <a:xfrm>
            <a:off x="2736024" y="3887136"/>
            <a:ext cx="2603467" cy="415247"/>
          </a:xfrm>
          <a:prstGeom prst="rect">
            <a:avLst/>
          </a:prstGeom>
        </p:spPr>
        <p:txBody>
          <a:bodyPr lIns="0" tIns="0" rIns="0" bIns="0" rtlCol="0" anchor="t">
            <a:spAutoFit/>
          </a:bodyPr>
          <a:lstStyle/>
          <a:p>
            <a:pPr algn="ctr">
              <a:lnSpc>
                <a:spcPts val="3524"/>
              </a:lnSpc>
            </a:pPr>
            <a:r>
              <a:rPr lang="en-US" sz="2349" b="1" spc="-46">
                <a:solidFill>
                  <a:srgbClr val="FCFBF6"/>
                </a:solidFill>
                <a:latin typeface="JASO Sans Bold"/>
                <a:ea typeface="JASO Sans Bold"/>
                <a:cs typeface="JASO Sans Bold"/>
                <a:sym typeface="JASO Sans Bold"/>
              </a:rPr>
              <a:t>문제</a:t>
            </a:r>
          </a:p>
        </p:txBody>
      </p:sp>
      <p:sp>
        <p:nvSpPr>
          <p:cNvPr id="37" name="TextBox 37"/>
          <p:cNvSpPr txBox="1"/>
          <p:nvPr/>
        </p:nvSpPr>
        <p:spPr>
          <a:xfrm>
            <a:off x="7842266" y="3887136"/>
            <a:ext cx="2603467" cy="415247"/>
          </a:xfrm>
          <a:prstGeom prst="rect">
            <a:avLst/>
          </a:prstGeom>
        </p:spPr>
        <p:txBody>
          <a:bodyPr lIns="0" tIns="0" rIns="0" bIns="0" rtlCol="0" anchor="t">
            <a:spAutoFit/>
          </a:bodyPr>
          <a:lstStyle/>
          <a:p>
            <a:pPr algn="ctr">
              <a:lnSpc>
                <a:spcPts val="3524"/>
              </a:lnSpc>
            </a:pPr>
            <a:r>
              <a:rPr lang="en-US" sz="2349" b="1" spc="-46">
                <a:solidFill>
                  <a:srgbClr val="FCFBF6"/>
                </a:solidFill>
                <a:latin typeface="JASO Sans Bold"/>
                <a:ea typeface="JASO Sans Bold"/>
                <a:cs typeface="JASO Sans Bold"/>
                <a:sym typeface="JASO Sans Bold"/>
              </a:rPr>
              <a:t>문제</a:t>
            </a:r>
          </a:p>
        </p:txBody>
      </p:sp>
      <p:sp>
        <p:nvSpPr>
          <p:cNvPr id="38" name="TextBox 38"/>
          <p:cNvSpPr txBox="1"/>
          <p:nvPr/>
        </p:nvSpPr>
        <p:spPr>
          <a:xfrm>
            <a:off x="12949913" y="3887136"/>
            <a:ext cx="2603467" cy="415247"/>
          </a:xfrm>
          <a:prstGeom prst="rect">
            <a:avLst/>
          </a:prstGeom>
        </p:spPr>
        <p:txBody>
          <a:bodyPr lIns="0" tIns="0" rIns="0" bIns="0" rtlCol="0" anchor="t">
            <a:spAutoFit/>
          </a:bodyPr>
          <a:lstStyle/>
          <a:p>
            <a:pPr algn="ctr">
              <a:lnSpc>
                <a:spcPts val="3524"/>
              </a:lnSpc>
            </a:pPr>
            <a:r>
              <a:rPr lang="en-US" sz="2349" b="1" spc="-46">
                <a:solidFill>
                  <a:srgbClr val="FCFBF6"/>
                </a:solidFill>
                <a:latin typeface="JASO Sans Bold"/>
                <a:ea typeface="JASO Sans Bold"/>
                <a:cs typeface="JASO Sans Bold"/>
                <a:sym typeface="JASO Sans Bold"/>
              </a:rPr>
              <a:t>문제</a:t>
            </a:r>
          </a:p>
        </p:txBody>
      </p:sp>
      <p:sp>
        <p:nvSpPr>
          <p:cNvPr id="39" name="TextBox 39"/>
          <p:cNvSpPr txBox="1"/>
          <p:nvPr/>
        </p:nvSpPr>
        <p:spPr>
          <a:xfrm>
            <a:off x="2736024" y="6676919"/>
            <a:ext cx="2603467" cy="415247"/>
          </a:xfrm>
          <a:prstGeom prst="rect">
            <a:avLst/>
          </a:prstGeom>
        </p:spPr>
        <p:txBody>
          <a:bodyPr lIns="0" tIns="0" rIns="0" bIns="0" rtlCol="0" anchor="t">
            <a:spAutoFit/>
          </a:bodyPr>
          <a:lstStyle/>
          <a:p>
            <a:pPr algn="ctr">
              <a:lnSpc>
                <a:spcPts val="3524"/>
              </a:lnSpc>
            </a:pPr>
            <a:r>
              <a:rPr lang="en-US" sz="2349" b="1" spc="-46">
                <a:solidFill>
                  <a:srgbClr val="FCFBF6"/>
                </a:solidFill>
                <a:latin typeface="JASO Sans Bold"/>
                <a:ea typeface="JASO Sans Bold"/>
                <a:cs typeface="JASO Sans Bold"/>
                <a:sym typeface="JASO Sans Bold"/>
              </a:rPr>
              <a:t>해결</a:t>
            </a:r>
          </a:p>
        </p:txBody>
      </p:sp>
      <p:sp>
        <p:nvSpPr>
          <p:cNvPr id="40" name="TextBox 40"/>
          <p:cNvSpPr txBox="1"/>
          <p:nvPr/>
        </p:nvSpPr>
        <p:spPr>
          <a:xfrm>
            <a:off x="7842266" y="6676919"/>
            <a:ext cx="2603467" cy="415247"/>
          </a:xfrm>
          <a:prstGeom prst="rect">
            <a:avLst/>
          </a:prstGeom>
        </p:spPr>
        <p:txBody>
          <a:bodyPr lIns="0" tIns="0" rIns="0" bIns="0" rtlCol="0" anchor="t">
            <a:spAutoFit/>
          </a:bodyPr>
          <a:lstStyle/>
          <a:p>
            <a:pPr algn="ctr">
              <a:lnSpc>
                <a:spcPts val="3524"/>
              </a:lnSpc>
            </a:pPr>
            <a:r>
              <a:rPr lang="en-US" sz="2349" b="1" spc="-46">
                <a:solidFill>
                  <a:srgbClr val="FCFBF6"/>
                </a:solidFill>
                <a:latin typeface="JASO Sans Bold"/>
                <a:ea typeface="JASO Sans Bold"/>
                <a:cs typeface="JASO Sans Bold"/>
                <a:sym typeface="JASO Sans Bold"/>
              </a:rPr>
              <a:t>해결</a:t>
            </a:r>
          </a:p>
        </p:txBody>
      </p:sp>
      <p:sp>
        <p:nvSpPr>
          <p:cNvPr id="41" name="TextBox 41"/>
          <p:cNvSpPr txBox="1"/>
          <p:nvPr/>
        </p:nvSpPr>
        <p:spPr>
          <a:xfrm>
            <a:off x="12949913" y="6676919"/>
            <a:ext cx="2603467" cy="415247"/>
          </a:xfrm>
          <a:prstGeom prst="rect">
            <a:avLst/>
          </a:prstGeom>
        </p:spPr>
        <p:txBody>
          <a:bodyPr lIns="0" tIns="0" rIns="0" bIns="0" rtlCol="0" anchor="t">
            <a:spAutoFit/>
          </a:bodyPr>
          <a:lstStyle/>
          <a:p>
            <a:pPr algn="ctr">
              <a:lnSpc>
                <a:spcPts val="3524"/>
              </a:lnSpc>
            </a:pPr>
            <a:r>
              <a:rPr lang="en-US" sz="2349" b="1" spc="-46">
                <a:solidFill>
                  <a:srgbClr val="FCFBF6"/>
                </a:solidFill>
                <a:latin typeface="JASO Sans Bold"/>
                <a:ea typeface="JASO Sans Bold"/>
                <a:cs typeface="JASO Sans Bold"/>
                <a:sym typeface="JASO Sans Bold"/>
              </a:rPr>
              <a:t>해결</a:t>
            </a:r>
          </a:p>
        </p:txBody>
      </p:sp>
      <p:sp>
        <p:nvSpPr>
          <p:cNvPr id="42" name="TextBox 42"/>
          <p:cNvSpPr txBox="1"/>
          <p:nvPr/>
        </p:nvSpPr>
        <p:spPr>
          <a:xfrm>
            <a:off x="2486190" y="4599607"/>
            <a:ext cx="3103134" cy="741045"/>
          </a:xfrm>
          <a:prstGeom prst="rect">
            <a:avLst/>
          </a:prstGeom>
        </p:spPr>
        <p:txBody>
          <a:bodyPr lIns="0" tIns="0" rIns="0" bIns="0" rtlCol="0" anchor="t">
            <a:spAutoFit/>
          </a:bodyPr>
          <a:lstStyle/>
          <a:p>
            <a:pPr algn="ctr">
              <a:lnSpc>
                <a:spcPts val="3074"/>
              </a:lnSpc>
            </a:pPr>
            <a:r>
              <a:rPr lang="en-US" sz="2049" spc="-40">
                <a:solidFill>
                  <a:srgbClr val="333333">
                    <a:alpha val="69804"/>
                  </a:srgbClr>
                </a:solidFill>
                <a:latin typeface="JASO Sans"/>
                <a:ea typeface="JASO Sans"/>
                <a:cs typeface="JASO Sans"/>
                <a:sym typeface="JASO Sans"/>
              </a:rPr>
              <a:t>유기적 도달 감소로 유료 의존도 상승</a:t>
            </a:r>
          </a:p>
        </p:txBody>
      </p:sp>
      <p:sp>
        <p:nvSpPr>
          <p:cNvPr id="43" name="TextBox 43"/>
          <p:cNvSpPr txBox="1"/>
          <p:nvPr/>
        </p:nvSpPr>
        <p:spPr>
          <a:xfrm>
            <a:off x="7592433" y="4599607"/>
            <a:ext cx="3103134" cy="741045"/>
          </a:xfrm>
          <a:prstGeom prst="rect">
            <a:avLst/>
          </a:prstGeom>
        </p:spPr>
        <p:txBody>
          <a:bodyPr lIns="0" tIns="0" rIns="0" bIns="0" rtlCol="0" anchor="t">
            <a:spAutoFit/>
          </a:bodyPr>
          <a:lstStyle/>
          <a:p>
            <a:pPr algn="ctr">
              <a:lnSpc>
                <a:spcPts val="3074"/>
              </a:lnSpc>
            </a:pPr>
            <a:r>
              <a:rPr lang="en-US" sz="2049" spc="-40">
                <a:solidFill>
                  <a:srgbClr val="333333">
                    <a:alpha val="69804"/>
                  </a:srgbClr>
                </a:solidFill>
                <a:latin typeface="JASO Sans"/>
                <a:ea typeface="JASO Sans"/>
                <a:cs typeface="JASO Sans"/>
                <a:sym typeface="JASO Sans"/>
              </a:rPr>
              <a:t>이미지/텍스트 참여율 저조, 동영상·릴스 우수</a:t>
            </a:r>
          </a:p>
        </p:txBody>
      </p:sp>
      <p:sp>
        <p:nvSpPr>
          <p:cNvPr id="44" name="TextBox 44"/>
          <p:cNvSpPr txBox="1"/>
          <p:nvPr/>
        </p:nvSpPr>
        <p:spPr>
          <a:xfrm>
            <a:off x="12700080" y="4599607"/>
            <a:ext cx="3103134" cy="741045"/>
          </a:xfrm>
          <a:prstGeom prst="rect">
            <a:avLst/>
          </a:prstGeom>
        </p:spPr>
        <p:txBody>
          <a:bodyPr lIns="0" tIns="0" rIns="0" bIns="0" rtlCol="0" anchor="t">
            <a:spAutoFit/>
          </a:bodyPr>
          <a:lstStyle/>
          <a:p>
            <a:pPr algn="ctr">
              <a:lnSpc>
                <a:spcPts val="3074"/>
              </a:lnSpc>
            </a:pPr>
            <a:r>
              <a:rPr lang="en-US" sz="2049" spc="-40">
                <a:solidFill>
                  <a:srgbClr val="333333">
                    <a:alpha val="69804"/>
                  </a:srgbClr>
                </a:solidFill>
                <a:latin typeface="JASO Sans"/>
                <a:ea typeface="JASO Sans"/>
                <a:cs typeface="JASO Sans"/>
                <a:sym typeface="JASO Sans"/>
              </a:rPr>
              <a:t>어트리뷰션·추적 제한으로 CAC·ROAS 불확실</a:t>
            </a:r>
          </a:p>
        </p:txBody>
      </p:sp>
      <p:sp>
        <p:nvSpPr>
          <p:cNvPr id="45" name="AutoShape 45"/>
          <p:cNvSpPr/>
          <p:nvPr/>
        </p:nvSpPr>
        <p:spPr>
          <a:xfrm>
            <a:off x="1717296" y="5991739"/>
            <a:ext cx="4640922" cy="0"/>
          </a:xfrm>
          <a:prstGeom prst="line">
            <a:avLst/>
          </a:prstGeom>
          <a:ln w="9525" cap="flat">
            <a:solidFill>
              <a:srgbClr val="7F7F7F"/>
            </a:solidFill>
            <a:prstDash val="solid"/>
            <a:headEnd type="none" w="sm" len="sm"/>
            <a:tailEnd type="none" w="sm" len="sm"/>
          </a:ln>
        </p:spPr>
      </p:sp>
      <p:sp>
        <p:nvSpPr>
          <p:cNvPr id="46" name="AutoShape 46"/>
          <p:cNvSpPr/>
          <p:nvPr/>
        </p:nvSpPr>
        <p:spPr>
          <a:xfrm>
            <a:off x="6823539" y="5991739"/>
            <a:ext cx="4640922" cy="0"/>
          </a:xfrm>
          <a:prstGeom prst="line">
            <a:avLst/>
          </a:prstGeom>
          <a:ln w="9525" cap="flat">
            <a:solidFill>
              <a:srgbClr val="7F7F7F"/>
            </a:solidFill>
            <a:prstDash val="solid"/>
            <a:headEnd type="none" w="sm" len="sm"/>
            <a:tailEnd type="none" w="sm" len="sm"/>
          </a:ln>
        </p:spPr>
      </p:sp>
      <p:sp>
        <p:nvSpPr>
          <p:cNvPr id="47" name="AutoShape 47"/>
          <p:cNvSpPr/>
          <p:nvPr/>
        </p:nvSpPr>
        <p:spPr>
          <a:xfrm>
            <a:off x="11931186" y="5991739"/>
            <a:ext cx="4640922" cy="0"/>
          </a:xfrm>
          <a:prstGeom prst="line">
            <a:avLst/>
          </a:prstGeom>
          <a:ln w="9525" cap="flat">
            <a:solidFill>
              <a:srgbClr val="7F7F7F"/>
            </a:solidFill>
            <a:prstDash val="solid"/>
            <a:headEnd type="none" w="sm" len="sm"/>
            <a:tailEnd type="none" w="sm" len="sm"/>
          </a:ln>
        </p:spPr>
      </p:sp>
      <p:sp>
        <p:nvSpPr>
          <p:cNvPr id="48" name="TextBox 48"/>
          <p:cNvSpPr txBox="1"/>
          <p:nvPr/>
        </p:nvSpPr>
        <p:spPr>
          <a:xfrm>
            <a:off x="2486190" y="7389390"/>
            <a:ext cx="3103134" cy="741045"/>
          </a:xfrm>
          <a:prstGeom prst="rect">
            <a:avLst/>
          </a:prstGeom>
        </p:spPr>
        <p:txBody>
          <a:bodyPr lIns="0" tIns="0" rIns="0" bIns="0" rtlCol="0" anchor="t">
            <a:spAutoFit/>
          </a:bodyPr>
          <a:lstStyle/>
          <a:p>
            <a:pPr algn="ctr">
              <a:lnSpc>
                <a:spcPts val="3074"/>
              </a:lnSpc>
            </a:pPr>
            <a:r>
              <a:rPr lang="en-US" sz="2049" spc="-40">
                <a:solidFill>
                  <a:srgbClr val="333333"/>
                </a:solidFill>
                <a:latin typeface="JASO Sans"/>
                <a:ea typeface="JASO Sans"/>
                <a:cs typeface="JASO Sans"/>
                <a:sym typeface="JASO Sans"/>
              </a:rPr>
              <a:t>크리에이티브 실험으로 CTR·비디오 완료율 개선</a:t>
            </a:r>
          </a:p>
        </p:txBody>
      </p:sp>
      <p:sp>
        <p:nvSpPr>
          <p:cNvPr id="49" name="TextBox 49"/>
          <p:cNvSpPr txBox="1"/>
          <p:nvPr/>
        </p:nvSpPr>
        <p:spPr>
          <a:xfrm>
            <a:off x="7592433" y="7389390"/>
            <a:ext cx="3103134" cy="741045"/>
          </a:xfrm>
          <a:prstGeom prst="rect">
            <a:avLst/>
          </a:prstGeom>
        </p:spPr>
        <p:txBody>
          <a:bodyPr lIns="0" tIns="0" rIns="0" bIns="0" rtlCol="0" anchor="t">
            <a:spAutoFit/>
          </a:bodyPr>
          <a:lstStyle/>
          <a:p>
            <a:pPr algn="ctr">
              <a:lnSpc>
                <a:spcPts val="3074"/>
              </a:lnSpc>
            </a:pPr>
            <a:r>
              <a:rPr lang="en-US" sz="2049" spc="-40">
                <a:solidFill>
                  <a:srgbClr val="333333"/>
                </a:solidFill>
                <a:latin typeface="JASO Sans"/>
                <a:ea typeface="JASO Sans"/>
                <a:cs typeface="JASO Sans"/>
                <a:sym typeface="JASO Sans"/>
              </a:rPr>
              <a:t>UTM·서버사이드 태깅으로 어트리뷰션 신뢰도 확보</a:t>
            </a:r>
          </a:p>
        </p:txBody>
      </p:sp>
      <p:sp>
        <p:nvSpPr>
          <p:cNvPr id="50" name="TextBox 50"/>
          <p:cNvSpPr txBox="1"/>
          <p:nvPr/>
        </p:nvSpPr>
        <p:spPr>
          <a:xfrm>
            <a:off x="12700080" y="7389390"/>
            <a:ext cx="3103134" cy="741045"/>
          </a:xfrm>
          <a:prstGeom prst="rect">
            <a:avLst/>
          </a:prstGeom>
        </p:spPr>
        <p:txBody>
          <a:bodyPr lIns="0" tIns="0" rIns="0" bIns="0" rtlCol="0" anchor="t">
            <a:spAutoFit/>
          </a:bodyPr>
          <a:lstStyle/>
          <a:p>
            <a:pPr algn="ctr">
              <a:lnSpc>
                <a:spcPts val="3074"/>
              </a:lnSpc>
            </a:pPr>
            <a:r>
              <a:rPr lang="en-US" sz="2049" spc="-40">
                <a:solidFill>
                  <a:srgbClr val="333333"/>
                </a:solidFill>
                <a:latin typeface="JASO Sans"/>
                <a:ea typeface="JASO Sans"/>
                <a:cs typeface="JASO Sans"/>
                <a:sym typeface="JASO Sans"/>
              </a:rPr>
              <a:t>도달 대비 참여 비율 3.2, 참여 대비 전환 비율 0.6</a:t>
            </a:r>
          </a:p>
        </p:txBody>
      </p:sp>
      <p:sp>
        <p:nvSpPr>
          <p:cNvPr id="51" name="Freeform 51"/>
          <p:cNvSpPr/>
          <p:nvPr/>
        </p:nvSpPr>
        <p:spPr>
          <a:xfrm rot="5400000">
            <a:off x="3830847" y="5780066"/>
            <a:ext cx="413820" cy="413820"/>
          </a:xfrm>
          <a:custGeom>
            <a:avLst/>
            <a:gdLst/>
            <a:ahLst/>
            <a:cxnLst/>
            <a:rect l="l" t="t" r="r" b="b"/>
            <a:pathLst>
              <a:path w="413820" h="413820">
                <a:moveTo>
                  <a:pt x="0" y="0"/>
                </a:moveTo>
                <a:lnTo>
                  <a:pt x="413820" y="0"/>
                </a:lnTo>
                <a:lnTo>
                  <a:pt x="413820" y="413820"/>
                </a:lnTo>
                <a:lnTo>
                  <a:pt x="0" y="413820"/>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52" name="Freeform 52"/>
          <p:cNvSpPr/>
          <p:nvPr/>
        </p:nvSpPr>
        <p:spPr>
          <a:xfrm rot="5400000">
            <a:off x="8937090" y="5780066"/>
            <a:ext cx="413820" cy="413820"/>
          </a:xfrm>
          <a:custGeom>
            <a:avLst/>
            <a:gdLst/>
            <a:ahLst/>
            <a:cxnLst/>
            <a:rect l="l" t="t" r="r" b="b"/>
            <a:pathLst>
              <a:path w="413820" h="413820">
                <a:moveTo>
                  <a:pt x="0" y="0"/>
                </a:moveTo>
                <a:lnTo>
                  <a:pt x="413820" y="0"/>
                </a:lnTo>
                <a:lnTo>
                  <a:pt x="413820" y="413820"/>
                </a:lnTo>
                <a:lnTo>
                  <a:pt x="0" y="413820"/>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53" name="Freeform 53"/>
          <p:cNvSpPr/>
          <p:nvPr/>
        </p:nvSpPr>
        <p:spPr>
          <a:xfrm rot="5400000">
            <a:off x="14044737" y="5780066"/>
            <a:ext cx="413820" cy="413820"/>
          </a:xfrm>
          <a:custGeom>
            <a:avLst/>
            <a:gdLst/>
            <a:ahLst/>
            <a:cxnLst/>
            <a:rect l="l" t="t" r="r" b="b"/>
            <a:pathLst>
              <a:path w="413820" h="413820">
                <a:moveTo>
                  <a:pt x="0" y="0"/>
                </a:moveTo>
                <a:lnTo>
                  <a:pt x="413820" y="0"/>
                </a:lnTo>
                <a:lnTo>
                  <a:pt x="413820" y="413820"/>
                </a:lnTo>
                <a:lnTo>
                  <a:pt x="0" y="413820"/>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p:cNvGrpSpPr/>
        <p:nvPr/>
      </p:nvGrpSpPr>
      <p:grpSpPr>
        <a:xfrm>
          <a:off x="0" y="0"/>
          <a:ext cx="0" cy="0"/>
          <a:chOff x="0" y="0"/>
          <a:chExt cx="0" cy="0"/>
        </a:xfrm>
      </p:grpSpPr>
      <p:grpSp>
        <p:nvGrpSpPr>
          <p:cNvPr id="2" name="Group 2"/>
          <p:cNvGrpSpPr/>
          <p:nvPr/>
        </p:nvGrpSpPr>
        <p:grpSpPr>
          <a:xfrm rot="-5400000">
            <a:off x="9096607" y="1095607"/>
            <a:ext cx="94785" cy="18288000"/>
            <a:chOff x="0" y="0"/>
            <a:chExt cx="11819" cy="2280318"/>
          </a:xfrm>
        </p:grpSpPr>
        <p:sp>
          <p:nvSpPr>
            <p:cNvPr id="3" name="Freeform 3"/>
            <p:cNvSpPr/>
            <p:nvPr/>
          </p:nvSpPr>
          <p:spPr>
            <a:xfrm>
              <a:off x="0" y="0"/>
              <a:ext cx="11819" cy="2280318"/>
            </a:xfrm>
            <a:custGeom>
              <a:avLst/>
              <a:gdLst/>
              <a:ahLst/>
              <a:cxnLst/>
              <a:rect l="l" t="t" r="r" b="b"/>
              <a:pathLst>
                <a:path w="11819" h="2280318">
                  <a:moveTo>
                    <a:pt x="0" y="0"/>
                  </a:moveTo>
                  <a:lnTo>
                    <a:pt x="11819" y="0"/>
                  </a:lnTo>
                  <a:lnTo>
                    <a:pt x="11819" y="2280318"/>
                  </a:lnTo>
                  <a:lnTo>
                    <a:pt x="0" y="2280318"/>
                  </a:lnTo>
                  <a:close/>
                </a:path>
              </a:pathLst>
            </a:custGeom>
            <a:solidFill>
              <a:srgbClr val="9F3838"/>
            </a:solidFill>
          </p:spPr>
        </p:sp>
        <p:sp>
          <p:nvSpPr>
            <p:cNvPr id="4" name="TextBox 4"/>
            <p:cNvSpPr txBox="1"/>
            <p:nvPr/>
          </p:nvSpPr>
          <p:spPr>
            <a:xfrm>
              <a:off x="0" y="-47625"/>
              <a:ext cx="11819" cy="2327943"/>
            </a:xfrm>
            <a:prstGeom prst="rect">
              <a:avLst/>
            </a:prstGeom>
          </p:spPr>
          <p:txBody>
            <a:bodyPr lIns="50800" tIns="50800" rIns="50800" bIns="50800" rtlCol="0" anchor="ctr"/>
            <a:lstStyle/>
            <a:p>
              <a:pPr algn="ctr">
                <a:lnSpc>
                  <a:spcPts val="2587"/>
                </a:lnSpc>
              </a:pPr>
              <a:endParaRPr/>
            </a:p>
          </p:txBody>
        </p:sp>
      </p:grpSp>
      <p:sp>
        <p:nvSpPr>
          <p:cNvPr id="5" name="Freeform 5"/>
          <p:cNvSpPr/>
          <p:nvPr/>
        </p:nvSpPr>
        <p:spPr>
          <a:xfrm rot="-5400000">
            <a:off x="17537790" y="305848"/>
            <a:ext cx="82863" cy="368281"/>
          </a:xfrm>
          <a:custGeom>
            <a:avLst/>
            <a:gdLst/>
            <a:ahLst/>
            <a:cxnLst/>
            <a:rect l="l" t="t" r="r" b="b"/>
            <a:pathLst>
              <a:path w="82863" h="368281">
                <a:moveTo>
                  <a:pt x="0" y="0"/>
                </a:moveTo>
                <a:lnTo>
                  <a:pt x="82864" y="0"/>
                </a:lnTo>
                <a:lnTo>
                  <a:pt x="82864" y="368282"/>
                </a:lnTo>
                <a:lnTo>
                  <a:pt x="0" y="368282"/>
                </a:lnTo>
                <a:lnTo>
                  <a:pt x="0" y="0"/>
                </a:lnTo>
                <a:close/>
              </a:path>
            </a:pathLst>
          </a:custGeom>
          <a:blipFill>
            <a:blip r:embed="rId2">
              <a:alphaModFix amt="50000"/>
              <a:extLst>
                <a:ext uri="{96DAC541-7B7A-43D3-8B79-37D633B846F1}">
                  <asvg:svgBlip xmlns:asvg="http://schemas.microsoft.com/office/drawing/2016/SVG/main" xmlns="" r:embed="rId3"/>
                </a:ext>
              </a:extLst>
            </a:blip>
            <a:stretch>
              <a:fillRect/>
            </a:stretch>
          </a:blipFill>
          <a:ln cap="sq">
            <a:noFill/>
            <a:prstDash val="solid"/>
            <a:miter/>
          </a:ln>
        </p:spPr>
      </p:sp>
      <p:sp>
        <p:nvSpPr>
          <p:cNvPr id="6" name="AutoShape 6"/>
          <p:cNvSpPr/>
          <p:nvPr/>
        </p:nvSpPr>
        <p:spPr>
          <a:xfrm>
            <a:off x="651497" y="2036945"/>
            <a:ext cx="16985007" cy="0"/>
          </a:xfrm>
          <a:prstGeom prst="line">
            <a:avLst/>
          </a:prstGeom>
          <a:ln w="9525" cap="flat">
            <a:solidFill>
              <a:srgbClr val="333333">
                <a:alpha val="49804"/>
              </a:srgbClr>
            </a:solidFill>
            <a:prstDash val="solid"/>
            <a:headEnd type="none" w="sm" len="sm"/>
            <a:tailEnd type="none" w="sm" len="sm"/>
          </a:ln>
        </p:spPr>
      </p:sp>
      <p:sp>
        <p:nvSpPr>
          <p:cNvPr id="7" name="Freeform 7"/>
          <p:cNvSpPr/>
          <p:nvPr/>
        </p:nvSpPr>
        <p:spPr>
          <a:xfrm>
            <a:off x="958901" y="972638"/>
            <a:ext cx="321816" cy="321816"/>
          </a:xfrm>
          <a:custGeom>
            <a:avLst/>
            <a:gdLst/>
            <a:ahLst/>
            <a:cxnLst/>
            <a:rect l="l" t="t" r="r" b="b"/>
            <a:pathLst>
              <a:path w="321816" h="321816">
                <a:moveTo>
                  <a:pt x="0" y="0"/>
                </a:moveTo>
                <a:lnTo>
                  <a:pt x="321815" y="0"/>
                </a:lnTo>
                <a:lnTo>
                  <a:pt x="321815" y="321816"/>
                </a:lnTo>
                <a:lnTo>
                  <a:pt x="0" y="321816"/>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8" name="TextBox 8"/>
          <p:cNvSpPr txBox="1"/>
          <p:nvPr/>
        </p:nvSpPr>
        <p:spPr>
          <a:xfrm>
            <a:off x="1448568" y="830869"/>
            <a:ext cx="14134398" cy="710129"/>
          </a:xfrm>
          <a:prstGeom prst="rect">
            <a:avLst/>
          </a:prstGeom>
        </p:spPr>
        <p:txBody>
          <a:bodyPr lIns="0" tIns="0" rIns="0" bIns="0" rtlCol="0" anchor="t">
            <a:spAutoFit/>
          </a:bodyPr>
          <a:lstStyle/>
          <a:p>
            <a:pPr marL="0" lvl="0" indent="0" algn="l">
              <a:lnSpc>
                <a:spcPts val="5337"/>
              </a:lnSpc>
            </a:pPr>
            <a:r>
              <a:rPr lang="en-US" sz="5232" b="1" spc="-104">
                <a:solidFill>
                  <a:srgbClr val="333333"/>
                </a:solidFill>
                <a:latin typeface="JASO Sans Bold"/>
                <a:ea typeface="JASO Sans Bold"/>
                <a:cs typeface="JASO Sans Bold"/>
                <a:sym typeface="JASO Sans Bold"/>
              </a:rPr>
              <a:t>증거와 벤치마크: 유사 캠페인 성과와 기대</a:t>
            </a:r>
          </a:p>
        </p:txBody>
      </p:sp>
      <p:grpSp>
        <p:nvGrpSpPr>
          <p:cNvPr id="9" name="Group 9"/>
          <p:cNvGrpSpPr/>
          <p:nvPr/>
        </p:nvGrpSpPr>
        <p:grpSpPr>
          <a:xfrm>
            <a:off x="1717296" y="5143500"/>
            <a:ext cx="7230188" cy="3694005"/>
            <a:chOff x="0" y="0"/>
            <a:chExt cx="1904247" cy="972907"/>
          </a:xfrm>
        </p:grpSpPr>
        <p:sp>
          <p:nvSpPr>
            <p:cNvPr id="10" name="Freeform 10"/>
            <p:cNvSpPr/>
            <p:nvPr/>
          </p:nvSpPr>
          <p:spPr>
            <a:xfrm>
              <a:off x="0" y="0"/>
              <a:ext cx="1904247" cy="972907"/>
            </a:xfrm>
            <a:custGeom>
              <a:avLst/>
              <a:gdLst/>
              <a:ahLst/>
              <a:cxnLst/>
              <a:rect l="l" t="t" r="r" b="b"/>
              <a:pathLst>
                <a:path w="1904247" h="972907">
                  <a:moveTo>
                    <a:pt x="0" y="0"/>
                  </a:moveTo>
                  <a:lnTo>
                    <a:pt x="1904247" y="0"/>
                  </a:lnTo>
                  <a:lnTo>
                    <a:pt x="1904247" y="972907"/>
                  </a:lnTo>
                  <a:lnTo>
                    <a:pt x="0" y="972907"/>
                  </a:lnTo>
                  <a:close/>
                </a:path>
              </a:pathLst>
            </a:custGeom>
            <a:solidFill>
              <a:srgbClr val="333333"/>
            </a:solidFill>
            <a:ln cap="sq">
              <a:noFill/>
              <a:prstDash val="solid"/>
              <a:miter/>
            </a:ln>
          </p:spPr>
        </p:sp>
        <p:sp>
          <p:nvSpPr>
            <p:cNvPr id="11" name="TextBox 11"/>
            <p:cNvSpPr txBox="1"/>
            <p:nvPr/>
          </p:nvSpPr>
          <p:spPr>
            <a:xfrm>
              <a:off x="0" y="28575"/>
              <a:ext cx="1904247" cy="944332"/>
            </a:xfrm>
            <a:prstGeom prst="rect">
              <a:avLst/>
            </a:prstGeom>
          </p:spPr>
          <p:txBody>
            <a:bodyPr lIns="50800" tIns="50800" rIns="50800" bIns="50800" rtlCol="0" anchor="ctr"/>
            <a:lstStyle/>
            <a:p>
              <a:pPr marL="0" lvl="0" indent="0" algn="ctr">
                <a:lnSpc>
                  <a:spcPts val="2743"/>
                </a:lnSpc>
                <a:spcBef>
                  <a:spcPct val="0"/>
                </a:spcBef>
              </a:pPr>
              <a:endParaRPr/>
            </a:p>
          </p:txBody>
        </p:sp>
      </p:grpSp>
      <p:grpSp>
        <p:nvGrpSpPr>
          <p:cNvPr id="12" name="Group 12"/>
          <p:cNvGrpSpPr/>
          <p:nvPr/>
        </p:nvGrpSpPr>
        <p:grpSpPr>
          <a:xfrm>
            <a:off x="9350041" y="5143500"/>
            <a:ext cx="7230188" cy="3694005"/>
            <a:chOff x="0" y="0"/>
            <a:chExt cx="1904247" cy="972907"/>
          </a:xfrm>
        </p:grpSpPr>
        <p:sp>
          <p:nvSpPr>
            <p:cNvPr id="13" name="Freeform 13"/>
            <p:cNvSpPr/>
            <p:nvPr/>
          </p:nvSpPr>
          <p:spPr>
            <a:xfrm>
              <a:off x="0" y="0"/>
              <a:ext cx="1904247" cy="972907"/>
            </a:xfrm>
            <a:custGeom>
              <a:avLst/>
              <a:gdLst/>
              <a:ahLst/>
              <a:cxnLst/>
              <a:rect l="l" t="t" r="r" b="b"/>
              <a:pathLst>
                <a:path w="1904247" h="972907">
                  <a:moveTo>
                    <a:pt x="0" y="0"/>
                  </a:moveTo>
                  <a:lnTo>
                    <a:pt x="1904247" y="0"/>
                  </a:lnTo>
                  <a:lnTo>
                    <a:pt x="1904247" y="972907"/>
                  </a:lnTo>
                  <a:lnTo>
                    <a:pt x="0" y="972907"/>
                  </a:lnTo>
                  <a:close/>
                </a:path>
              </a:pathLst>
            </a:custGeom>
            <a:solidFill>
              <a:srgbClr val="333333"/>
            </a:solidFill>
            <a:ln cap="sq">
              <a:noFill/>
              <a:prstDash val="solid"/>
              <a:miter/>
            </a:ln>
          </p:spPr>
        </p:sp>
        <p:sp>
          <p:nvSpPr>
            <p:cNvPr id="14" name="TextBox 14"/>
            <p:cNvSpPr txBox="1"/>
            <p:nvPr/>
          </p:nvSpPr>
          <p:spPr>
            <a:xfrm>
              <a:off x="0" y="28575"/>
              <a:ext cx="1904247" cy="944332"/>
            </a:xfrm>
            <a:prstGeom prst="rect">
              <a:avLst/>
            </a:prstGeom>
          </p:spPr>
          <p:txBody>
            <a:bodyPr lIns="50800" tIns="50800" rIns="50800" bIns="50800" rtlCol="0" anchor="ctr"/>
            <a:lstStyle/>
            <a:p>
              <a:pPr marL="0" lvl="0" indent="0" algn="ctr">
                <a:lnSpc>
                  <a:spcPts val="2743"/>
                </a:lnSpc>
                <a:spcBef>
                  <a:spcPct val="0"/>
                </a:spcBef>
              </a:pPr>
              <a:endParaRPr/>
            </a:p>
          </p:txBody>
        </p:sp>
      </p:grpSp>
      <p:sp>
        <p:nvSpPr>
          <p:cNvPr id="15" name="Freeform 15"/>
          <p:cNvSpPr/>
          <p:nvPr/>
        </p:nvSpPr>
        <p:spPr>
          <a:xfrm>
            <a:off x="2286085" y="7241398"/>
            <a:ext cx="180224" cy="137421"/>
          </a:xfrm>
          <a:custGeom>
            <a:avLst/>
            <a:gdLst/>
            <a:ahLst/>
            <a:cxnLst/>
            <a:rect l="l" t="t" r="r" b="b"/>
            <a:pathLst>
              <a:path w="180224" h="137421">
                <a:moveTo>
                  <a:pt x="0" y="0"/>
                </a:moveTo>
                <a:lnTo>
                  <a:pt x="180224" y="0"/>
                </a:lnTo>
                <a:lnTo>
                  <a:pt x="180224" y="137421"/>
                </a:lnTo>
                <a:lnTo>
                  <a:pt x="0" y="137421"/>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16" name="Freeform 16"/>
          <p:cNvSpPr/>
          <p:nvPr/>
        </p:nvSpPr>
        <p:spPr>
          <a:xfrm>
            <a:off x="9918829" y="7241398"/>
            <a:ext cx="180224" cy="137421"/>
          </a:xfrm>
          <a:custGeom>
            <a:avLst/>
            <a:gdLst/>
            <a:ahLst/>
            <a:cxnLst/>
            <a:rect l="l" t="t" r="r" b="b"/>
            <a:pathLst>
              <a:path w="180224" h="137421">
                <a:moveTo>
                  <a:pt x="0" y="0"/>
                </a:moveTo>
                <a:lnTo>
                  <a:pt x="180224" y="0"/>
                </a:lnTo>
                <a:lnTo>
                  <a:pt x="180224" y="137421"/>
                </a:lnTo>
                <a:lnTo>
                  <a:pt x="0" y="137421"/>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17" name="Freeform 17"/>
          <p:cNvSpPr/>
          <p:nvPr/>
        </p:nvSpPr>
        <p:spPr>
          <a:xfrm>
            <a:off x="2286085" y="7670530"/>
            <a:ext cx="180224" cy="137421"/>
          </a:xfrm>
          <a:custGeom>
            <a:avLst/>
            <a:gdLst/>
            <a:ahLst/>
            <a:cxnLst/>
            <a:rect l="l" t="t" r="r" b="b"/>
            <a:pathLst>
              <a:path w="180224" h="137421">
                <a:moveTo>
                  <a:pt x="0" y="0"/>
                </a:moveTo>
                <a:lnTo>
                  <a:pt x="180224" y="0"/>
                </a:lnTo>
                <a:lnTo>
                  <a:pt x="180224" y="137421"/>
                </a:lnTo>
                <a:lnTo>
                  <a:pt x="0" y="137421"/>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18" name="Freeform 18"/>
          <p:cNvSpPr/>
          <p:nvPr/>
        </p:nvSpPr>
        <p:spPr>
          <a:xfrm>
            <a:off x="9918829" y="7670530"/>
            <a:ext cx="180224" cy="137421"/>
          </a:xfrm>
          <a:custGeom>
            <a:avLst/>
            <a:gdLst/>
            <a:ahLst/>
            <a:cxnLst/>
            <a:rect l="l" t="t" r="r" b="b"/>
            <a:pathLst>
              <a:path w="180224" h="137421">
                <a:moveTo>
                  <a:pt x="0" y="0"/>
                </a:moveTo>
                <a:lnTo>
                  <a:pt x="180224" y="0"/>
                </a:lnTo>
                <a:lnTo>
                  <a:pt x="180224" y="137421"/>
                </a:lnTo>
                <a:lnTo>
                  <a:pt x="0" y="137421"/>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19" name="Freeform 19"/>
          <p:cNvSpPr/>
          <p:nvPr/>
        </p:nvSpPr>
        <p:spPr>
          <a:xfrm>
            <a:off x="2286085" y="8103226"/>
            <a:ext cx="180224" cy="137421"/>
          </a:xfrm>
          <a:custGeom>
            <a:avLst/>
            <a:gdLst/>
            <a:ahLst/>
            <a:cxnLst/>
            <a:rect l="l" t="t" r="r" b="b"/>
            <a:pathLst>
              <a:path w="180224" h="137421">
                <a:moveTo>
                  <a:pt x="0" y="0"/>
                </a:moveTo>
                <a:lnTo>
                  <a:pt x="180224" y="0"/>
                </a:lnTo>
                <a:lnTo>
                  <a:pt x="180224" y="137422"/>
                </a:lnTo>
                <a:lnTo>
                  <a:pt x="0" y="137422"/>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20" name="Freeform 20"/>
          <p:cNvSpPr/>
          <p:nvPr/>
        </p:nvSpPr>
        <p:spPr>
          <a:xfrm>
            <a:off x="9918829" y="8103226"/>
            <a:ext cx="180224" cy="137421"/>
          </a:xfrm>
          <a:custGeom>
            <a:avLst/>
            <a:gdLst/>
            <a:ahLst/>
            <a:cxnLst/>
            <a:rect l="l" t="t" r="r" b="b"/>
            <a:pathLst>
              <a:path w="180224" h="137421">
                <a:moveTo>
                  <a:pt x="0" y="0"/>
                </a:moveTo>
                <a:lnTo>
                  <a:pt x="180224" y="0"/>
                </a:lnTo>
                <a:lnTo>
                  <a:pt x="180224" y="137422"/>
                </a:lnTo>
                <a:lnTo>
                  <a:pt x="0" y="137422"/>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grpSp>
        <p:nvGrpSpPr>
          <p:cNvPr id="21" name="Group 21"/>
          <p:cNvGrpSpPr/>
          <p:nvPr/>
        </p:nvGrpSpPr>
        <p:grpSpPr>
          <a:xfrm>
            <a:off x="1717296" y="3136448"/>
            <a:ext cx="7230188" cy="2595252"/>
            <a:chOff x="0" y="0"/>
            <a:chExt cx="1274855" cy="457605"/>
          </a:xfrm>
        </p:grpSpPr>
        <p:sp>
          <p:nvSpPr>
            <p:cNvPr id="22" name="Freeform 22"/>
            <p:cNvSpPr/>
            <p:nvPr/>
          </p:nvSpPr>
          <p:spPr>
            <a:xfrm>
              <a:off x="0" y="0"/>
              <a:ext cx="1274855" cy="457605"/>
            </a:xfrm>
            <a:custGeom>
              <a:avLst/>
              <a:gdLst/>
              <a:ahLst/>
              <a:cxnLst/>
              <a:rect l="l" t="t" r="r" b="b"/>
              <a:pathLst>
                <a:path w="1274855" h="457605">
                  <a:moveTo>
                    <a:pt x="0" y="0"/>
                  </a:moveTo>
                  <a:lnTo>
                    <a:pt x="1274855" y="0"/>
                  </a:lnTo>
                  <a:lnTo>
                    <a:pt x="1274855" y="457605"/>
                  </a:lnTo>
                  <a:lnTo>
                    <a:pt x="0" y="457605"/>
                  </a:lnTo>
                  <a:close/>
                </a:path>
              </a:pathLst>
            </a:custGeom>
            <a:blipFill>
              <a:blip r:embed="rId8"/>
              <a:stretch>
                <a:fillRect l="-17415" t="-195134" b="-195532"/>
              </a:stretch>
            </a:blipFill>
            <a:ln cap="sq">
              <a:noFill/>
              <a:prstDash val="solid"/>
              <a:miter/>
            </a:ln>
          </p:spPr>
        </p:sp>
      </p:grpSp>
      <p:grpSp>
        <p:nvGrpSpPr>
          <p:cNvPr id="23" name="Group 23"/>
          <p:cNvGrpSpPr/>
          <p:nvPr/>
        </p:nvGrpSpPr>
        <p:grpSpPr>
          <a:xfrm>
            <a:off x="9350041" y="3136448"/>
            <a:ext cx="7230188" cy="2595252"/>
            <a:chOff x="0" y="0"/>
            <a:chExt cx="1274855" cy="457605"/>
          </a:xfrm>
        </p:grpSpPr>
        <p:sp>
          <p:nvSpPr>
            <p:cNvPr id="24" name="Freeform 24"/>
            <p:cNvSpPr/>
            <p:nvPr/>
          </p:nvSpPr>
          <p:spPr>
            <a:xfrm>
              <a:off x="0" y="0"/>
              <a:ext cx="1274855" cy="457605"/>
            </a:xfrm>
            <a:custGeom>
              <a:avLst/>
              <a:gdLst/>
              <a:ahLst/>
              <a:cxnLst/>
              <a:rect l="l" t="t" r="r" b="b"/>
              <a:pathLst>
                <a:path w="1274855" h="457605">
                  <a:moveTo>
                    <a:pt x="0" y="0"/>
                  </a:moveTo>
                  <a:lnTo>
                    <a:pt x="1274855" y="0"/>
                  </a:lnTo>
                  <a:lnTo>
                    <a:pt x="1274855" y="457605"/>
                  </a:lnTo>
                  <a:lnTo>
                    <a:pt x="0" y="457605"/>
                  </a:lnTo>
                  <a:close/>
                </a:path>
              </a:pathLst>
            </a:custGeom>
            <a:blipFill>
              <a:blip r:embed="rId9"/>
              <a:stretch>
                <a:fillRect l="-187" t="-242765" r="-2956" b="-88263"/>
              </a:stretch>
            </a:blipFill>
            <a:ln cap="sq">
              <a:noFill/>
              <a:prstDash val="solid"/>
              <a:miter/>
            </a:ln>
          </p:spPr>
        </p:sp>
      </p:grpSp>
      <p:sp>
        <p:nvSpPr>
          <p:cNvPr id="25" name="AutoShape 25"/>
          <p:cNvSpPr/>
          <p:nvPr/>
        </p:nvSpPr>
        <p:spPr>
          <a:xfrm flipV="1">
            <a:off x="2101051" y="6771347"/>
            <a:ext cx="6462678" cy="0"/>
          </a:xfrm>
          <a:prstGeom prst="line">
            <a:avLst/>
          </a:prstGeom>
          <a:ln w="9525" cap="flat">
            <a:solidFill>
              <a:srgbClr val="FCFBF6">
                <a:alpha val="19608"/>
              </a:srgbClr>
            </a:solidFill>
            <a:prstDash val="solid"/>
            <a:headEnd type="none" w="sm" len="sm"/>
            <a:tailEnd type="none" w="sm" len="sm"/>
          </a:ln>
        </p:spPr>
      </p:sp>
      <p:sp>
        <p:nvSpPr>
          <p:cNvPr id="26" name="AutoShape 26"/>
          <p:cNvSpPr/>
          <p:nvPr/>
        </p:nvSpPr>
        <p:spPr>
          <a:xfrm flipV="1">
            <a:off x="9733796" y="6771347"/>
            <a:ext cx="6462678" cy="0"/>
          </a:xfrm>
          <a:prstGeom prst="line">
            <a:avLst/>
          </a:prstGeom>
          <a:ln w="9525" cap="flat">
            <a:solidFill>
              <a:srgbClr val="FCFBF6">
                <a:alpha val="19608"/>
              </a:srgbClr>
            </a:solidFill>
            <a:prstDash val="solid"/>
            <a:headEnd type="none" w="sm" len="sm"/>
            <a:tailEnd type="none" w="sm" len="sm"/>
          </a:ln>
        </p:spPr>
      </p:sp>
      <p:sp>
        <p:nvSpPr>
          <p:cNvPr id="27" name="TextBox 27"/>
          <p:cNvSpPr txBox="1"/>
          <p:nvPr/>
        </p:nvSpPr>
        <p:spPr>
          <a:xfrm>
            <a:off x="4069980" y="6006488"/>
            <a:ext cx="2524821" cy="455296"/>
          </a:xfrm>
          <a:prstGeom prst="rect">
            <a:avLst/>
          </a:prstGeom>
        </p:spPr>
        <p:txBody>
          <a:bodyPr lIns="0" tIns="0" rIns="0" bIns="0" rtlCol="0" anchor="t">
            <a:spAutoFit/>
          </a:bodyPr>
          <a:lstStyle/>
          <a:p>
            <a:pPr algn="ctr">
              <a:lnSpc>
                <a:spcPts val="3824"/>
              </a:lnSpc>
            </a:pPr>
            <a:r>
              <a:rPr lang="en-US" sz="2549" b="1" spc="-50">
                <a:solidFill>
                  <a:srgbClr val="FCFBF6"/>
                </a:solidFill>
                <a:latin typeface="JASO Sans Bold"/>
                <a:ea typeface="JASO Sans Bold"/>
                <a:cs typeface="JASO Sans Bold"/>
                <a:sym typeface="JASO Sans Bold"/>
              </a:rPr>
              <a:t>벤치마크 비교군 A</a:t>
            </a:r>
          </a:p>
        </p:txBody>
      </p:sp>
      <p:sp>
        <p:nvSpPr>
          <p:cNvPr id="28" name="TextBox 28"/>
          <p:cNvSpPr txBox="1"/>
          <p:nvPr/>
        </p:nvSpPr>
        <p:spPr>
          <a:xfrm>
            <a:off x="11702724" y="6006488"/>
            <a:ext cx="2524821" cy="455296"/>
          </a:xfrm>
          <a:prstGeom prst="rect">
            <a:avLst/>
          </a:prstGeom>
        </p:spPr>
        <p:txBody>
          <a:bodyPr lIns="0" tIns="0" rIns="0" bIns="0" rtlCol="0" anchor="t">
            <a:spAutoFit/>
          </a:bodyPr>
          <a:lstStyle/>
          <a:p>
            <a:pPr algn="ctr">
              <a:lnSpc>
                <a:spcPts val="3824"/>
              </a:lnSpc>
            </a:pPr>
            <a:r>
              <a:rPr lang="en-US" sz="2549" b="1" spc="-50">
                <a:solidFill>
                  <a:srgbClr val="FCFBF6"/>
                </a:solidFill>
                <a:latin typeface="JASO Sans Bold"/>
                <a:ea typeface="JASO Sans Bold"/>
                <a:cs typeface="JASO Sans Bold"/>
                <a:sym typeface="JASO Sans Bold"/>
              </a:rPr>
              <a:t>벤치마크 비교군 B</a:t>
            </a:r>
          </a:p>
        </p:txBody>
      </p:sp>
      <p:sp>
        <p:nvSpPr>
          <p:cNvPr id="29" name="TextBox 29"/>
          <p:cNvSpPr txBox="1"/>
          <p:nvPr/>
        </p:nvSpPr>
        <p:spPr>
          <a:xfrm>
            <a:off x="2571623" y="7079473"/>
            <a:ext cx="6375862" cy="1233811"/>
          </a:xfrm>
          <a:prstGeom prst="rect">
            <a:avLst/>
          </a:prstGeom>
        </p:spPr>
        <p:txBody>
          <a:bodyPr lIns="0" tIns="0" rIns="0" bIns="0" rtlCol="0" anchor="t">
            <a:spAutoFit/>
          </a:bodyPr>
          <a:lstStyle/>
          <a:p>
            <a:pPr algn="l">
              <a:lnSpc>
                <a:spcPts val="3320"/>
              </a:lnSpc>
            </a:pPr>
            <a:r>
              <a:rPr lang="en-US" sz="2049" spc="-40">
                <a:solidFill>
                  <a:srgbClr val="FCFBF6"/>
                </a:solidFill>
                <a:latin typeface="JASO Sans"/>
                <a:ea typeface="JASO Sans"/>
                <a:cs typeface="JASO Sans"/>
                <a:sym typeface="JASO Sans"/>
              </a:rPr>
              <a:t>마케터 86%가 플랫폼 사용</a:t>
            </a:r>
          </a:p>
          <a:p>
            <a:pPr algn="l">
              <a:lnSpc>
                <a:spcPts val="3320"/>
              </a:lnSpc>
            </a:pPr>
            <a:r>
              <a:rPr lang="en-US" sz="2049" spc="-40">
                <a:solidFill>
                  <a:srgbClr val="FCFBF6"/>
                </a:solidFill>
                <a:latin typeface="JASO Sans"/>
                <a:ea typeface="JASO Sans"/>
                <a:cs typeface="JASO Sans"/>
                <a:sym typeface="JASO Sans"/>
              </a:rPr>
              <a:t>평균 ROAS 목표 2–4x</a:t>
            </a:r>
          </a:p>
          <a:p>
            <a:pPr algn="l">
              <a:lnSpc>
                <a:spcPts val="3320"/>
              </a:lnSpc>
            </a:pPr>
            <a:r>
              <a:rPr lang="en-US" sz="2049" spc="-40">
                <a:solidFill>
                  <a:srgbClr val="FCFBF6"/>
                </a:solidFill>
                <a:latin typeface="JASO Sans"/>
                <a:ea typeface="JASO Sans"/>
                <a:cs typeface="JASO Sans"/>
                <a:sym typeface="JASO Sans"/>
              </a:rPr>
              <a:t>Larana 월간 사용자 2,000M</a:t>
            </a:r>
          </a:p>
        </p:txBody>
      </p:sp>
      <p:sp>
        <p:nvSpPr>
          <p:cNvPr id="30" name="TextBox 30"/>
          <p:cNvSpPr txBox="1"/>
          <p:nvPr/>
        </p:nvSpPr>
        <p:spPr>
          <a:xfrm>
            <a:off x="10204367" y="7079473"/>
            <a:ext cx="6375862" cy="1652955"/>
          </a:xfrm>
          <a:prstGeom prst="rect">
            <a:avLst/>
          </a:prstGeom>
        </p:spPr>
        <p:txBody>
          <a:bodyPr lIns="0" tIns="0" rIns="0" bIns="0" rtlCol="0" anchor="t">
            <a:spAutoFit/>
          </a:bodyPr>
          <a:lstStyle/>
          <a:p>
            <a:pPr algn="l">
              <a:lnSpc>
                <a:spcPts val="3320"/>
              </a:lnSpc>
            </a:pPr>
            <a:r>
              <a:rPr lang="en-US" sz="2049" spc="-40">
                <a:solidFill>
                  <a:srgbClr val="FCFBF6"/>
                </a:solidFill>
                <a:latin typeface="JASO Sans"/>
                <a:ea typeface="JASO Sans"/>
                <a:cs typeface="JASO Sans"/>
                <a:sym typeface="JASO Sans"/>
              </a:rPr>
              <a:t>일간 재방문율 높음·숏폼 중심 CTR·참여 우수</a:t>
            </a:r>
          </a:p>
          <a:p>
            <a:pPr algn="l">
              <a:lnSpc>
                <a:spcPts val="3320"/>
              </a:lnSpc>
            </a:pPr>
            <a:r>
              <a:rPr lang="en-US" sz="2049" spc="-40">
                <a:solidFill>
                  <a:srgbClr val="FCFBF6"/>
                </a:solidFill>
                <a:latin typeface="JASO Sans"/>
                <a:ea typeface="JASO Sans"/>
                <a:cs typeface="JASO Sans"/>
                <a:sym typeface="JASO Sans"/>
              </a:rPr>
              <a:t>Larana 월간 사용자 1,582M </a:t>
            </a:r>
          </a:p>
          <a:p>
            <a:pPr algn="l">
              <a:lnSpc>
                <a:spcPts val="3320"/>
              </a:lnSpc>
            </a:pPr>
            <a:r>
              <a:rPr lang="en-US" sz="2049" spc="-40">
                <a:solidFill>
                  <a:srgbClr val="FCFBF6"/>
                </a:solidFill>
                <a:latin typeface="JASO Sans"/>
                <a:ea typeface="JASO Sans"/>
                <a:cs typeface="JASO Sans"/>
                <a:sym typeface="JASO Sans"/>
              </a:rPr>
              <a:t>평균 ROAS 목표 2–4x</a:t>
            </a:r>
          </a:p>
          <a:p>
            <a:pPr algn="l">
              <a:lnSpc>
                <a:spcPts val="3320"/>
              </a:lnSpc>
            </a:pPr>
            <a:endParaRPr lang="en-US" sz="2049" spc="-40">
              <a:solidFill>
                <a:srgbClr val="FCFBF6"/>
              </a:solidFill>
              <a:latin typeface="JASO Sans"/>
              <a:ea typeface="JASO Sans"/>
              <a:cs typeface="JASO Sans"/>
              <a:sym typeface="JASO San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p:cNvGrpSpPr/>
        <p:nvPr/>
      </p:nvGrpSpPr>
      <p:grpSpPr>
        <a:xfrm>
          <a:off x="0" y="0"/>
          <a:ext cx="0" cy="0"/>
          <a:chOff x="0" y="0"/>
          <a:chExt cx="0" cy="0"/>
        </a:xfrm>
      </p:grpSpPr>
      <p:grpSp>
        <p:nvGrpSpPr>
          <p:cNvPr id="2" name="Group 2"/>
          <p:cNvGrpSpPr/>
          <p:nvPr/>
        </p:nvGrpSpPr>
        <p:grpSpPr>
          <a:xfrm rot="-5400000">
            <a:off x="9096607" y="1095607"/>
            <a:ext cx="94785" cy="18288000"/>
            <a:chOff x="0" y="0"/>
            <a:chExt cx="11819" cy="2280318"/>
          </a:xfrm>
        </p:grpSpPr>
        <p:sp>
          <p:nvSpPr>
            <p:cNvPr id="3" name="Freeform 3"/>
            <p:cNvSpPr/>
            <p:nvPr/>
          </p:nvSpPr>
          <p:spPr>
            <a:xfrm>
              <a:off x="0" y="0"/>
              <a:ext cx="11819" cy="2280318"/>
            </a:xfrm>
            <a:custGeom>
              <a:avLst/>
              <a:gdLst/>
              <a:ahLst/>
              <a:cxnLst/>
              <a:rect l="l" t="t" r="r" b="b"/>
              <a:pathLst>
                <a:path w="11819" h="2280318">
                  <a:moveTo>
                    <a:pt x="0" y="0"/>
                  </a:moveTo>
                  <a:lnTo>
                    <a:pt x="11819" y="0"/>
                  </a:lnTo>
                  <a:lnTo>
                    <a:pt x="11819" y="2280318"/>
                  </a:lnTo>
                  <a:lnTo>
                    <a:pt x="0" y="2280318"/>
                  </a:lnTo>
                  <a:close/>
                </a:path>
              </a:pathLst>
            </a:custGeom>
            <a:solidFill>
              <a:srgbClr val="9F3838"/>
            </a:solidFill>
          </p:spPr>
        </p:sp>
        <p:sp>
          <p:nvSpPr>
            <p:cNvPr id="4" name="TextBox 4"/>
            <p:cNvSpPr txBox="1"/>
            <p:nvPr/>
          </p:nvSpPr>
          <p:spPr>
            <a:xfrm>
              <a:off x="0" y="-47625"/>
              <a:ext cx="11819" cy="2327943"/>
            </a:xfrm>
            <a:prstGeom prst="rect">
              <a:avLst/>
            </a:prstGeom>
          </p:spPr>
          <p:txBody>
            <a:bodyPr lIns="50800" tIns="50800" rIns="50800" bIns="50800" rtlCol="0" anchor="ctr"/>
            <a:lstStyle/>
            <a:p>
              <a:pPr algn="ctr">
                <a:lnSpc>
                  <a:spcPts val="2587"/>
                </a:lnSpc>
              </a:pPr>
              <a:endParaRPr/>
            </a:p>
          </p:txBody>
        </p:sp>
      </p:grpSp>
      <p:sp>
        <p:nvSpPr>
          <p:cNvPr id="5" name="Freeform 5"/>
          <p:cNvSpPr/>
          <p:nvPr/>
        </p:nvSpPr>
        <p:spPr>
          <a:xfrm rot="-5400000">
            <a:off x="17537790" y="305848"/>
            <a:ext cx="82863" cy="368281"/>
          </a:xfrm>
          <a:custGeom>
            <a:avLst/>
            <a:gdLst/>
            <a:ahLst/>
            <a:cxnLst/>
            <a:rect l="l" t="t" r="r" b="b"/>
            <a:pathLst>
              <a:path w="82863" h="368281">
                <a:moveTo>
                  <a:pt x="0" y="0"/>
                </a:moveTo>
                <a:lnTo>
                  <a:pt x="82864" y="0"/>
                </a:lnTo>
                <a:lnTo>
                  <a:pt x="82864" y="368282"/>
                </a:lnTo>
                <a:lnTo>
                  <a:pt x="0" y="368282"/>
                </a:lnTo>
                <a:lnTo>
                  <a:pt x="0" y="0"/>
                </a:lnTo>
                <a:close/>
              </a:path>
            </a:pathLst>
          </a:custGeom>
          <a:blipFill>
            <a:blip r:embed="rId2">
              <a:alphaModFix amt="50000"/>
              <a:extLst>
                <a:ext uri="{96DAC541-7B7A-43D3-8B79-37D633B846F1}">
                  <asvg:svgBlip xmlns:asvg="http://schemas.microsoft.com/office/drawing/2016/SVG/main" xmlns="" r:embed="rId3"/>
                </a:ext>
              </a:extLst>
            </a:blip>
            <a:stretch>
              <a:fillRect/>
            </a:stretch>
          </a:blipFill>
          <a:ln cap="sq">
            <a:noFill/>
            <a:prstDash val="solid"/>
            <a:miter/>
          </a:ln>
        </p:spPr>
      </p:sp>
      <p:sp>
        <p:nvSpPr>
          <p:cNvPr id="6" name="AutoShape 6"/>
          <p:cNvSpPr/>
          <p:nvPr/>
        </p:nvSpPr>
        <p:spPr>
          <a:xfrm>
            <a:off x="651497" y="2036945"/>
            <a:ext cx="16985007" cy="0"/>
          </a:xfrm>
          <a:prstGeom prst="line">
            <a:avLst/>
          </a:prstGeom>
          <a:ln w="9525" cap="flat">
            <a:solidFill>
              <a:srgbClr val="333333">
                <a:alpha val="49804"/>
              </a:srgbClr>
            </a:solidFill>
            <a:prstDash val="solid"/>
            <a:headEnd type="none" w="sm" len="sm"/>
            <a:tailEnd type="none" w="sm" len="sm"/>
          </a:ln>
        </p:spPr>
      </p:sp>
      <p:sp>
        <p:nvSpPr>
          <p:cNvPr id="7" name="Freeform 7"/>
          <p:cNvSpPr/>
          <p:nvPr/>
        </p:nvSpPr>
        <p:spPr>
          <a:xfrm>
            <a:off x="958901" y="972638"/>
            <a:ext cx="321816" cy="321816"/>
          </a:xfrm>
          <a:custGeom>
            <a:avLst/>
            <a:gdLst/>
            <a:ahLst/>
            <a:cxnLst/>
            <a:rect l="l" t="t" r="r" b="b"/>
            <a:pathLst>
              <a:path w="321816" h="321816">
                <a:moveTo>
                  <a:pt x="0" y="0"/>
                </a:moveTo>
                <a:lnTo>
                  <a:pt x="321815" y="0"/>
                </a:lnTo>
                <a:lnTo>
                  <a:pt x="321815" y="321816"/>
                </a:lnTo>
                <a:lnTo>
                  <a:pt x="0" y="321816"/>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8" name="TextBox 8"/>
          <p:cNvSpPr txBox="1"/>
          <p:nvPr/>
        </p:nvSpPr>
        <p:spPr>
          <a:xfrm>
            <a:off x="1448568" y="830869"/>
            <a:ext cx="14134398" cy="710129"/>
          </a:xfrm>
          <a:prstGeom prst="rect">
            <a:avLst/>
          </a:prstGeom>
        </p:spPr>
        <p:txBody>
          <a:bodyPr lIns="0" tIns="0" rIns="0" bIns="0" rtlCol="0" anchor="t">
            <a:spAutoFit/>
          </a:bodyPr>
          <a:lstStyle/>
          <a:p>
            <a:pPr marL="0" lvl="0" indent="0" algn="l">
              <a:lnSpc>
                <a:spcPts val="5337"/>
              </a:lnSpc>
            </a:pPr>
            <a:r>
              <a:rPr lang="en-US" sz="5232" b="1" spc="-104">
                <a:solidFill>
                  <a:srgbClr val="333333"/>
                </a:solidFill>
                <a:latin typeface="JASO Sans Bold"/>
                <a:ea typeface="JASO Sans Bold"/>
                <a:cs typeface="JASO Sans Bold"/>
                <a:sym typeface="JASO Sans Bold"/>
              </a:rPr>
              <a:t>콘텐츠 핵심 전략</a:t>
            </a:r>
          </a:p>
        </p:txBody>
      </p:sp>
      <p:grpSp>
        <p:nvGrpSpPr>
          <p:cNvPr id="9" name="Group 9"/>
          <p:cNvGrpSpPr/>
          <p:nvPr/>
        </p:nvGrpSpPr>
        <p:grpSpPr>
          <a:xfrm>
            <a:off x="1717296" y="3136448"/>
            <a:ext cx="5981157" cy="5701057"/>
            <a:chOff x="0" y="0"/>
            <a:chExt cx="914322" cy="871504"/>
          </a:xfrm>
        </p:grpSpPr>
        <p:sp>
          <p:nvSpPr>
            <p:cNvPr id="10" name="Freeform 10"/>
            <p:cNvSpPr/>
            <p:nvPr/>
          </p:nvSpPr>
          <p:spPr>
            <a:xfrm>
              <a:off x="0" y="0"/>
              <a:ext cx="914322" cy="871504"/>
            </a:xfrm>
            <a:custGeom>
              <a:avLst/>
              <a:gdLst/>
              <a:ahLst/>
              <a:cxnLst/>
              <a:rect l="l" t="t" r="r" b="b"/>
              <a:pathLst>
                <a:path w="914322" h="871504">
                  <a:moveTo>
                    <a:pt x="0" y="0"/>
                  </a:moveTo>
                  <a:lnTo>
                    <a:pt x="914322" y="0"/>
                  </a:lnTo>
                  <a:lnTo>
                    <a:pt x="914322" y="871504"/>
                  </a:lnTo>
                  <a:lnTo>
                    <a:pt x="0" y="871504"/>
                  </a:lnTo>
                  <a:close/>
                </a:path>
              </a:pathLst>
            </a:custGeom>
            <a:blipFill>
              <a:blip r:embed="rId6"/>
              <a:stretch>
                <a:fillRect t="-28684" b="-28684"/>
              </a:stretch>
            </a:blipFill>
            <a:ln cap="sq">
              <a:noFill/>
              <a:prstDash val="solid"/>
              <a:miter/>
            </a:ln>
          </p:spPr>
        </p:sp>
      </p:grpSp>
      <p:grpSp>
        <p:nvGrpSpPr>
          <p:cNvPr id="11" name="Group 11"/>
          <p:cNvGrpSpPr/>
          <p:nvPr/>
        </p:nvGrpSpPr>
        <p:grpSpPr>
          <a:xfrm>
            <a:off x="7918193" y="3136448"/>
            <a:ext cx="2887455" cy="2727750"/>
            <a:chOff x="0" y="0"/>
            <a:chExt cx="922529" cy="871504"/>
          </a:xfrm>
        </p:grpSpPr>
        <p:sp>
          <p:nvSpPr>
            <p:cNvPr id="12" name="Freeform 12"/>
            <p:cNvSpPr/>
            <p:nvPr/>
          </p:nvSpPr>
          <p:spPr>
            <a:xfrm>
              <a:off x="0" y="0"/>
              <a:ext cx="922529" cy="871504"/>
            </a:xfrm>
            <a:custGeom>
              <a:avLst/>
              <a:gdLst/>
              <a:ahLst/>
              <a:cxnLst/>
              <a:rect l="l" t="t" r="r" b="b"/>
              <a:pathLst>
                <a:path w="922529" h="871504">
                  <a:moveTo>
                    <a:pt x="0" y="0"/>
                  </a:moveTo>
                  <a:lnTo>
                    <a:pt x="922529" y="0"/>
                  </a:lnTo>
                  <a:lnTo>
                    <a:pt x="922529" y="871504"/>
                  </a:lnTo>
                  <a:lnTo>
                    <a:pt x="0" y="871504"/>
                  </a:lnTo>
                  <a:close/>
                </a:path>
              </a:pathLst>
            </a:custGeom>
            <a:blipFill>
              <a:blip r:embed="rId7"/>
              <a:stretch>
                <a:fillRect l="-21370" r="-21370"/>
              </a:stretch>
            </a:blipFill>
            <a:ln cap="sq">
              <a:noFill/>
              <a:prstDash val="solid"/>
              <a:miter/>
            </a:ln>
          </p:spPr>
        </p:sp>
      </p:grpSp>
      <p:grpSp>
        <p:nvGrpSpPr>
          <p:cNvPr id="13" name="Group 13"/>
          <p:cNvGrpSpPr/>
          <p:nvPr/>
        </p:nvGrpSpPr>
        <p:grpSpPr>
          <a:xfrm>
            <a:off x="7918193" y="6109755"/>
            <a:ext cx="2887455" cy="2727750"/>
            <a:chOff x="0" y="0"/>
            <a:chExt cx="922529" cy="871504"/>
          </a:xfrm>
        </p:grpSpPr>
        <p:sp>
          <p:nvSpPr>
            <p:cNvPr id="14" name="Freeform 14"/>
            <p:cNvSpPr/>
            <p:nvPr/>
          </p:nvSpPr>
          <p:spPr>
            <a:xfrm>
              <a:off x="0" y="0"/>
              <a:ext cx="922529" cy="871504"/>
            </a:xfrm>
            <a:custGeom>
              <a:avLst/>
              <a:gdLst/>
              <a:ahLst/>
              <a:cxnLst/>
              <a:rect l="l" t="t" r="r" b="b"/>
              <a:pathLst>
                <a:path w="922529" h="871504">
                  <a:moveTo>
                    <a:pt x="0" y="0"/>
                  </a:moveTo>
                  <a:lnTo>
                    <a:pt x="922529" y="0"/>
                  </a:lnTo>
                  <a:lnTo>
                    <a:pt x="922529" y="871504"/>
                  </a:lnTo>
                  <a:lnTo>
                    <a:pt x="0" y="871504"/>
                  </a:lnTo>
                  <a:close/>
                </a:path>
              </a:pathLst>
            </a:custGeom>
            <a:blipFill>
              <a:blip r:embed="rId8"/>
              <a:stretch>
                <a:fillRect t="-32318"/>
              </a:stretch>
            </a:blipFill>
            <a:ln cap="sq">
              <a:noFill/>
              <a:prstDash val="solid"/>
              <a:miter/>
            </a:ln>
          </p:spPr>
        </p:sp>
      </p:grpSp>
      <p:sp>
        <p:nvSpPr>
          <p:cNvPr id="15" name="Freeform 15"/>
          <p:cNvSpPr/>
          <p:nvPr/>
        </p:nvSpPr>
        <p:spPr>
          <a:xfrm>
            <a:off x="11325182" y="3289712"/>
            <a:ext cx="180224" cy="137421"/>
          </a:xfrm>
          <a:custGeom>
            <a:avLst/>
            <a:gdLst/>
            <a:ahLst/>
            <a:cxnLst/>
            <a:rect l="l" t="t" r="r" b="b"/>
            <a:pathLst>
              <a:path w="180224" h="137421">
                <a:moveTo>
                  <a:pt x="0" y="0"/>
                </a:moveTo>
                <a:lnTo>
                  <a:pt x="180224" y="0"/>
                </a:lnTo>
                <a:lnTo>
                  <a:pt x="180224" y="137421"/>
                </a:lnTo>
                <a:lnTo>
                  <a:pt x="0" y="137421"/>
                </a:lnTo>
                <a:lnTo>
                  <a:pt x="0" y="0"/>
                </a:lnTo>
                <a:close/>
              </a:path>
            </a:pathLst>
          </a:custGeom>
          <a:blipFill>
            <a:blip r:embed="rId9">
              <a:extLst>
                <a:ext uri="{96DAC541-7B7A-43D3-8B79-37D633B846F1}">
                  <asvg:svgBlip xmlns:asvg="http://schemas.microsoft.com/office/drawing/2016/SVG/main" xmlns="" r:embed="rId10"/>
                </a:ext>
              </a:extLst>
            </a:blip>
            <a:stretch>
              <a:fillRect/>
            </a:stretch>
          </a:blipFill>
        </p:spPr>
      </p:sp>
      <p:sp>
        <p:nvSpPr>
          <p:cNvPr id="16" name="TextBox 16"/>
          <p:cNvSpPr txBox="1"/>
          <p:nvPr/>
        </p:nvSpPr>
        <p:spPr>
          <a:xfrm>
            <a:off x="11325182" y="3902224"/>
            <a:ext cx="5255047" cy="4932045"/>
          </a:xfrm>
          <a:prstGeom prst="rect">
            <a:avLst/>
          </a:prstGeom>
        </p:spPr>
        <p:txBody>
          <a:bodyPr lIns="0" tIns="0" rIns="0" bIns="0" rtlCol="0" anchor="t">
            <a:spAutoFit/>
          </a:bodyPr>
          <a:lstStyle/>
          <a:p>
            <a:pPr algn="l">
              <a:lnSpc>
                <a:spcPts val="3074"/>
              </a:lnSpc>
            </a:pPr>
            <a:r>
              <a:rPr lang="en-US" sz="2049" spc="-40">
                <a:solidFill>
                  <a:srgbClr val="333333">
                    <a:alpha val="69804"/>
                  </a:srgbClr>
                </a:solidFill>
                <a:latin typeface="JASO Sans"/>
                <a:ea typeface="JASO Sans"/>
                <a:cs typeface="JASO Sans"/>
                <a:sym typeface="JASO Sans"/>
              </a:rPr>
              <a:t>콘텐츠는 SNS 성과의 핵심입니다. 브랜딩과 실용성을 조합하여 사용자 반응률을 극대화하는 구조로 설계합니다.</a:t>
            </a:r>
          </a:p>
          <a:p>
            <a:pPr algn="l">
              <a:lnSpc>
                <a:spcPts val="3074"/>
              </a:lnSpc>
            </a:pPr>
            <a:endParaRPr lang="en-US" sz="2049" spc="-40">
              <a:solidFill>
                <a:srgbClr val="333333">
                  <a:alpha val="69804"/>
                </a:srgbClr>
              </a:solidFill>
              <a:latin typeface="JASO Sans"/>
              <a:ea typeface="JASO Sans"/>
              <a:cs typeface="JASO Sans"/>
              <a:sym typeface="JASO Sans"/>
            </a:endParaRPr>
          </a:p>
          <a:p>
            <a:pPr algn="l">
              <a:lnSpc>
                <a:spcPts val="3074"/>
              </a:lnSpc>
            </a:pPr>
            <a:r>
              <a:rPr lang="en-US" sz="2049" spc="-40">
                <a:solidFill>
                  <a:srgbClr val="333333">
                    <a:alpha val="69804"/>
                  </a:srgbClr>
                </a:solidFill>
                <a:latin typeface="JASO Sans"/>
                <a:ea typeface="JASO Sans"/>
                <a:cs typeface="JASO Sans"/>
                <a:sym typeface="JASO Sans"/>
              </a:rPr>
              <a:t>사용자의 관심을 끌기 위해 스토리텔링 요소를 적절히 활용하고, 시각적 요소와 텍스트를 조화롭게 배치하여 메시지를 명확히 전달합니다. 또한, 개인화된 콘텐츠를 통해 사용자의 참여를 유도하고, 다양한 플랫폼에서 일관된 브랜드 이미지를 유지함으로써 신뢰를 구축합니다.</a:t>
            </a:r>
          </a:p>
          <a:p>
            <a:pPr algn="l">
              <a:lnSpc>
                <a:spcPts val="3074"/>
              </a:lnSpc>
            </a:pPr>
            <a:r>
              <a:rPr lang="en-US" sz="2049" spc="-40">
                <a:solidFill>
                  <a:srgbClr val="333333">
                    <a:alpha val="69804"/>
                  </a:srgbClr>
                </a:solidFill>
                <a:latin typeface="JASO Sans"/>
                <a:ea typeface="JASO Sans"/>
                <a:cs typeface="JASO Sans"/>
                <a:sym typeface="JASO Sans"/>
              </a:rPr>
              <a:t>이러한 전략은 지속적인 분석과 피드백을 통해 개선되어야 하며, 변화하는 트렌드에 민첩하게 대응할 수 있는 유연성을 갖추는 것이 중요합니다.</a:t>
            </a:r>
          </a:p>
        </p:txBody>
      </p:sp>
      <p:sp>
        <p:nvSpPr>
          <p:cNvPr id="17" name="TextBox 17"/>
          <p:cNvSpPr txBox="1"/>
          <p:nvPr/>
        </p:nvSpPr>
        <p:spPr>
          <a:xfrm>
            <a:off x="11604126" y="3165023"/>
            <a:ext cx="5056371" cy="460976"/>
          </a:xfrm>
          <a:prstGeom prst="rect">
            <a:avLst/>
          </a:prstGeom>
        </p:spPr>
        <p:txBody>
          <a:bodyPr lIns="0" tIns="0" rIns="0" bIns="0" rtlCol="0" anchor="t">
            <a:spAutoFit/>
          </a:bodyPr>
          <a:lstStyle/>
          <a:p>
            <a:pPr marL="0" lvl="0" indent="0" algn="l">
              <a:lnSpc>
                <a:spcPts val="3567"/>
              </a:lnSpc>
            </a:pPr>
            <a:r>
              <a:rPr lang="en-US" sz="3497" b="1" spc="-69">
                <a:solidFill>
                  <a:srgbClr val="333333"/>
                </a:solidFill>
                <a:latin typeface="JASO Sans Bold"/>
                <a:ea typeface="JASO Sans Bold"/>
                <a:cs typeface="JASO Sans Bold"/>
                <a:sym typeface="JASO Sans Bold"/>
              </a:rPr>
              <a:t>참여·전환 중심 콘텐츠 구조</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p:cNvGrpSpPr/>
        <p:nvPr/>
      </p:nvGrpSpPr>
      <p:grpSpPr>
        <a:xfrm>
          <a:off x="0" y="0"/>
          <a:ext cx="0" cy="0"/>
          <a:chOff x="0" y="0"/>
          <a:chExt cx="0" cy="0"/>
        </a:xfrm>
      </p:grpSpPr>
      <p:grpSp>
        <p:nvGrpSpPr>
          <p:cNvPr id="2" name="Group 2"/>
          <p:cNvGrpSpPr/>
          <p:nvPr/>
        </p:nvGrpSpPr>
        <p:grpSpPr>
          <a:xfrm rot="-5400000">
            <a:off x="9096607" y="1095607"/>
            <a:ext cx="94785" cy="18288000"/>
            <a:chOff x="0" y="0"/>
            <a:chExt cx="11819" cy="2280318"/>
          </a:xfrm>
        </p:grpSpPr>
        <p:sp>
          <p:nvSpPr>
            <p:cNvPr id="3" name="Freeform 3"/>
            <p:cNvSpPr/>
            <p:nvPr/>
          </p:nvSpPr>
          <p:spPr>
            <a:xfrm>
              <a:off x="0" y="0"/>
              <a:ext cx="11819" cy="2280318"/>
            </a:xfrm>
            <a:custGeom>
              <a:avLst/>
              <a:gdLst/>
              <a:ahLst/>
              <a:cxnLst/>
              <a:rect l="l" t="t" r="r" b="b"/>
              <a:pathLst>
                <a:path w="11819" h="2280318">
                  <a:moveTo>
                    <a:pt x="0" y="0"/>
                  </a:moveTo>
                  <a:lnTo>
                    <a:pt x="11819" y="0"/>
                  </a:lnTo>
                  <a:lnTo>
                    <a:pt x="11819" y="2280318"/>
                  </a:lnTo>
                  <a:lnTo>
                    <a:pt x="0" y="2280318"/>
                  </a:lnTo>
                  <a:close/>
                </a:path>
              </a:pathLst>
            </a:custGeom>
            <a:solidFill>
              <a:srgbClr val="9F3838"/>
            </a:solidFill>
          </p:spPr>
        </p:sp>
        <p:sp>
          <p:nvSpPr>
            <p:cNvPr id="4" name="TextBox 4"/>
            <p:cNvSpPr txBox="1"/>
            <p:nvPr/>
          </p:nvSpPr>
          <p:spPr>
            <a:xfrm>
              <a:off x="0" y="-47625"/>
              <a:ext cx="11819" cy="2327943"/>
            </a:xfrm>
            <a:prstGeom prst="rect">
              <a:avLst/>
            </a:prstGeom>
          </p:spPr>
          <p:txBody>
            <a:bodyPr lIns="50800" tIns="50800" rIns="50800" bIns="50800" rtlCol="0" anchor="ctr"/>
            <a:lstStyle/>
            <a:p>
              <a:pPr algn="ctr">
                <a:lnSpc>
                  <a:spcPts val="2587"/>
                </a:lnSpc>
              </a:pPr>
              <a:endParaRPr/>
            </a:p>
          </p:txBody>
        </p:sp>
      </p:grpSp>
      <p:sp>
        <p:nvSpPr>
          <p:cNvPr id="5" name="Freeform 5"/>
          <p:cNvSpPr/>
          <p:nvPr/>
        </p:nvSpPr>
        <p:spPr>
          <a:xfrm rot="-5400000">
            <a:off x="17537790" y="305848"/>
            <a:ext cx="82863" cy="368281"/>
          </a:xfrm>
          <a:custGeom>
            <a:avLst/>
            <a:gdLst/>
            <a:ahLst/>
            <a:cxnLst/>
            <a:rect l="l" t="t" r="r" b="b"/>
            <a:pathLst>
              <a:path w="82863" h="368281">
                <a:moveTo>
                  <a:pt x="0" y="0"/>
                </a:moveTo>
                <a:lnTo>
                  <a:pt x="82864" y="0"/>
                </a:lnTo>
                <a:lnTo>
                  <a:pt x="82864" y="368282"/>
                </a:lnTo>
                <a:lnTo>
                  <a:pt x="0" y="368282"/>
                </a:lnTo>
                <a:lnTo>
                  <a:pt x="0" y="0"/>
                </a:lnTo>
                <a:close/>
              </a:path>
            </a:pathLst>
          </a:custGeom>
          <a:blipFill>
            <a:blip r:embed="rId2">
              <a:alphaModFix amt="50000"/>
              <a:extLst>
                <a:ext uri="{96DAC541-7B7A-43D3-8B79-37D633B846F1}">
                  <asvg:svgBlip xmlns:asvg="http://schemas.microsoft.com/office/drawing/2016/SVG/main" xmlns="" r:embed="rId3"/>
                </a:ext>
              </a:extLst>
            </a:blip>
            <a:stretch>
              <a:fillRect/>
            </a:stretch>
          </a:blipFill>
          <a:ln cap="sq">
            <a:noFill/>
            <a:prstDash val="solid"/>
            <a:miter/>
          </a:ln>
        </p:spPr>
      </p:sp>
      <p:sp>
        <p:nvSpPr>
          <p:cNvPr id="6" name="AutoShape 6"/>
          <p:cNvSpPr/>
          <p:nvPr/>
        </p:nvSpPr>
        <p:spPr>
          <a:xfrm>
            <a:off x="651497" y="2036945"/>
            <a:ext cx="16985007" cy="0"/>
          </a:xfrm>
          <a:prstGeom prst="line">
            <a:avLst/>
          </a:prstGeom>
          <a:ln w="9525" cap="flat">
            <a:solidFill>
              <a:srgbClr val="333333">
                <a:alpha val="49804"/>
              </a:srgbClr>
            </a:solidFill>
            <a:prstDash val="solid"/>
            <a:headEnd type="none" w="sm" len="sm"/>
            <a:tailEnd type="none" w="sm" len="sm"/>
          </a:ln>
        </p:spPr>
      </p:sp>
      <p:sp>
        <p:nvSpPr>
          <p:cNvPr id="7" name="Freeform 7"/>
          <p:cNvSpPr/>
          <p:nvPr/>
        </p:nvSpPr>
        <p:spPr>
          <a:xfrm>
            <a:off x="958901" y="972638"/>
            <a:ext cx="321816" cy="321816"/>
          </a:xfrm>
          <a:custGeom>
            <a:avLst/>
            <a:gdLst/>
            <a:ahLst/>
            <a:cxnLst/>
            <a:rect l="l" t="t" r="r" b="b"/>
            <a:pathLst>
              <a:path w="321816" h="321816">
                <a:moveTo>
                  <a:pt x="0" y="0"/>
                </a:moveTo>
                <a:lnTo>
                  <a:pt x="321815" y="0"/>
                </a:lnTo>
                <a:lnTo>
                  <a:pt x="321815" y="321816"/>
                </a:lnTo>
                <a:lnTo>
                  <a:pt x="0" y="321816"/>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8" name="TextBox 8"/>
          <p:cNvSpPr txBox="1"/>
          <p:nvPr/>
        </p:nvSpPr>
        <p:spPr>
          <a:xfrm>
            <a:off x="1448568" y="830869"/>
            <a:ext cx="14134398" cy="710129"/>
          </a:xfrm>
          <a:prstGeom prst="rect">
            <a:avLst/>
          </a:prstGeom>
        </p:spPr>
        <p:txBody>
          <a:bodyPr lIns="0" tIns="0" rIns="0" bIns="0" rtlCol="0" anchor="t">
            <a:spAutoFit/>
          </a:bodyPr>
          <a:lstStyle/>
          <a:p>
            <a:pPr marL="0" lvl="0" indent="0" algn="l">
              <a:lnSpc>
                <a:spcPts val="5337"/>
              </a:lnSpc>
            </a:pPr>
            <a:r>
              <a:rPr lang="en-US" sz="5232" b="1" spc="-104">
                <a:solidFill>
                  <a:srgbClr val="333333"/>
                </a:solidFill>
                <a:latin typeface="JASO Sans Bold"/>
                <a:ea typeface="JASO Sans Bold"/>
                <a:cs typeface="JASO Sans Bold"/>
                <a:sym typeface="JASO Sans Bold"/>
              </a:rPr>
              <a:t>콘텐츠 시스템: 크리에이티브 아키텍처와 테스트 루프</a:t>
            </a:r>
          </a:p>
        </p:txBody>
      </p:sp>
      <p:sp>
        <p:nvSpPr>
          <p:cNvPr id="9" name="AutoShape 9"/>
          <p:cNvSpPr/>
          <p:nvPr/>
        </p:nvSpPr>
        <p:spPr>
          <a:xfrm>
            <a:off x="2961427" y="6019710"/>
            <a:ext cx="12367453" cy="0"/>
          </a:xfrm>
          <a:prstGeom prst="line">
            <a:avLst/>
          </a:prstGeom>
          <a:ln w="9525" cap="flat">
            <a:solidFill>
              <a:srgbClr val="333333">
                <a:alpha val="27843"/>
              </a:srgbClr>
            </a:solidFill>
            <a:prstDash val="solid"/>
            <a:headEnd type="none" w="sm" len="sm"/>
            <a:tailEnd type="none" w="sm" len="sm"/>
          </a:ln>
        </p:spPr>
      </p:sp>
      <p:sp>
        <p:nvSpPr>
          <p:cNvPr id="10" name="Freeform 10"/>
          <p:cNvSpPr/>
          <p:nvPr/>
        </p:nvSpPr>
        <p:spPr>
          <a:xfrm rot="5400000">
            <a:off x="2730806" y="5435225"/>
            <a:ext cx="1168969" cy="1168969"/>
          </a:xfrm>
          <a:custGeom>
            <a:avLst/>
            <a:gdLst/>
            <a:ahLst/>
            <a:cxnLst/>
            <a:rect l="l" t="t" r="r" b="b"/>
            <a:pathLst>
              <a:path w="1168969" h="1168969">
                <a:moveTo>
                  <a:pt x="0" y="0"/>
                </a:moveTo>
                <a:lnTo>
                  <a:pt x="1168969" y="0"/>
                </a:lnTo>
                <a:lnTo>
                  <a:pt x="1168969" y="1168970"/>
                </a:lnTo>
                <a:lnTo>
                  <a:pt x="0" y="1168970"/>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11" name="Freeform 11"/>
          <p:cNvSpPr/>
          <p:nvPr/>
        </p:nvSpPr>
        <p:spPr>
          <a:xfrm rot="5400000">
            <a:off x="10518299" y="5435225"/>
            <a:ext cx="1168969" cy="1168969"/>
          </a:xfrm>
          <a:custGeom>
            <a:avLst/>
            <a:gdLst/>
            <a:ahLst/>
            <a:cxnLst/>
            <a:rect l="l" t="t" r="r" b="b"/>
            <a:pathLst>
              <a:path w="1168969" h="1168969">
                <a:moveTo>
                  <a:pt x="0" y="0"/>
                </a:moveTo>
                <a:lnTo>
                  <a:pt x="1168969" y="0"/>
                </a:lnTo>
                <a:lnTo>
                  <a:pt x="1168969" y="1168970"/>
                </a:lnTo>
                <a:lnTo>
                  <a:pt x="0" y="1168970"/>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a:ln cap="sq">
            <a:noFill/>
            <a:prstDash val="solid"/>
            <a:miter/>
          </a:ln>
        </p:spPr>
      </p:sp>
      <p:sp>
        <p:nvSpPr>
          <p:cNvPr id="12" name="Freeform 12"/>
          <p:cNvSpPr/>
          <p:nvPr/>
        </p:nvSpPr>
        <p:spPr>
          <a:xfrm rot="-5400000">
            <a:off x="6623656" y="5435225"/>
            <a:ext cx="1168969" cy="1168969"/>
          </a:xfrm>
          <a:custGeom>
            <a:avLst/>
            <a:gdLst/>
            <a:ahLst/>
            <a:cxnLst/>
            <a:rect l="l" t="t" r="r" b="b"/>
            <a:pathLst>
              <a:path w="1168969" h="1168969">
                <a:moveTo>
                  <a:pt x="0" y="0"/>
                </a:moveTo>
                <a:lnTo>
                  <a:pt x="1168969" y="0"/>
                </a:lnTo>
                <a:lnTo>
                  <a:pt x="1168969" y="1168970"/>
                </a:lnTo>
                <a:lnTo>
                  <a:pt x="0" y="1168970"/>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sp>
      <p:sp>
        <p:nvSpPr>
          <p:cNvPr id="13" name="Freeform 13"/>
          <p:cNvSpPr/>
          <p:nvPr/>
        </p:nvSpPr>
        <p:spPr>
          <a:xfrm rot="-5400000">
            <a:off x="14411149" y="5435225"/>
            <a:ext cx="1168969" cy="1168969"/>
          </a:xfrm>
          <a:custGeom>
            <a:avLst/>
            <a:gdLst/>
            <a:ahLst/>
            <a:cxnLst/>
            <a:rect l="l" t="t" r="r" b="b"/>
            <a:pathLst>
              <a:path w="1168969" h="1168969">
                <a:moveTo>
                  <a:pt x="0" y="0"/>
                </a:moveTo>
                <a:lnTo>
                  <a:pt x="1168969" y="0"/>
                </a:lnTo>
                <a:lnTo>
                  <a:pt x="1168969" y="1168970"/>
                </a:lnTo>
                <a:lnTo>
                  <a:pt x="0" y="1168970"/>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a:ln cap="sq">
            <a:noFill/>
            <a:prstDash val="solid"/>
            <a:miter/>
          </a:ln>
        </p:spPr>
      </p:sp>
      <p:sp>
        <p:nvSpPr>
          <p:cNvPr id="14" name="TextBox 14"/>
          <p:cNvSpPr txBox="1"/>
          <p:nvPr/>
        </p:nvSpPr>
        <p:spPr>
          <a:xfrm>
            <a:off x="3122640" y="5782520"/>
            <a:ext cx="385301" cy="407705"/>
          </a:xfrm>
          <a:prstGeom prst="rect">
            <a:avLst/>
          </a:prstGeom>
        </p:spPr>
        <p:txBody>
          <a:bodyPr lIns="0" tIns="0" rIns="0" bIns="0" rtlCol="0" anchor="t">
            <a:spAutoFit/>
          </a:bodyPr>
          <a:lstStyle/>
          <a:p>
            <a:pPr algn="ctr">
              <a:lnSpc>
                <a:spcPts val="3149"/>
              </a:lnSpc>
              <a:spcBef>
                <a:spcPct val="0"/>
              </a:spcBef>
            </a:pPr>
            <a:r>
              <a:rPr lang="en-US" sz="2249" b="1">
                <a:solidFill>
                  <a:srgbClr val="FCFBF6"/>
                </a:solidFill>
                <a:latin typeface="Poppins Bold"/>
                <a:ea typeface="Poppins Bold"/>
                <a:cs typeface="Poppins Bold"/>
                <a:sym typeface="Poppins Bold"/>
              </a:rPr>
              <a:t>01</a:t>
            </a:r>
          </a:p>
        </p:txBody>
      </p:sp>
      <p:sp>
        <p:nvSpPr>
          <p:cNvPr id="15" name="TextBox 15"/>
          <p:cNvSpPr txBox="1"/>
          <p:nvPr/>
        </p:nvSpPr>
        <p:spPr>
          <a:xfrm>
            <a:off x="7015490" y="5782520"/>
            <a:ext cx="385301" cy="407705"/>
          </a:xfrm>
          <a:prstGeom prst="rect">
            <a:avLst/>
          </a:prstGeom>
        </p:spPr>
        <p:txBody>
          <a:bodyPr lIns="0" tIns="0" rIns="0" bIns="0" rtlCol="0" anchor="t">
            <a:spAutoFit/>
          </a:bodyPr>
          <a:lstStyle/>
          <a:p>
            <a:pPr algn="ctr">
              <a:lnSpc>
                <a:spcPts val="3149"/>
              </a:lnSpc>
              <a:spcBef>
                <a:spcPct val="0"/>
              </a:spcBef>
            </a:pPr>
            <a:r>
              <a:rPr lang="en-US" sz="2249" b="1">
                <a:solidFill>
                  <a:srgbClr val="FCFBF6"/>
                </a:solidFill>
                <a:latin typeface="Poppins Bold"/>
                <a:ea typeface="Poppins Bold"/>
                <a:cs typeface="Poppins Bold"/>
                <a:sym typeface="Poppins Bold"/>
              </a:rPr>
              <a:t>02</a:t>
            </a:r>
          </a:p>
        </p:txBody>
      </p:sp>
      <p:sp>
        <p:nvSpPr>
          <p:cNvPr id="16" name="TextBox 16"/>
          <p:cNvSpPr txBox="1"/>
          <p:nvPr/>
        </p:nvSpPr>
        <p:spPr>
          <a:xfrm>
            <a:off x="10908340" y="5782520"/>
            <a:ext cx="385301" cy="407705"/>
          </a:xfrm>
          <a:prstGeom prst="rect">
            <a:avLst/>
          </a:prstGeom>
        </p:spPr>
        <p:txBody>
          <a:bodyPr lIns="0" tIns="0" rIns="0" bIns="0" rtlCol="0" anchor="t">
            <a:spAutoFit/>
          </a:bodyPr>
          <a:lstStyle/>
          <a:p>
            <a:pPr algn="ctr">
              <a:lnSpc>
                <a:spcPts val="3149"/>
              </a:lnSpc>
              <a:spcBef>
                <a:spcPct val="0"/>
              </a:spcBef>
            </a:pPr>
            <a:r>
              <a:rPr lang="en-US" sz="2249" b="1">
                <a:solidFill>
                  <a:srgbClr val="FCFBF6"/>
                </a:solidFill>
                <a:latin typeface="Poppins Bold"/>
                <a:ea typeface="Poppins Bold"/>
                <a:cs typeface="Poppins Bold"/>
                <a:sym typeface="Poppins Bold"/>
              </a:rPr>
              <a:t>03</a:t>
            </a:r>
          </a:p>
        </p:txBody>
      </p:sp>
      <p:sp>
        <p:nvSpPr>
          <p:cNvPr id="17" name="TextBox 17"/>
          <p:cNvSpPr txBox="1"/>
          <p:nvPr/>
        </p:nvSpPr>
        <p:spPr>
          <a:xfrm>
            <a:off x="14801190" y="5782520"/>
            <a:ext cx="385301" cy="407705"/>
          </a:xfrm>
          <a:prstGeom prst="rect">
            <a:avLst/>
          </a:prstGeom>
        </p:spPr>
        <p:txBody>
          <a:bodyPr lIns="0" tIns="0" rIns="0" bIns="0" rtlCol="0" anchor="t">
            <a:spAutoFit/>
          </a:bodyPr>
          <a:lstStyle/>
          <a:p>
            <a:pPr algn="ctr">
              <a:lnSpc>
                <a:spcPts val="3149"/>
              </a:lnSpc>
              <a:spcBef>
                <a:spcPct val="0"/>
              </a:spcBef>
            </a:pPr>
            <a:r>
              <a:rPr lang="en-US" sz="2249" b="1">
                <a:solidFill>
                  <a:srgbClr val="FCFBF6"/>
                </a:solidFill>
                <a:latin typeface="Poppins Bold"/>
                <a:ea typeface="Poppins Bold"/>
                <a:cs typeface="Poppins Bold"/>
                <a:sym typeface="Poppins Bold"/>
              </a:rPr>
              <a:t>04</a:t>
            </a:r>
          </a:p>
        </p:txBody>
      </p:sp>
      <p:sp>
        <p:nvSpPr>
          <p:cNvPr id="18" name="Freeform 18"/>
          <p:cNvSpPr/>
          <p:nvPr/>
        </p:nvSpPr>
        <p:spPr>
          <a:xfrm>
            <a:off x="5111046" y="5927863"/>
            <a:ext cx="187922" cy="183694"/>
          </a:xfrm>
          <a:custGeom>
            <a:avLst/>
            <a:gdLst/>
            <a:ahLst/>
            <a:cxnLst/>
            <a:rect l="l" t="t" r="r" b="b"/>
            <a:pathLst>
              <a:path w="187922" h="183694">
                <a:moveTo>
                  <a:pt x="0" y="0"/>
                </a:moveTo>
                <a:lnTo>
                  <a:pt x="187922" y="0"/>
                </a:lnTo>
                <a:lnTo>
                  <a:pt x="187922" y="183694"/>
                </a:lnTo>
                <a:lnTo>
                  <a:pt x="0" y="183694"/>
                </a:lnTo>
                <a:lnTo>
                  <a:pt x="0" y="0"/>
                </a:lnTo>
                <a:close/>
              </a:path>
            </a:pathLst>
          </a:custGeom>
          <a:blipFill>
            <a:blip r:embed="rId10">
              <a:extLst>
                <a:ext uri="{96DAC541-7B7A-43D3-8B79-37D633B846F1}">
                  <asvg:svgBlip xmlns:asvg="http://schemas.microsoft.com/office/drawing/2016/SVG/main" xmlns="" r:embed="rId11"/>
                </a:ext>
              </a:extLst>
            </a:blip>
            <a:stretch>
              <a:fillRect/>
            </a:stretch>
          </a:blipFill>
        </p:spPr>
      </p:sp>
      <p:sp>
        <p:nvSpPr>
          <p:cNvPr id="19" name="Freeform 19"/>
          <p:cNvSpPr/>
          <p:nvPr/>
        </p:nvSpPr>
        <p:spPr>
          <a:xfrm>
            <a:off x="9049216" y="5927863"/>
            <a:ext cx="187922" cy="183694"/>
          </a:xfrm>
          <a:custGeom>
            <a:avLst/>
            <a:gdLst/>
            <a:ahLst/>
            <a:cxnLst/>
            <a:rect l="l" t="t" r="r" b="b"/>
            <a:pathLst>
              <a:path w="187922" h="183694">
                <a:moveTo>
                  <a:pt x="0" y="0"/>
                </a:moveTo>
                <a:lnTo>
                  <a:pt x="187923" y="0"/>
                </a:lnTo>
                <a:lnTo>
                  <a:pt x="187923" y="183694"/>
                </a:lnTo>
                <a:lnTo>
                  <a:pt x="0" y="183694"/>
                </a:lnTo>
                <a:lnTo>
                  <a:pt x="0" y="0"/>
                </a:lnTo>
                <a:close/>
              </a:path>
            </a:pathLst>
          </a:custGeom>
          <a:blipFill>
            <a:blip r:embed="rId10">
              <a:extLst>
                <a:ext uri="{96DAC541-7B7A-43D3-8B79-37D633B846F1}">
                  <asvg:svgBlip xmlns:asvg="http://schemas.microsoft.com/office/drawing/2016/SVG/main" xmlns="" r:embed="rId11"/>
                </a:ext>
              </a:extLst>
            </a:blip>
            <a:stretch>
              <a:fillRect/>
            </a:stretch>
          </a:blipFill>
        </p:spPr>
      </p:sp>
      <p:sp>
        <p:nvSpPr>
          <p:cNvPr id="20" name="Freeform 20"/>
          <p:cNvSpPr/>
          <p:nvPr/>
        </p:nvSpPr>
        <p:spPr>
          <a:xfrm>
            <a:off x="13010163" y="5927863"/>
            <a:ext cx="187922" cy="183694"/>
          </a:xfrm>
          <a:custGeom>
            <a:avLst/>
            <a:gdLst/>
            <a:ahLst/>
            <a:cxnLst/>
            <a:rect l="l" t="t" r="r" b="b"/>
            <a:pathLst>
              <a:path w="187922" h="183694">
                <a:moveTo>
                  <a:pt x="0" y="0"/>
                </a:moveTo>
                <a:lnTo>
                  <a:pt x="187922" y="0"/>
                </a:lnTo>
                <a:lnTo>
                  <a:pt x="187922" y="183694"/>
                </a:lnTo>
                <a:lnTo>
                  <a:pt x="0" y="183694"/>
                </a:lnTo>
                <a:lnTo>
                  <a:pt x="0" y="0"/>
                </a:lnTo>
                <a:close/>
              </a:path>
            </a:pathLst>
          </a:custGeom>
          <a:blipFill>
            <a:blip r:embed="rId10">
              <a:extLst>
                <a:ext uri="{96DAC541-7B7A-43D3-8B79-37D633B846F1}">
                  <asvg:svgBlip xmlns:asvg="http://schemas.microsoft.com/office/drawing/2016/SVG/main" xmlns="" r:embed="rId11"/>
                </a:ext>
              </a:extLst>
            </a:blip>
            <a:stretch>
              <a:fillRect/>
            </a:stretch>
          </a:blipFill>
        </p:spPr>
      </p:sp>
      <p:sp>
        <p:nvSpPr>
          <p:cNvPr id="21" name="TextBox 21"/>
          <p:cNvSpPr txBox="1"/>
          <p:nvPr/>
        </p:nvSpPr>
        <p:spPr>
          <a:xfrm>
            <a:off x="1340841" y="3507383"/>
            <a:ext cx="3948898" cy="494229"/>
          </a:xfrm>
          <a:prstGeom prst="rect">
            <a:avLst/>
          </a:prstGeom>
        </p:spPr>
        <p:txBody>
          <a:bodyPr lIns="0" tIns="0" rIns="0" bIns="0" rtlCol="0" anchor="t">
            <a:spAutoFit/>
          </a:bodyPr>
          <a:lstStyle/>
          <a:p>
            <a:pPr marL="0" lvl="0" indent="0" algn="ctr">
              <a:lnSpc>
                <a:spcPts val="3917"/>
              </a:lnSpc>
              <a:spcBef>
                <a:spcPct val="0"/>
              </a:spcBef>
            </a:pPr>
            <a:r>
              <a:rPr lang="en-US" sz="3319" b="1" spc="-66">
                <a:solidFill>
                  <a:srgbClr val="333333"/>
                </a:solidFill>
                <a:latin typeface="JASO Sans Bold"/>
                <a:ea typeface="JASO Sans Bold"/>
                <a:cs typeface="JASO Sans Bold"/>
                <a:sym typeface="JASO Sans Bold"/>
              </a:rPr>
              <a:t>아이디어</a:t>
            </a:r>
          </a:p>
        </p:txBody>
      </p:sp>
      <p:sp>
        <p:nvSpPr>
          <p:cNvPr id="22" name="TextBox 22"/>
          <p:cNvSpPr txBox="1"/>
          <p:nvPr/>
        </p:nvSpPr>
        <p:spPr>
          <a:xfrm>
            <a:off x="5194489" y="7260385"/>
            <a:ext cx="3948898" cy="494229"/>
          </a:xfrm>
          <a:prstGeom prst="rect">
            <a:avLst/>
          </a:prstGeom>
        </p:spPr>
        <p:txBody>
          <a:bodyPr lIns="0" tIns="0" rIns="0" bIns="0" rtlCol="0" anchor="t">
            <a:spAutoFit/>
          </a:bodyPr>
          <a:lstStyle/>
          <a:p>
            <a:pPr marL="0" lvl="0" indent="0" algn="ctr">
              <a:lnSpc>
                <a:spcPts val="3917"/>
              </a:lnSpc>
              <a:spcBef>
                <a:spcPct val="0"/>
              </a:spcBef>
            </a:pPr>
            <a:r>
              <a:rPr lang="en-US" sz="3319" b="1" spc="-66">
                <a:solidFill>
                  <a:srgbClr val="333333"/>
                </a:solidFill>
                <a:latin typeface="JASO Sans Bold"/>
                <a:ea typeface="JASO Sans Bold"/>
                <a:cs typeface="JASO Sans Bold"/>
                <a:sym typeface="JASO Sans Bold"/>
              </a:rPr>
              <a:t>제작</a:t>
            </a:r>
          </a:p>
        </p:txBody>
      </p:sp>
      <p:sp>
        <p:nvSpPr>
          <p:cNvPr id="23" name="TextBox 23"/>
          <p:cNvSpPr txBox="1"/>
          <p:nvPr/>
        </p:nvSpPr>
        <p:spPr>
          <a:xfrm>
            <a:off x="9126542" y="3507383"/>
            <a:ext cx="3948898" cy="494229"/>
          </a:xfrm>
          <a:prstGeom prst="rect">
            <a:avLst/>
          </a:prstGeom>
        </p:spPr>
        <p:txBody>
          <a:bodyPr lIns="0" tIns="0" rIns="0" bIns="0" rtlCol="0" anchor="t">
            <a:spAutoFit/>
          </a:bodyPr>
          <a:lstStyle/>
          <a:p>
            <a:pPr marL="0" lvl="0" indent="0" algn="ctr">
              <a:lnSpc>
                <a:spcPts val="3917"/>
              </a:lnSpc>
              <a:spcBef>
                <a:spcPct val="0"/>
              </a:spcBef>
            </a:pPr>
            <a:r>
              <a:rPr lang="en-US" sz="3319" b="1" spc="-66">
                <a:solidFill>
                  <a:srgbClr val="333333"/>
                </a:solidFill>
                <a:latin typeface="JASO Sans Bold"/>
                <a:ea typeface="JASO Sans Bold"/>
                <a:cs typeface="JASO Sans Bold"/>
                <a:sym typeface="JASO Sans Bold"/>
              </a:rPr>
              <a:t>A/B 테스트</a:t>
            </a:r>
          </a:p>
        </p:txBody>
      </p:sp>
      <p:sp>
        <p:nvSpPr>
          <p:cNvPr id="24" name="TextBox 24"/>
          <p:cNvSpPr txBox="1"/>
          <p:nvPr/>
        </p:nvSpPr>
        <p:spPr>
          <a:xfrm>
            <a:off x="13010373" y="7260385"/>
            <a:ext cx="3948898" cy="494229"/>
          </a:xfrm>
          <a:prstGeom prst="rect">
            <a:avLst/>
          </a:prstGeom>
        </p:spPr>
        <p:txBody>
          <a:bodyPr lIns="0" tIns="0" rIns="0" bIns="0" rtlCol="0" anchor="t">
            <a:spAutoFit/>
          </a:bodyPr>
          <a:lstStyle/>
          <a:p>
            <a:pPr marL="0" lvl="0" indent="0" algn="ctr">
              <a:lnSpc>
                <a:spcPts val="3917"/>
              </a:lnSpc>
              <a:spcBef>
                <a:spcPct val="0"/>
              </a:spcBef>
            </a:pPr>
            <a:r>
              <a:rPr lang="en-US" sz="3319" b="1" spc="-66">
                <a:solidFill>
                  <a:srgbClr val="333333"/>
                </a:solidFill>
                <a:latin typeface="JASO Sans Bold"/>
                <a:ea typeface="JASO Sans Bold"/>
                <a:cs typeface="JASO Sans Bold"/>
                <a:sym typeface="JASO Sans Bold"/>
              </a:rPr>
              <a:t>스케일</a:t>
            </a:r>
          </a:p>
        </p:txBody>
      </p:sp>
      <p:sp>
        <p:nvSpPr>
          <p:cNvPr id="25" name="TextBox 25"/>
          <p:cNvSpPr txBox="1"/>
          <p:nvPr/>
        </p:nvSpPr>
        <p:spPr>
          <a:xfrm>
            <a:off x="1639771" y="4173144"/>
            <a:ext cx="3206461" cy="980123"/>
          </a:xfrm>
          <a:prstGeom prst="rect">
            <a:avLst/>
          </a:prstGeom>
        </p:spPr>
        <p:txBody>
          <a:bodyPr lIns="0" tIns="0" rIns="0" bIns="0" rtlCol="0" anchor="t">
            <a:spAutoFit/>
          </a:bodyPr>
          <a:lstStyle/>
          <a:p>
            <a:pPr algn="ctr">
              <a:lnSpc>
                <a:spcPts val="2653"/>
              </a:lnSpc>
            </a:pPr>
            <a:r>
              <a:rPr lang="en-US" sz="1829" u="none" strike="noStrike" spc="-36">
                <a:solidFill>
                  <a:srgbClr val="333333">
                    <a:alpha val="60000"/>
                  </a:srgbClr>
                </a:solidFill>
                <a:latin typeface="JASO Sans"/>
                <a:ea typeface="JASO Sans"/>
                <a:cs typeface="JASO Sans"/>
                <a:sym typeface="JASO Sans"/>
              </a:rPr>
              <a:t>트렌드·검색어·경쟁사 인사이트를 수집해 가설 도출</a:t>
            </a:r>
          </a:p>
          <a:p>
            <a:pPr algn="ctr">
              <a:lnSpc>
                <a:spcPts val="2653"/>
              </a:lnSpc>
            </a:pPr>
            <a:endParaRPr lang="en-US" sz="1829" u="none" strike="noStrike" spc="-36">
              <a:solidFill>
                <a:srgbClr val="333333">
                  <a:alpha val="60000"/>
                </a:srgbClr>
              </a:solidFill>
              <a:latin typeface="JASO Sans"/>
              <a:ea typeface="JASO Sans"/>
              <a:cs typeface="JASO Sans"/>
              <a:sym typeface="JASO Sans"/>
            </a:endParaRPr>
          </a:p>
        </p:txBody>
      </p:sp>
      <p:sp>
        <p:nvSpPr>
          <p:cNvPr id="26" name="TextBox 26"/>
          <p:cNvSpPr txBox="1"/>
          <p:nvPr/>
        </p:nvSpPr>
        <p:spPr>
          <a:xfrm>
            <a:off x="5493419" y="7926146"/>
            <a:ext cx="3206461" cy="980123"/>
          </a:xfrm>
          <a:prstGeom prst="rect">
            <a:avLst/>
          </a:prstGeom>
        </p:spPr>
        <p:txBody>
          <a:bodyPr lIns="0" tIns="0" rIns="0" bIns="0" rtlCol="0" anchor="t">
            <a:spAutoFit/>
          </a:bodyPr>
          <a:lstStyle/>
          <a:p>
            <a:pPr algn="ctr">
              <a:lnSpc>
                <a:spcPts val="2653"/>
              </a:lnSpc>
            </a:pPr>
            <a:r>
              <a:rPr lang="en-US" sz="1829" spc="-36">
                <a:solidFill>
                  <a:srgbClr val="333333">
                    <a:alpha val="60000"/>
                  </a:srgbClr>
                </a:solidFill>
                <a:latin typeface="JASO Sans"/>
                <a:ea typeface="JASO Sans"/>
                <a:cs typeface="JASO Sans"/>
                <a:sym typeface="JASO Sans"/>
              </a:rPr>
              <a:t>짧은영상/캐러셀/UGC별</a:t>
            </a:r>
            <a:r>
              <a:rPr lang="en-US" sz="1829" u="none" strike="noStrike" spc="-36">
                <a:solidFill>
                  <a:srgbClr val="333333">
                    <a:alpha val="60000"/>
                  </a:srgbClr>
                </a:solidFill>
                <a:latin typeface="JASO Sans"/>
                <a:ea typeface="JASO Sans"/>
                <a:cs typeface="JASO Sans"/>
                <a:sym typeface="JASO Sans"/>
              </a:rPr>
              <a:t> 템플릿 제작(포맷별 가이드 포함)</a:t>
            </a:r>
          </a:p>
          <a:p>
            <a:pPr algn="ctr">
              <a:lnSpc>
                <a:spcPts val="2653"/>
              </a:lnSpc>
            </a:pPr>
            <a:endParaRPr lang="en-US" sz="1829" u="none" strike="noStrike" spc="-36">
              <a:solidFill>
                <a:srgbClr val="333333">
                  <a:alpha val="60000"/>
                </a:srgbClr>
              </a:solidFill>
              <a:latin typeface="JASO Sans"/>
              <a:ea typeface="JASO Sans"/>
              <a:cs typeface="JASO Sans"/>
              <a:sym typeface="JASO Sans"/>
            </a:endParaRPr>
          </a:p>
        </p:txBody>
      </p:sp>
      <p:sp>
        <p:nvSpPr>
          <p:cNvPr id="27" name="TextBox 27"/>
          <p:cNvSpPr txBox="1"/>
          <p:nvPr/>
        </p:nvSpPr>
        <p:spPr>
          <a:xfrm>
            <a:off x="9425471" y="4173144"/>
            <a:ext cx="3206461" cy="980123"/>
          </a:xfrm>
          <a:prstGeom prst="rect">
            <a:avLst/>
          </a:prstGeom>
        </p:spPr>
        <p:txBody>
          <a:bodyPr lIns="0" tIns="0" rIns="0" bIns="0" rtlCol="0" anchor="t">
            <a:spAutoFit/>
          </a:bodyPr>
          <a:lstStyle/>
          <a:p>
            <a:pPr algn="ctr">
              <a:lnSpc>
                <a:spcPts val="2653"/>
              </a:lnSpc>
            </a:pPr>
            <a:r>
              <a:rPr lang="en-US" sz="1829" spc="-36">
                <a:solidFill>
                  <a:srgbClr val="333333">
                    <a:alpha val="60000"/>
                  </a:srgbClr>
                </a:solidFill>
                <a:latin typeface="JASO Sans"/>
                <a:ea typeface="JASO Sans"/>
                <a:cs typeface="JASO Sans"/>
                <a:sym typeface="JASO Sans"/>
              </a:rPr>
              <a:t>타이틀</a:t>
            </a:r>
            <a:r>
              <a:rPr lang="en-US" sz="1829" u="none" strike="noStrike" spc="-36">
                <a:solidFill>
                  <a:srgbClr val="333333">
                    <a:alpha val="60000"/>
                  </a:srgbClr>
                </a:solidFill>
                <a:latin typeface="JASO Sans"/>
                <a:ea typeface="JASO Sans"/>
                <a:cs typeface="JASO Sans"/>
                <a:sym typeface="JASO Sans"/>
              </a:rPr>
              <a:t>·썸네일·첫3초 등 변수를 대상으로 실험</a:t>
            </a:r>
          </a:p>
          <a:p>
            <a:pPr algn="ctr">
              <a:lnSpc>
                <a:spcPts val="2653"/>
              </a:lnSpc>
            </a:pPr>
            <a:endParaRPr lang="en-US" sz="1829" u="none" strike="noStrike" spc="-36">
              <a:solidFill>
                <a:srgbClr val="333333">
                  <a:alpha val="60000"/>
                </a:srgbClr>
              </a:solidFill>
              <a:latin typeface="JASO Sans"/>
              <a:ea typeface="JASO Sans"/>
              <a:cs typeface="JASO Sans"/>
              <a:sym typeface="JASO Sans"/>
            </a:endParaRPr>
          </a:p>
        </p:txBody>
      </p:sp>
      <p:sp>
        <p:nvSpPr>
          <p:cNvPr id="28" name="TextBox 28"/>
          <p:cNvSpPr txBox="1"/>
          <p:nvPr/>
        </p:nvSpPr>
        <p:spPr>
          <a:xfrm>
            <a:off x="13309303" y="7926146"/>
            <a:ext cx="3206461" cy="980123"/>
          </a:xfrm>
          <a:prstGeom prst="rect">
            <a:avLst/>
          </a:prstGeom>
        </p:spPr>
        <p:txBody>
          <a:bodyPr lIns="0" tIns="0" rIns="0" bIns="0" rtlCol="0" anchor="t">
            <a:spAutoFit/>
          </a:bodyPr>
          <a:lstStyle/>
          <a:p>
            <a:pPr algn="ctr">
              <a:lnSpc>
                <a:spcPts val="2653"/>
              </a:lnSpc>
            </a:pPr>
            <a:r>
              <a:rPr lang="en-US" sz="1829" spc="-36">
                <a:solidFill>
                  <a:srgbClr val="333333">
                    <a:alpha val="60000"/>
                  </a:srgbClr>
                </a:solidFill>
                <a:latin typeface="JASO Sans"/>
                <a:ea typeface="JASO Sans"/>
                <a:cs typeface="JASO Sans"/>
                <a:sym typeface="JASO Sans"/>
              </a:rPr>
              <a:t>성과 채널</a:t>
            </a:r>
            <a:r>
              <a:rPr lang="en-US" sz="1829" u="none" strike="noStrike" spc="-36">
                <a:solidFill>
                  <a:srgbClr val="333333">
                    <a:alpha val="60000"/>
                  </a:srgbClr>
                </a:solidFill>
                <a:latin typeface="JASO Sans"/>
                <a:ea typeface="JASO Sans"/>
                <a:cs typeface="JASO Sans"/>
                <a:sym typeface="JASO Sans"/>
              </a:rPr>
              <a:t>·크리에이티브에 예산 집중 이동</a:t>
            </a:r>
          </a:p>
          <a:p>
            <a:pPr algn="ctr">
              <a:lnSpc>
                <a:spcPts val="2653"/>
              </a:lnSpc>
            </a:pPr>
            <a:endParaRPr lang="en-US" sz="1829" u="none" strike="noStrike" spc="-36">
              <a:solidFill>
                <a:srgbClr val="333333">
                  <a:alpha val="60000"/>
                </a:srgbClr>
              </a:solidFill>
              <a:latin typeface="JASO Sans"/>
              <a:ea typeface="JASO Sans"/>
              <a:cs typeface="JASO Sans"/>
              <a:sym typeface="JASO Sa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p:cNvGrpSpPr/>
        <p:nvPr/>
      </p:nvGrpSpPr>
      <p:grpSpPr>
        <a:xfrm>
          <a:off x="0" y="0"/>
          <a:ext cx="0" cy="0"/>
          <a:chOff x="0" y="0"/>
          <a:chExt cx="0" cy="0"/>
        </a:xfrm>
      </p:grpSpPr>
      <p:grpSp>
        <p:nvGrpSpPr>
          <p:cNvPr id="2" name="Group 2"/>
          <p:cNvGrpSpPr/>
          <p:nvPr/>
        </p:nvGrpSpPr>
        <p:grpSpPr>
          <a:xfrm rot="-5400000">
            <a:off x="9096607" y="1095607"/>
            <a:ext cx="94785" cy="18288000"/>
            <a:chOff x="0" y="0"/>
            <a:chExt cx="11819" cy="2280318"/>
          </a:xfrm>
        </p:grpSpPr>
        <p:sp>
          <p:nvSpPr>
            <p:cNvPr id="3" name="Freeform 3"/>
            <p:cNvSpPr/>
            <p:nvPr/>
          </p:nvSpPr>
          <p:spPr>
            <a:xfrm>
              <a:off x="0" y="0"/>
              <a:ext cx="11819" cy="2280318"/>
            </a:xfrm>
            <a:custGeom>
              <a:avLst/>
              <a:gdLst/>
              <a:ahLst/>
              <a:cxnLst/>
              <a:rect l="l" t="t" r="r" b="b"/>
              <a:pathLst>
                <a:path w="11819" h="2280318">
                  <a:moveTo>
                    <a:pt x="0" y="0"/>
                  </a:moveTo>
                  <a:lnTo>
                    <a:pt x="11819" y="0"/>
                  </a:lnTo>
                  <a:lnTo>
                    <a:pt x="11819" y="2280318"/>
                  </a:lnTo>
                  <a:lnTo>
                    <a:pt x="0" y="2280318"/>
                  </a:lnTo>
                  <a:close/>
                </a:path>
              </a:pathLst>
            </a:custGeom>
            <a:solidFill>
              <a:srgbClr val="9F3838"/>
            </a:solidFill>
          </p:spPr>
        </p:sp>
        <p:sp>
          <p:nvSpPr>
            <p:cNvPr id="4" name="TextBox 4"/>
            <p:cNvSpPr txBox="1"/>
            <p:nvPr/>
          </p:nvSpPr>
          <p:spPr>
            <a:xfrm>
              <a:off x="0" y="-47625"/>
              <a:ext cx="11819" cy="2327943"/>
            </a:xfrm>
            <a:prstGeom prst="rect">
              <a:avLst/>
            </a:prstGeom>
          </p:spPr>
          <p:txBody>
            <a:bodyPr lIns="50800" tIns="50800" rIns="50800" bIns="50800" rtlCol="0" anchor="ctr"/>
            <a:lstStyle/>
            <a:p>
              <a:pPr algn="ctr">
                <a:lnSpc>
                  <a:spcPts val="2587"/>
                </a:lnSpc>
              </a:pPr>
              <a:endParaRPr/>
            </a:p>
          </p:txBody>
        </p:sp>
      </p:grpSp>
      <p:sp>
        <p:nvSpPr>
          <p:cNvPr id="5" name="Freeform 5"/>
          <p:cNvSpPr/>
          <p:nvPr/>
        </p:nvSpPr>
        <p:spPr>
          <a:xfrm rot="-5400000">
            <a:off x="17537790" y="305848"/>
            <a:ext cx="82863" cy="368281"/>
          </a:xfrm>
          <a:custGeom>
            <a:avLst/>
            <a:gdLst/>
            <a:ahLst/>
            <a:cxnLst/>
            <a:rect l="l" t="t" r="r" b="b"/>
            <a:pathLst>
              <a:path w="82863" h="368281">
                <a:moveTo>
                  <a:pt x="0" y="0"/>
                </a:moveTo>
                <a:lnTo>
                  <a:pt x="82864" y="0"/>
                </a:lnTo>
                <a:lnTo>
                  <a:pt x="82864" y="368282"/>
                </a:lnTo>
                <a:lnTo>
                  <a:pt x="0" y="368282"/>
                </a:lnTo>
                <a:lnTo>
                  <a:pt x="0" y="0"/>
                </a:lnTo>
                <a:close/>
              </a:path>
            </a:pathLst>
          </a:custGeom>
          <a:blipFill>
            <a:blip r:embed="rId2">
              <a:alphaModFix amt="50000"/>
              <a:extLst>
                <a:ext uri="{96DAC541-7B7A-43D3-8B79-37D633B846F1}">
                  <asvg:svgBlip xmlns:asvg="http://schemas.microsoft.com/office/drawing/2016/SVG/main" xmlns="" r:embed="rId3"/>
                </a:ext>
              </a:extLst>
            </a:blip>
            <a:stretch>
              <a:fillRect/>
            </a:stretch>
          </a:blipFill>
          <a:ln cap="sq">
            <a:noFill/>
            <a:prstDash val="solid"/>
            <a:miter/>
          </a:ln>
        </p:spPr>
      </p:sp>
      <p:sp>
        <p:nvSpPr>
          <p:cNvPr id="6" name="AutoShape 6"/>
          <p:cNvSpPr/>
          <p:nvPr/>
        </p:nvSpPr>
        <p:spPr>
          <a:xfrm>
            <a:off x="651497" y="2036945"/>
            <a:ext cx="16985007" cy="0"/>
          </a:xfrm>
          <a:prstGeom prst="line">
            <a:avLst/>
          </a:prstGeom>
          <a:ln w="9525" cap="flat">
            <a:solidFill>
              <a:srgbClr val="333333">
                <a:alpha val="49804"/>
              </a:srgbClr>
            </a:solidFill>
            <a:prstDash val="solid"/>
            <a:headEnd type="none" w="sm" len="sm"/>
            <a:tailEnd type="none" w="sm" len="sm"/>
          </a:ln>
        </p:spPr>
      </p:sp>
      <p:sp>
        <p:nvSpPr>
          <p:cNvPr id="7" name="Freeform 7"/>
          <p:cNvSpPr/>
          <p:nvPr/>
        </p:nvSpPr>
        <p:spPr>
          <a:xfrm>
            <a:off x="958901" y="972638"/>
            <a:ext cx="321816" cy="321816"/>
          </a:xfrm>
          <a:custGeom>
            <a:avLst/>
            <a:gdLst/>
            <a:ahLst/>
            <a:cxnLst/>
            <a:rect l="l" t="t" r="r" b="b"/>
            <a:pathLst>
              <a:path w="321816" h="321816">
                <a:moveTo>
                  <a:pt x="0" y="0"/>
                </a:moveTo>
                <a:lnTo>
                  <a:pt x="321815" y="0"/>
                </a:lnTo>
                <a:lnTo>
                  <a:pt x="321815" y="321816"/>
                </a:lnTo>
                <a:lnTo>
                  <a:pt x="0" y="321816"/>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8" name="TextBox 8"/>
          <p:cNvSpPr txBox="1"/>
          <p:nvPr/>
        </p:nvSpPr>
        <p:spPr>
          <a:xfrm>
            <a:off x="1448568" y="830869"/>
            <a:ext cx="14134398" cy="710129"/>
          </a:xfrm>
          <a:prstGeom prst="rect">
            <a:avLst/>
          </a:prstGeom>
        </p:spPr>
        <p:txBody>
          <a:bodyPr lIns="0" tIns="0" rIns="0" bIns="0" rtlCol="0" anchor="t">
            <a:spAutoFit/>
          </a:bodyPr>
          <a:lstStyle/>
          <a:p>
            <a:pPr marL="0" lvl="0" indent="0" algn="l">
              <a:lnSpc>
                <a:spcPts val="5337"/>
              </a:lnSpc>
            </a:pPr>
            <a:r>
              <a:rPr lang="en-US" sz="5232" b="1" spc="-104">
                <a:solidFill>
                  <a:srgbClr val="333333"/>
                </a:solidFill>
                <a:latin typeface="JASO Sans Bold"/>
                <a:ea typeface="JASO Sans Bold"/>
                <a:cs typeface="JASO Sans Bold"/>
                <a:sym typeface="JASO Sans Bold"/>
              </a:rPr>
              <a:t>시장 기회와 디지털 소비자 행동 변화</a:t>
            </a:r>
          </a:p>
        </p:txBody>
      </p:sp>
      <p:grpSp>
        <p:nvGrpSpPr>
          <p:cNvPr id="9" name="Group 9"/>
          <p:cNvGrpSpPr/>
          <p:nvPr/>
        </p:nvGrpSpPr>
        <p:grpSpPr>
          <a:xfrm>
            <a:off x="1717296" y="7436012"/>
            <a:ext cx="14862932" cy="1401493"/>
            <a:chOff x="0" y="0"/>
            <a:chExt cx="3914517" cy="369117"/>
          </a:xfrm>
        </p:grpSpPr>
        <p:sp>
          <p:nvSpPr>
            <p:cNvPr id="10" name="Freeform 10"/>
            <p:cNvSpPr/>
            <p:nvPr/>
          </p:nvSpPr>
          <p:spPr>
            <a:xfrm>
              <a:off x="0" y="0"/>
              <a:ext cx="3914517" cy="369117"/>
            </a:xfrm>
            <a:custGeom>
              <a:avLst/>
              <a:gdLst/>
              <a:ahLst/>
              <a:cxnLst/>
              <a:rect l="l" t="t" r="r" b="b"/>
              <a:pathLst>
                <a:path w="3914517" h="369117">
                  <a:moveTo>
                    <a:pt x="0" y="0"/>
                  </a:moveTo>
                  <a:lnTo>
                    <a:pt x="3914517" y="0"/>
                  </a:lnTo>
                  <a:lnTo>
                    <a:pt x="3914517" y="369117"/>
                  </a:lnTo>
                  <a:lnTo>
                    <a:pt x="0" y="369117"/>
                  </a:lnTo>
                  <a:close/>
                </a:path>
              </a:pathLst>
            </a:custGeom>
            <a:ln w="9525" cap="sq">
              <a:solidFill>
                <a:srgbClr val="333333"/>
              </a:solidFill>
              <a:prstDash val="solid"/>
              <a:miter/>
            </a:ln>
          </p:spPr>
        </p:sp>
        <p:sp>
          <p:nvSpPr>
            <p:cNvPr id="11" name="TextBox 11"/>
            <p:cNvSpPr txBox="1"/>
            <p:nvPr/>
          </p:nvSpPr>
          <p:spPr>
            <a:xfrm>
              <a:off x="0" y="28575"/>
              <a:ext cx="3914517" cy="340542"/>
            </a:xfrm>
            <a:prstGeom prst="rect">
              <a:avLst/>
            </a:prstGeom>
          </p:spPr>
          <p:txBody>
            <a:bodyPr lIns="50800" tIns="50800" rIns="50800" bIns="50800" rtlCol="0" anchor="ctr"/>
            <a:lstStyle/>
            <a:p>
              <a:pPr marL="0" lvl="0" indent="0" algn="ctr">
                <a:lnSpc>
                  <a:spcPts val="2743"/>
                </a:lnSpc>
                <a:spcBef>
                  <a:spcPct val="0"/>
                </a:spcBef>
              </a:pPr>
              <a:endParaRPr/>
            </a:p>
          </p:txBody>
        </p:sp>
      </p:grpSp>
      <p:pic>
        <p:nvPicPr>
          <p:cNvPr id="12" name="Picture 12"/>
          <p:cNvPicPr>
            <a:picLocks noChangeAspect="1"/>
          </p:cNvPicPr>
          <p:nvPr/>
        </p:nvPicPr>
        <p:blipFill>
          <a:blip r:embed="rId6"/>
          <a:stretch>
            <a:fillRect/>
          </a:stretch>
        </p:blipFill>
        <p:spPr>
          <a:xfrm>
            <a:off x="4382808" y="1888475"/>
            <a:ext cx="13411727" cy="6331806"/>
          </a:xfrm>
          <a:prstGeom prst="rect">
            <a:avLst/>
          </a:prstGeom>
        </p:spPr>
      </p:pic>
      <p:sp>
        <p:nvSpPr>
          <p:cNvPr id="13" name="TextBox 13"/>
          <p:cNvSpPr txBox="1"/>
          <p:nvPr/>
        </p:nvSpPr>
        <p:spPr>
          <a:xfrm>
            <a:off x="1717296" y="7731287"/>
            <a:ext cx="14862932" cy="741045"/>
          </a:xfrm>
          <a:prstGeom prst="rect">
            <a:avLst/>
          </a:prstGeom>
        </p:spPr>
        <p:txBody>
          <a:bodyPr lIns="0" tIns="0" rIns="0" bIns="0" rtlCol="0" anchor="t">
            <a:spAutoFit/>
          </a:bodyPr>
          <a:lstStyle/>
          <a:p>
            <a:pPr algn="ctr">
              <a:lnSpc>
                <a:spcPts val="3074"/>
              </a:lnSpc>
            </a:pPr>
            <a:r>
              <a:rPr lang="en-US" sz="2049" spc="-40">
                <a:solidFill>
                  <a:srgbClr val="333333">
                    <a:alpha val="69804"/>
                  </a:srgbClr>
                </a:solidFill>
                <a:latin typeface="JASO Sans"/>
                <a:ea typeface="JASO Sans"/>
                <a:cs typeface="JASO Sans"/>
                <a:sym typeface="JASO Sans"/>
              </a:rPr>
              <a:t>글로벌 사용자 확장·높은 체류시간·멀티플랫폼 소비로 SNS 마케팅 영향력 확대하고 있는 시점에서,</a:t>
            </a:r>
          </a:p>
          <a:p>
            <a:pPr algn="ctr">
              <a:lnSpc>
                <a:spcPts val="3074"/>
              </a:lnSpc>
            </a:pPr>
            <a:r>
              <a:rPr lang="en-US" sz="2049" spc="-40">
                <a:solidFill>
                  <a:srgbClr val="333333">
                    <a:alpha val="69804"/>
                  </a:srgbClr>
                </a:solidFill>
                <a:latin typeface="JASO Sans"/>
                <a:ea typeface="JASO Sans"/>
                <a:cs typeface="JASO Sans"/>
                <a:sym typeface="JASO Sans"/>
              </a:rPr>
              <a:t>기업들은 더욱 창의적이고 개인화된 전략을 통해 소비자와의 연결을 강화하고 있습니다. </a:t>
            </a:r>
          </a:p>
        </p:txBody>
      </p:sp>
      <p:sp>
        <p:nvSpPr>
          <p:cNvPr id="14" name="TextBox 14"/>
          <p:cNvSpPr txBox="1"/>
          <p:nvPr/>
        </p:nvSpPr>
        <p:spPr>
          <a:xfrm>
            <a:off x="1969205" y="3365951"/>
            <a:ext cx="3389393" cy="400712"/>
          </a:xfrm>
          <a:prstGeom prst="rect">
            <a:avLst/>
          </a:prstGeom>
        </p:spPr>
        <p:txBody>
          <a:bodyPr lIns="0" tIns="0" rIns="0" bIns="0" rtlCol="0" anchor="t">
            <a:spAutoFit/>
          </a:bodyPr>
          <a:lstStyle/>
          <a:p>
            <a:pPr algn="l">
              <a:lnSpc>
                <a:spcPts val="3377"/>
              </a:lnSpc>
            </a:pPr>
            <a:r>
              <a:rPr lang="en-US" sz="2251" b="1" spc="-45">
                <a:solidFill>
                  <a:srgbClr val="333333"/>
                </a:solidFill>
                <a:latin typeface="JASO Sans Bold"/>
                <a:ea typeface="JASO Sans Bold"/>
                <a:cs typeface="JASO Sans Bold"/>
                <a:sym typeface="JASO Sans Bold"/>
              </a:rPr>
              <a:t>글로벌 소셜 사용 인구(억명)</a:t>
            </a:r>
          </a:p>
        </p:txBody>
      </p:sp>
      <p:sp>
        <p:nvSpPr>
          <p:cNvPr id="15" name="TextBox 15"/>
          <p:cNvSpPr txBox="1"/>
          <p:nvPr/>
        </p:nvSpPr>
        <p:spPr>
          <a:xfrm>
            <a:off x="5949364" y="3343929"/>
            <a:ext cx="4913441" cy="400712"/>
          </a:xfrm>
          <a:prstGeom prst="rect">
            <a:avLst/>
          </a:prstGeom>
        </p:spPr>
        <p:txBody>
          <a:bodyPr lIns="0" tIns="0" rIns="0" bIns="0" rtlCol="0" anchor="t">
            <a:spAutoFit/>
          </a:bodyPr>
          <a:lstStyle/>
          <a:p>
            <a:pPr algn="l">
              <a:lnSpc>
                <a:spcPts val="3377"/>
              </a:lnSpc>
            </a:pPr>
            <a:r>
              <a:rPr lang="en-US" sz="2251" b="1" spc="-45">
                <a:solidFill>
                  <a:srgbClr val="F8F8F8"/>
                </a:solidFill>
                <a:latin typeface="JASO Sans Bold"/>
                <a:ea typeface="JASO Sans Bold"/>
                <a:cs typeface="JASO Sans Bold"/>
                <a:sym typeface="JASO Sans Bold"/>
              </a:rPr>
              <a:t>54.2</a:t>
            </a:r>
          </a:p>
        </p:txBody>
      </p:sp>
      <p:sp>
        <p:nvSpPr>
          <p:cNvPr id="16" name="TextBox 16"/>
          <p:cNvSpPr txBox="1"/>
          <p:nvPr/>
        </p:nvSpPr>
        <p:spPr>
          <a:xfrm>
            <a:off x="5949364" y="4306843"/>
            <a:ext cx="4913441" cy="400712"/>
          </a:xfrm>
          <a:prstGeom prst="rect">
            <a:avLst/>
          </a:prstGeom>
        </p:spPr>
        <p:txBody>
          <a:bodyPr lIns="0" tIns="0" rIns="0" bIns="0" rtlCol="0" anchor="t">
            <a:spAutoFit/>
          </a:bodyPr>
          <a:lstStyle/>
          <a:p>
            <a:pPr algn="l">
              <a:lnSpc>
                <a:spcPts val="3377"/>
              </a:lnSpc>
            </a:pPr>
            <a:r>
              <a:rPr lang="en-US" sz="2251" b="1" spc="-45">
                <a:solidFill>
                  <a:srgbClr val="F8F8F8"/>
                </a:solidFill>
                <a:latin typeface="JASO Sans Bold"/>
                <a:ea typeface="JASO Sans Bold"/>
                <a:cs typeface="JASO Sans Bold"/>
                <a:sym typeface="JASO Sans Bold"/>
              </a:rPr>
              <a:t>151</a:t>
            </a:r>
          </a:p>
        </p:txBody>
      </p:sp>
      <p:sp>
        <p:nvSpPr>
          <p:cNvPr id="17" name="TextBox 17"/>
          <p:cNvSpPr txBox="1"/>
          <p:nvPr/>
        </p:nvSpPr>
        <p:spPr>
          <a:xfrm>
            <a:off x="5949364" y="5320106"/>
            <a:ext cx="4913441" cy="400712"/>
          </a:xfrm>
          <a:prstGeom prst="rect">
            <a:avLst/>
          </a:prstGeom>
        </p:spPr>
        <p:txBody>
          <a:bodyPr lIns="0" tIns="0" rIns="0" bIns="0" rtlCol="0" anchor="t">
            <a:spAutoFit/>
          </a:bodyPr>
          <a:lstStyle/>
          <a:p>
            <a:pPr algn="l">
              <a:lnSpc>
                <a:spcPts val="3377"/>
              </a:lnSpc>
            </a:pPr>
            <a:r>
              <a:rPr lang="en-US" sz="2251" b="1" spc="-45">
                <a:solidFill>
                  <a:srgbClr val="F8F8F8"/>
                </a:solidFill>
                <a:latin typeface="JASO Sans Bold"/>
                <a:ea typeface="JASO Sans Bold"/>
                <a:cs typeface="JASO Sans Bold"/>
                <a:sym typeface="JASO Sans Bold"/>
              </a:rPr>
              <a:t>3065</a:t>
            </a:r>
          </a:p>
        </p:txBody>
      </p:sp>
      <p:sp>
        <p:nvSpPr>
          <p:cNvPr id="18" name="TextBox 18"/>
          <p:cNvSpPr txBox="1"/>
          <p:nvPr/>
        </p:nvSpPr>
        <p:spPr>
          <a:xfrm>
            <a:off x="5949364" y="6283964"/>
            <a:ext cx="4913441" cy="400712"/>
          </a:xfrm>
          <a:prstGeom prst="rect">
            <a:avLst/>
          </a:prstGeom>
        </p:spPr>
        <p:txBody>
          <a:bodyPr lIns="0" tIns="0" rIns="0" bIns="0" rtlCol="0" anchor="t">
            <a:spAutoFit/>
          </a:bodyPr>
          <a:lstStyle/>
          <a:p>
            <a:pPr algn="l">
              <a:lnSpc>
                <a:spcPts val="3377"/>
              </a:lnSpc>
            </a:pPr>
            <a:r>
              <a:rPr lang="en-US" sz="2251" b="1" spc="-45">
                <a:solidFill>
                  <a:srgbClr val="F8F8F8"/>
                </a:solidFill>
                <a:latin typeface="JASO Sans Bold"/>
                <a:ea typeface="JASO Sans Bold"/>
                <a:cs typeface="JASO Sans Bold"/>
                <a:sym typeface="JASO Sans Bold"/>
              </a:rPr>
              <a:t>25074</a:t>
            </a:r>
          </a:p>
        </p:txBody>
      </p:sp>
      <p:sp>
        <p:nvSpPr>
          <p:cNvPr id="19" name="TextBox 19"/>
          <p:cNvSpPr txBox="1"/>
          <p:nvPr/>
        </p:nvSpPr>
        <p:spPr>
          <a:xfrm>
            <a:off x="1969205" y="4310608"/>
            <a:ext cx="3641302" cy="400712"/>
          </a:xfrm>
          <a:prstGeom prst="rect">
            <a:avLst/>
          </a:prstGeom>
        </p:spPr>
        <p:txBody>
          <a:bodyPr lIns="0" tIns="0" rIns="0" bIns="0" rtlCol="0" anchor="t">
            <a:spAutoFit/>
          </a:bodyPr>
          <a:lstStyle/>
          <a:p>
            <a:pPr algn="l">
              <a:lnSpc>
                <a:spcPts val="3377"/>
              </a:lnSpc>
            </a:pPr>
            <a:r>
              <a:rPr lang="en-US" sz="2251" b="1" spc="-45">
                <a:solidFill>
                  <a:srgbClr val="7F7F7F"/>
                </a:solidFill>
                <a:latin typeface="JASO Sans Bold"/>
                <a:ea typeface="JASO Sans Bold"/>
                <a:cs typeface="JASO Sans Bold"/>
                <a:sym typeface="JASO Sans Bold"/>
              </a:rPr>
              <a:t>하루 평균 소셜 사용 시간(분)</a:t>
            </a:r>
          </a:p>
        </p:txBody>
      </p:sp>
      <p:sp>
        <p:nvSpPr>
          <p:cNvPr id="20" name="TextBox 20"/>
          <p:cNvSpPr txBox="1"/>
          <p:nvPr/>
        </p:nvSpPr>
        <p:spPr>
          <a:xfrm>
            <a:off x="1969205" y="5320106"/>
            <a:ext cx="3641302" cy="400712"/>
          </a:xfrm>
          <a:prstGeom prst="rect">
            <a:avLst/>
          </a:prstGeom>
        </p:spPr>
        <p:txBody>
          <a:bodyPr lIns="0" tIns="0" rIns="0" bIns="0" rtlCol="0" anchor="t">
            <a:spAutoFit/>
          </a:bodyPr>
          <a:lstStyle/>
          <a:p>
            <a:pPr algn="l">
              <a:lnSpc>
                <a:spcPts val="3377"/>
              </a:lnSpc>
            </a:pPr>
            <a:r>
              <a:rPr lang="en-US" sz="2251" b="1" spc="-45">
                <a:solidFill>
                  <a:srgbClr val="333333"/>
                </a:solidFill>
                <a:latin typeface="JASO Sans Bold"/>
                <a:ea typeface="JASO Sans Bold"/>
                <a:cs typeface="JASO Sans Bold"/>
                <a:sym typeface="JASO Sans Bold"/>
              </a:rPr>
              <a:t>월간 활성 사용자 (백만)</a:t>
            </a:r>
          </a:p>
        </p:txBody>
      </p:sp>
      <p:sp>
        <p:nvSpPr>
          <p:cNvPr id="21" name="TextBox 21"/>
          <p:cNvSpPr txBox="1"/>
          <p:nvPr/>
        </p:nvSpPr>
        <p:spPr>
          <a:xfrm>
            <a:off x="1969205" y="6320475"/>
            <a:ext cx="3389393" cy="400712"/>
          </a:xfrm>
          <a:prstGeom prst="rect">
            <a:avLst/>
          </a:prstGeom>
        </p:spPr>
        <p:txBody>
          <a:bodyPr lIns="0" tIns="0" rIns="0" bIns="0" rtlCol="0" anchor="t">
            <a:spAutoFit/>
          </a:bodyPr>
          <a:lstStyle/>
          <a:p>
            <a:pPr algn="l">
              <a:lnSpc>
                <a:spcPts val="3377"/>
              </a:lnSpc>
            </a:pPr>
            <a:r>
              <a:rPr lang="en-US" sz="2251" b="1" spc="-45">
                <a:solidFill>
                  <a:srgbClr val="7F7F7F"/>
                </a:solidFill>
                <a:latin typeface="JASO Sans Bold"/>
                <a:ea typeface="JASO Sans Bold"/>
                <a:cs typeface="JASO Sans Bold"/>
                <a:sym typeface="JASO Sans Bold"/>
              </a:rPr>
              <a:t>연간 활성 사용자 (백만)</a:t>
            </a:r>
          </a:p>
        </p:txBody>
      </p:sp>
      <p:sp>
        <p:nvSpPr>
          <p:cNvPr id="22" name="Freeform 22"/>
          <p:cNvSpPr/>
          <p:nvPr/>
        </p:nvSpPr>
        <p:spPr>
          <a:xfrm>
            <a:off x="1717296" y="3530033"/>
            <a:ext cx="172710" cy="131691"/>
          </a:xfrm>
          <a:custGeom>
            <a:avLst/>
            <a:gdLst/>
            <a:ahLst/>
            <a:cxnLst/>
            <a:rect l="l" t="t" r="r" b="b"/>
            <a:pathLst>
              <a:path w="172710" h="131691">
                <a:moveTo>
                  <a:pt x="0" y="0"/>
                </a:moveTo>
                <a:lnTo>
                  <a:pt x="172710" y="0"/>
                </a:lnTo>
                <a:lnTo>
                  <a:pt x="172710" y="131691"/>
                </a:lnTo>
                <a:lnTo>
                  <a:pt x="0" y="131691"/>
                </a:lnTo>
                <a:lnTo>
                  <a:pt x="0" y="0"/>
                </a:lnTo>
                <a:close/>
              </a:path>
            </a:pathLst>
          </a:custGeom>
          <a:blipFill>
            <a:blip r:embed="rId7">
              <a:extLst>
                <a:ext uri="{96DAC541-7B7A-43D3-8B79-37D633B846F1}">
                  <asvg:svgBlip xmlns:asvg="http://schemas.microsoft.com/office/drawing/2016/SVG/main" xmlns="" r:embed="rId8"/>
                </a:ext>
              </a:extLst>
            </a:blip>
            <a:stretch>
              <a:fillRect/>
            </a:stretch>
          </a:blipFill>
        </p:spPr>
      </p:sp>
      <p:sp>
        <p:nvSpPr>
          <p:cNvPr id="23" name="Freeform 23"/>
          <p:cNvSpPr/>
          <p:nvPr/>
        </p:nvSpPr>
        <p:spPr>
          <a:xfrm>
            <a:off x="1717296" y="4474691"/>
            <a:ext cx="172710" cy="131691"/>
          </a:xfrm>
          <a:custGeom>
            <a:avLst/>
            <a:gdLst/>
            <a:ahLst/>
            <a:cxnLst/>
            <a:rect l="l" t="t" r="r" b="b"/>
            <a:pathLst>
              <a:path w="172710" h="131691">
                <a:moveTo>
                  <a:pt x="0" y="0"/>
                </a:moveTo>
                <a:lnTo>
                  <a:pt x="172710" y="0"/>
                </a:lnTo>
                <a:lnTo>
                  <a:pt x="172710" y="131691"/>
                </a:lnTo>
                <a:lnTo>
                  <a:pt x="0" y="131691"/>
                </a:lnTo>
                <a:lnTo>
                  <a:pt x="0" y="0"/>
                </a:lnTo>
                <a:close/>
              </a:path>
            </a:pathLst>
          </a:custGeom>
          <a:blipFill>
            <a:blip r:embed="rId7">
              <a:extLst>
                <a:ext uri="{96DAC541-7B7A-43D3-8B79-37D633B846F1}">
                  <asvg:svgBlip xmlns:asvg="http://schemas.microsoft.com/office/drawing/2016/SVG/main" xmlns="" r:embed="rId8"/>
                </a:ext>
              </a:extLst>
            </a:blip>
            <a:stretch>
              <a:fillRect/>
            </a:stretch>
          </a:blipFill>
        </p:spPr>
      </p:sp>
      <p:sp>
        <p:nvSpPr>
          <p:cNvPr id="24" name="Freeform 24"/>
          <p:cNvSpPr/>
          <p:nvPr/>
        </p:nvSpPr>
        <p:spPr>
          <a:xfrm>
            <a:off x="1717296" y="5484188"/>
            <a:ext cx="172710" cy="131691"/>
          </a:xfrm>
          <a:custGeom>
            <a:avLst/>
            <a:gdLst/>
            <a:ahLst/>
            <a:cxnLst/>
            <a:rect l="l" t="t" r="r" b="b"/>
            <a:pathLst>
              <a:path w="172710" h="131691">
                <a:moveTo>
                  <a:pt x="0" y="0"/>
                </a:moveTo>
                <a:lnTo>
                  <a:pt x="172710" y="0"/>
                </a:lnTo>
                <a:lnTo>
                  <a:pt x="172710" y="131691"/>
                </a:lnTo>
                <a:lnTo>
                  <a:pt x="0" y="131691"/>
                </a:lnTo>
                <a:lnTo>
                  <a:pt x="0" y="0"/>
                </a:lnTo>
                <a:close/>
              </a:path>
            </a:pathLst>
          </a:custGeom>
          <a:blipFill>
            <a:blip r:embed="rId7">
              <a:extLst>
                <a:ext uri="{96DAC541-7B7A-43D3-8B79-37D633B846F1}">
                  <asvg:svgBlip xmlns:asvg="http://schemas.microsoft.com/office/drawing/2016/SVG/main" xmlns="" r:embed="rId8"/>
                </a:ext>
              </a:extLst>
            </a:blip>
            <a:stretch>
              <a:fillRect/>
            </a:stretch>
          </a:blipFill>
        </p:spPr>
      </p:sp>
      <p:sp>
        <p:nvSpPr>
          <p:cNvPr id="25" name="Freeform 25"/>
          <p:cNvSpPr/>
          <p:nvPr/>
        </p:nvSpPr>
        <p:spPr>
          <a:xfrm>
            <a:off x="1717296" y="6484558"/>
            <a:ext cx="172710" cy="131691"/>
          </a:xfrm>
          <a:custGeom>
            <a:avLst/>
            <a:gdLst/>
            <a:ahLst/>
            <a:cxnLst/>
            <a:rect l="l" t="t" r="r" b="b"/>
            <a:pathLst>
              <a:path w="172710" h="131691">
                <a:moveTo>
                  <a:pt x="0" y="0"/>
                </a:moveTo>
                <a:lnTo>
                  <a:pt x="172710" y="0"/>
                </a:lnTo>
                <a:lnTo>
                  <a:pt x="172710" y="131691"/>
                </a:lnTo>
                <a:lnTo>
                  <a:pt x="0" y="131691"/>
                </a:lnTo>
                <a:lnTo>
                  <a:pt x="0" y="0"/>
                </a:lnTo>
                <a:close/>
              </a:path>
            </a:pathLst>
          </a:custGeom>
          <a:blipFill>
            <a:blip r:embed="rId7">
              <a:extLst>
                <a:ext uri="{96DAC541-7B7A-43D3-8B79-37D633B846F1}">
                  <asvg:svgBlip xmlns:asvg="http://schemas.microsoft.com/office/drawing/2016/SVG/main" xmlns="" r:embed="rId8"/>
                </a:ext>
              </a:extLst>
            </a:blip>
            <a:stretch>
              <a:fillRect/>
            </a:stretch>
          </a:blipFill>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954873" cy="10287000"/>
            <a:chOff x="0" y="0"/>
            <a:chExt cx="211667" cy="2280318"/>
          </a:xfrm>
        </p:grpSpPr>
        <p:sp>
          <p:nvSpPr>
            <p:cNvPr id="3" name="Freeform 3"/>
            <p:cNvSpPr/>
            <p:nvPr/>
          </p:nvSpPr>
          <p:spPr>
            <a:xfrm>
              <a:off x="0" y="0"/>
              <a:ext cx="211667" cy="2280318"/>
            </a:xfrm>
            <a:custGeom>
              <a:avLst/>
              <a:gdLst/>
              <a:ahLst/>
              <a:cxnLst/>
              <a:rect l="l" t="t" r="r" b="b"/>
              <a:pathLst>
                <a:path w="211667" h="2280318">
                  <a:moveTo>
                    <a:pt x="0" y="0"/>
                  </a:moveTo>
                  <a:lnTo>
                    <a:pt x="211667" y="0"/>
                  </a:lnTo>
                  <a:lnTo>
                    <a:pt x="211667" y="2280318"/>
                  </a:lnTo>
                  <a:lnTo>
                    <a:pt x="0" y="2280318"/>
                  </a:lnTo>
                  <a:close/>
                </a:path>
              </a:pathLst>
            </a:custGeom>
            <a:solidFill>
              <a:srgbClr val="9F3838"/>
            </a:solidFill>
          </p:spPr>
        </p:sp>
        <p:sp>
          <p:nvSpPr>
            <p:cNvPr id="4" name="TextBox 4"/>
            <p:cNvSpPr txBox="1"/>
            <p:nvPr/>
          </p:nvSpPr>
          <p:spPr>
            <a:xfrm>
              <a:off x="0" y="-47625"/>
              <a:ext cx="211667" cy="2327943"/>
            </a:xfrm>
            <a:prstGeom prst="rect">
              <a:avLst/>
            </a:prstGeom>
          </p:spPr>
          <p:txBody>
            <a:bodyPr lIns="50800" tIns="50800" rIns="50800" bIns="50800" rtlCol="0" anchor="ctr"/>
            <a:lstStyle/>
            <a:p>
              <a:pPr algn="ctr">
                <a:lnSpc>
                  <a:spcPts val="2587"/>
                </a:lnSpc>
              </a:pPr>
              <a:endParaRPr/>
            </a:p>
          </p:txBody>
        </p:sp>
      </p:grpSp>
      <p:sp>
        <p:nvSpPr>
          <p:cNvPr id="5" name="TextBox 5"/>
          <p:cNvSpPr txBox="1"/>
          <p:nvPr/>
        </p:nvSpPr>
        <p:spPr>
          <a:xfrm>
            <a:off x="3299038" y="3368539"/>
            <a:ext cx="9759738" cy="1275556"/>
          </a:xfrm>
          <a:prstGeom prst="rect">
            <a:avLst/>
          </a:prstGeom>
        </p:spPr>
        <p:txBody>
          <a:bodyPr lIns="0" tIns="0" rIns="0" bIns="0" rtlCol="0" anchor="t">
            <a:spAutoFit/>
          </a:bodyPr>
          <a:lstStyle/>
          <a:p>
            <a:pPr marL="0" lvl="0" indent="0" algn="l">
              <a:lnSpc>
                <a:spcPts val="9649"/>
              </a:lnSpc>
            </a:pPr>
            <a:r>
              <a:rPr lang="en-US" sz="9460" b="1" spc="-189">
                <a:solidFill>
                  <a:srgbClr val="333333"/>
                </a:solidFill>
                <a:latin typeface="JASO Sans Bold"/>
                <a:ea typeface="JASO Sans Bold"/>
                <a:cs typeface="JASO Sans Bold"/>
                <a:sym typeface="JASO Sans Bold"/>
              </a:rPr>
              <a:t>경청해주셔서</a:t>
            </a:r>
          </a:p>
        </p:txBody>
      </p:sp>
      <p:sp>
        <p:nvSpPr>
          <p:cNvPr id="6" name="TextBox 6"/>
          <p:cNvSpPr txBox="1"/>
          <p:nvPr/>
        </p:nvSpPr>
        <p:spPr>
          <a:xfrm>
            <a:off x="3270463" y="4715670"/>
            <a:ext cx="10728021" cy="1278518"/>
          </a:xfrm>
          <a:prstGeom prst="rect">
            <a:avLst/>
          </a:prstGeom>
        </p:spPr>
        <p:txBody>
          <a:bodyPr lIns="0" tIns="0" rIns="0" bIns="0" rtlCol="0" anchor="t">
            <a:spAutoFit/>
          </a:bodyPr>
          <a:lstStyle/>
          <a:p>
            <a:pPr marL="0" lvl="0" indent="0" algn="l">
              <a:lnSpc>
                <a:spcPts val="9649"/>
              </a:lnSpc>
            </a:pPr>
            <a:r>
              <a:rPr lang="en-US" sz="9460" b="1" spc="-189">
                <a:solidFill>
                  <a:srgbClr val="9F3838"/>
                </a:solidFill>
                <a:latin typeface="JASO Sans Bold"/>
                <a:ea typeface="JASO Sans Bold"/>
                <a:cs typeface="JASO Sans Bold"/>
                <a:sym typeface="JASO Sans Bold"/>
              </a:rPr>
              <a:t>감사합니다.</a:t>
            </a:r>
          </a:p>
        </p:txBody>
      </p:sp>
      <p:sp>
        <p:nvSpPr>
          <p:cNvPr id="7" name="Freeform 7"/>
          <p:cNvSpPr/>
          <p:nvPr/>
        </p:nvSpPr>
        <p:spPr>
          <a:xfrm>
            <a:off x="13327537" y="3374237"/>
            <a:ext cx="2536411" cy="2444466"/>
          </a:xfrm>
          <a:custGeom>
            <a:avLst/>
            <a:gdLst/>
            <a:ahLst/>
            <a:cxnLst/>
            <a:rect l="l" t="t" r="r" b="b"/>
            <a:pathLst>
              <a:path w="2536411" h="2444466">
                <a:moveTo>
                  <a:pt x="0" y="0"/>
                </a:moveTo>
                <a:lnTo>
                  <a:pt x="2536411" y="0"/>
                </a:lnTo>
                <a:lnTo>
                  <a:pt x="2536411" y="2444466"/>
                </a:lnTo>
                <a:lnTo>
                  <a:pt x="0" y="2444466"/>
                </a:lnTo>
                <a:lnTo>
                  <a:pt x="0" y="0"/>
                </a:lnTo>
                <a:close/>
              </a:path>
            </a:pathLst>
          </a:custGeom>
          <a:blipFill>
            <a:blip r:embed="rId2">
              <a:alphaModFix amt="15000"/>
              <a:extLst>
                <a:ext uri="{96DAC541-7B7A-43D3-8B79-37D633B846F1}">
                  <asvg:svgBlip xmlns:asvg="http://schemas.microsoft.com/office/drawing/2016/SVG/main" xmlns="" r:embed="rId3"/>
                </a:ext>
              </a:extLst>
            </a:blip>
            <a:stretch>
              <a:fillRect/>
            </a:stretch>
          </a:blipFill>
        </p:spPr>
      </p:sp>
      <p:sp>
        <p:nvSpPr>
          <p:cNvPr id="8" name="TextBox 8"/>
          <p:cNvSpPr txBox="1"/>
          <p:nvPr/>
        </p:nvSpPr>
        <p:spPr>
          <a:xfrm>
            <a:off x="3369401" y="6149734"/>
            <a:ext cx="10520872" cy="298977"/>
          </a:xfrm>
          <a:prstGeom prst="rect">
            <a:avLst/>
          </a:prstGeom>
        </p:spPr>
        <p:txBody>
          <a:bodyPr lIns="0" tIns="0" rIns="0" bIns="0" rtlCol="0" anchor="t">
            <a:spAutoFit/>
          </a:bodyPr>
          <a:lstStyle/>
          <a:p>
            <a:pPr algn="l">
              <a:lnSpc>
                <a:spcPts val="2587"/>
              </a:lnSpc>
            </a:pPr>
            <a:r>
              <a:rPr lang="en-US" sz="1679" spc="-16">
                <a:solidFill>
                  <a:srgbClr val="333333">
                    <a:alpha val="45882"/>
                  </a:srgbClr>
                </a:solidFill>
                <a:latin typeface="JASO Sans"/>
                <a:ea typeface="JASO Sans"/>
                <a:cs typeface="JASO Sans"/>
                <a:sym typeface="JASO Sans"/>
              </a:rPr>
              <a:t>본 프로젝트에 문의하실 점이 있으시면 언제든 연락 부탁드립니다. </a:t>
            </a:r>
          </a:p>
        </p:txBody>
      </p:sp>
      <p:sp>
        <p:nvSpPr>
          <p:cNvPr id="9" name="TextBox 9"/>
          <p:cNvSpPr txBox="1"/>
          <p:nvPr/>
        </p:nvSpPr>
        <p:spPr>
          <a:xfrm>
            <a:off x="3378926" y="2670467"/>
            <a:ext cx="4279199" cy="435104"/>
          </a:xfrm>
          <a:prstGeom prst="rect">
            <a:avLst/>
          </a:prstGeom>
        </p:spPr>
        <p:txBody>
          <a:bodyPr lIns="0" tIns="0" rIns="0" bIns="0" rtlCol="0" anchor="t">
            <a:spAutoFit/>
          </a:bodyPr>
          <a:lstStyle/>
          <a:p>
            <a:pPr marL="0" lvl="0" indent="0" algn="l">
              <a:lnSpc>
                <a:spcPts val="3313"/>
              </a:lnSpc>
            </a:pPr>
            <a:r>
              <a:rPr lang="en-US" sz="3248" b="1" spc="-64">
                <a:solidFill>
                  <a:srgbClr val="333333"/>
                </a:solidFill>
                <a:latin typeface="JASO Sans Bold"/>
                <a:ea typeface="JASO Sans Bold"/>
                <a:cs typeface="JASO Sans Bold"/>
                <a:sym typeface="JASO Sans Bold"/>
              </a:rPr>
              <a:t>SNS 마케팅 전략 제안 </a:t>
            </a:r>
          </a:p>
        </p:txBody>
      </p:sp>
      <p:sp>
        <p:nvSpPr>
          <p:cNvPr id="10" name="TextBox 10"/>
          <p:cNvSpPr txBox="1"/>
          <p:nvPr/>
        </p:nvSpPr>
        <p:spPr>
          <a:xfrm rot="-5400000">
            <a:off x="-1208059" y="5065309"/>
            <a:ext cx="3444819" cy="156381"/>
          </a:xfrm>
          <a:prstGeom prst="rect">
            <a:avLst/>
          </a:prstGeom>
        </p:spPr>
        <p:txBody>
          <a:bodyPr lIns="0" tIns="0" rIns="0" bIns="0" rtlCol="0" anchor="t">
            <a:spAutoFit/>
          </a:bodyPr>
          <a:lstStyle/>
          <a:p>
            <a:pPr algn="ctr">
              <a:lnSpc>
                <a:spcPts val="1079"/>
              </a:lnSpc>
            </a:pPr>
            <a:r>
              <a:rPr lang="en-US" sz="1300" spc="110">
                <a:solidFill>
                  <a:srgbClr val="F1F1F1"/>
                </a:solidFill>
                <a:latin typeface="Poppins"/>
                <a:ea typeface="Poppins"/>
                <a:cs typeface="Poppins"/>
                <a:sym typeface="Poppins"/>
              </a:rPr>
              <a:t>www.reallygreatsite.com</a:t>
            </a:r>
          </a:p>
        </p:txBody>
      </p:sp>
      <p:sp>
        <p:nvSpPr>
          <p:cNvPr id="11" name="AutoShape 11"/>
          <p:cNvSpPr/>
          <p:nvPr/>
        </p:nvSpPr>
        <p:spPr>
          <a:xfrm>
            <a:off x="3378926" y="7134079"/>
            <a:ext cx="12485022" cy="0"/>
          </a:xfrm>
          <a:prstGeom prst="line">
            <a:avLst/>
          </a:prstGeom>
          <a:ln w="9525" cap="flat">
            <a:solidFill>
              <a:srgbClr val="333333"/>
            </a:solidFill>
            <a:prstDash val="solid"/>
            <a:headEnd type="none" w="sm" len="sm"/>
            <a:tailEnd type="none" w="sm" len="sm"/>
          </a:ln>
        </p:spPr>
      </p:sp>
      <p:sp>
        <p:nvSpPr>
          <p:cNvPr id="12" name="AutoShape 12"/>
          <p:cNvSpPr/>
          <p:nvPr/>
        </p:nvSpPr>
        <p:spPr>
          <a:xfrm>
            <a:off x="5555731" y="7444970"/>
            <a:ext cx="0" cy="207696"/>
          </a:xfrm>
          <a:prstGeom prst="line">
            <a:avLst/>
          </a:prstGeom>
          <a:ln w="9525" cap="flat">
            <a:solidFill>
              <a:srgbClr val="333333"/>
            </a:solidFill>
            <a:prstDash val="solid"/>
            <a:headEnd type="none" w="sm" len="sm"/>
            <a:tailEnd type="none" w="sm" len="sm"/>
          </a:ln>
        </p:spPr>
      </p:sp>
      <p:sp>
        <p:nvSpPr>
          <p:cNvPr id="13" name="TextBox 13"/>
          <p:cNvSpPr txBox="1"/>
          <p:nvPr/>
        </p:nvSpPr>
        <p:spPr>
          <a:xfrm>
            <a:off x="3373847" y="7421613"/>
            <a:ext cx="2043327" cy="244885"/>
          </a:xfrm>
          <a:prstGeom prst="rect">
            <a:avLst/>
          </a:prstGeom>
        </p:spPr>
        <p:txBody>
          <a:bodyPr lIns="0" tIns="0" rIns="0" bIns="0" rtlCol="0" anchor="t">
            <a:spAutoFit/>
          </a:bodyPr>
          <a:lstStyle/>
          <a:p>
            <a:pPr algn="l">
              <a:lnSpc>
                <a:spcPts val="2047"/>
              </a:lnSpc>
            </a:pPr>
            <a:r>
              <a:rPr lang="en-US" sz="1563" spc="-31">
                <a:solidFill>
                  <a:srgbClr val="333333"/>
                </a:solidFill>
                <a:latin typeface="JASO Sans"/>
                <a:ea typeface="JASO Sans"/>
                <a:cs typeface="JASO Sans"/>
                <a:sym typeface="JASO Sans"/>
              </a:rPr>
              <a:t>라라나 마케팅 1팀 이수진</a:t>
            </a:r>
          </a:p>
        </p:txBody>
      </p:sp>
      <p:sp>
        <p:nvSpPr>
          <p:cNvPr id="14" name="TextBox 14"/>
          <p:cNvSpPr txBox="1"/>
          <p:nvPr/>
        </p:nvSpPr>
        <p:spPr>
          <a:xfrm>
            <a:off x="5790092" y="7459713"/>
            <a:ext cx="2360239" cy="180086"/>
          </a:xfrm>
          <a:prstGeom prst="rect">
            <a:avLst/>
          </a:prstGeom>
        </p:spPr>
        <p:txBody>
          <a:bodyPr lIns="0" tIns="0" rIns="0" bIns="0" rtlCol="0" anchor="t">
            <a:spAutoFit/>
          </a:bodyPr>
          <a:lstStyle/>
          <a:p>
            <a:pPr algn="l">
              <a:lnSpc>
                <a:spcPts val="1162"/>
              </a:lnSpc>
            </a:pPr>
            <a:r>
              <a:rPr lang="en-US" sz="1400" spc="23">
                <a:solidFill>
                  <a:srgbClr val="333333"/>
                </a:solidFill>
                <a:latin typeface="Poppins"/>
                <a:ea typeface="Poppins"/>
                <a:cs typeface="Poppins"/>
                <a:sym typeface="Poppins"/>
              </a:rPr>
              <a:t>www.reallygreatsite.com</a:t>
            </a:r>
          </a:p>
        </p:txBody>
      </p:sp>
      <p:sp>
        <p:nvSpPr>
          <p:cNvPr id="15" name="Freeform 15"/>
          <p:cNvSpPr/>
          <p:nvPr/>
        </p:nvSpPr>
        <p:spPr>
          <a:xfrm rot="-5400000">
            <a:off x="17537790" y="305848"/>
            <a:ext cx="82863" cy="368281"/>
          </a:xfrm>
          <a:custGeom>
            <a:avLst/>
            <a:gdLst/>
            <a:ahLst/>
            <a:cxnLst/>
            <a:rect l="l" t="t" r="r" b="b"/>
            <a:pathLst>
              <a:path w="82863" h="368281">
                <a:moveTo>
                  <a:pt x="0" y="0"/>
                </a:moveTo>
                <a:lnTo>
                  <a:pt x="82864" y="0"/>
                </a:lnTo>
                <a:lnTo>
                  <a:pt x="82864" y="368282"/>
                </a:lnTo>
                <a:lnTo>
                  <a:pt x="0" y="368282"/>
                </a:lnTo>
                <a:lnTo>
                  <a:pt x="0" y="0"/>
                </a:lnTo>
                <a:close/>
              </a:path>
            </a:pathLst>
          </a:custGeom>
          <a:blipFill>
            <a:blip r:embed="rId4">
              <a:alphaModFix amt="50000"/>
              <a:extLst>
                <a:ext uri="{96DAC541-7B7A-43D3-8B79-37D633B846F1}">
                  <asvg:svgBlip xmlns:asvg="http://schemas.microsoft.com/office/drawing/2016/SVG/main" xmlns="" r:embed="rId5"/>
                </a:ext>
              </a:extLst>
            </a:blip>
            <a:stretch>
              <a:fillRect/>
            </a:stretch>
          </a:blipFill>
          <a:ln cap="sq">
            <a:noFill/>
            <a:prstDash val="solid"/>
            <a:miter/>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658</Words>
  <Application>Microsoft Office PowerPoint</Application>
  <PresentationFormat>사용자 지정</PresentationFormat>
  <Paragraphs>115</Paragraphs>
  <Slides>10</Slides>
  <Notes>0</Notes>
  <HiddenSlides>0</HiddenSlides>
  <MMClips>0</MMClips>
  <ScaleCrop>false</ScaleCrop>
  <HeadingPairs>
    <vt:vector size="6" baseType="variant">
      <vt:variant>
        <vt:lpstr>사용한 글꼴</vt:lpstr>
      </vt:variant>
      <vt:variant>
        <vt:i4>6</vt:i4>
      </vt:variant>
      <vt:variant>
        <vt:lpstr>테마</vt:lpstr>
      </vt:variant>
      <vt:variant>
        <vt:i4>1</vt:i4>
      </vt:variant>
      <vt:variant>
        <vt:lpstr>슬라이드 제목</vt:lpstr>
      </vt:variant>
      <vt:variant>
        <vt:i4>10</vt:i4>
      </vt:variant>
    </vt:vector>
  </HeadingPairs>
  <TitlesOfParts>
    <vt:vector size="17" baseType="lpstr">
      <vt:lpstr>Calibri</vt:lpstr>
      <vt:lpstr>Arial</vt:lpstr>
      <vt:lpstr>Poppins</vt:lpstr>
      <vt:lpstr>Poppins Bold</vt:lpstr>
      <vt:lpstr>JASO Sans Bold</vt:lpstr>
      <vt:lpstr>JASO Sans</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빨간색과 회색 전문적인 SNS 마케팅 비즈니스 전략 발표 제안서 프레젠테이션</dc:title>
  <cp:lastModifiedBy>User</cp:lastModifiedBy>
  <cp:revision>2</cp:revision>
  <dcterms:created xsi:type="dcterms:W3CDTF">2006-08-16T00:00:00Z</dcterms:created>
  <dcterms:modified xsi:type="dcterms:W3CDTF">2026-05-09T16:43:12Z</dcterms:modified>
  <dc:identifier>DAHJMBVYKFs</dc:identifier>
</cp:coreProperties>
</file>