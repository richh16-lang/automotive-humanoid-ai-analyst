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윤고딕 Bold" charset="1" panose="020B0803000000000000"/>
      <p:regular r:id="rId16"/>
    </p:embeddedFont>
    <p:embeddedFont>
      <p:font typeface="윤고딕" charset="1" panose="020B0503000000000000"/>
      <p:regular r:id="rId17"/>
    </p:embeddedFont>
    <p:embeddedFont>
      <p:font typeface="Garet" charset="1" panose="00000000000000000000"/>
      <p:regular r:id="rId18"/>
    </p:embeddedFont>
    <p:embeddedFont>
      <p:font typeface="Nanum Gothic Bold" charset="1" panose="020D0804000000000000"/>
      <p:regular r:id="rId19"/>
    </p:embeddedFont>
    <p:embeddedFont>
      <p:font typeface="Nanum Gothic" charset="1" panose="020D0604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781146" y="7706532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87835" y="1266825"/>
            <a:ext cx="8456165" cy="368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4"/>
              </a:lnSpc>
            </a:pPr>
            <a:r>
              <a:rPr lang="en-US" sz="13172" spc="-922">
                <a:solidFill>
                  <a:srgbClr val="211E1B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</a:t>
            </a:r>
          </a:p>
          <a:p>
            <a:pPr algn="l">
              <a:lnSpc>
                <a:spcPts val="13304"/>
              </a:lnSpc>
            </a:pPr>
            <a:r>
              <a:rPr lang="en-US" sz="13172" spc="-922">
                <a:solidFill>
                  <a:srgbClr val="211E1B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제안서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82784" y="692395"/>
            <a:ext cx="953032" cy="9530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70312" y="8682446"/>
            <a:ext cx="513721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 spc="309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디자인학과 3학년 1팀장 김보라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0312" y="8253718"/>
            <a:ext cx="5137210" cy="3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943" y="7211344"/>
            <a:ext cx="5137210" cy="3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2030. 10. 10.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7835" y="5114095"/>
            <a:ext cx="12436606" cy="91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  <a:spcBef>
                <a:spcPct val="0"/>
              </a:spcBef>
            </a:pPr>
            <a:r>
              <a:rPr lang="en-US" b="true" sz="5373" spc="-429">
                <a:solidFill>
                  <a:srgbClr val="545454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스마트 물류 시스템 구축 프로젝트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64418" y="1740677"/>
            <a:ext cx="2502687" cy="25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9"/>
              </a:lnSpc>
              <a:spcBef>
                <a:spcPct val="0"/>
              </a:spcBef>
            </a:pPr>
            <a:r>
              <a:rPr lang="en-US" sz="1499" spc="-119">
                <a:solidFill>
                  <a:srgbClr val="545454"/>
                </a:solidFill>
                <a:latin typeface="Nanum Gothic"/>
                <a:ea typeface="Nanum Gothic"/>
                <a:cs typeface="Nanum Gothic"/>
                <a:sym typeface="Nanum Gothic"/>
              </a:rPr>
              <a:t>가치를 연결하는 스마트 솔루션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4167" y="3884018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341183"/>
            <a:chOff x="0" y="0"/>
            <a:chExt cx="812800" cy="1040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04053"/>
            </a:xfrm>
            <a:custGeom>
              <a:avLst/>
              <a:gdLst/>
              <a:ahLst/>
              <a:cxnLst/>
              <a:rect r="r" b="b" t="t" l="l"/>
              <a:pathLst>
                <a:path h="1040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4053"/>
                  </a:lnTo>
                  <a:lnTo>
                    <a:pt x="0" y="104053"/>
                  </a:lnTo>
                  <a:close/>
                </a:path>
              </a:pathLst>
            </a:custGeom>
            <a:blipFill>
              <a:blip r:embed="rId2"/>
              <a:stretch>
                <a:fillRect l="0" t="-210218" r="0" b="-21021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86981" y="5427068"/>
            <a:ext cx="788682" cy="7886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6981" y="6337085"/>
            <a:ext cx="788682" cy="7886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14490" y="2600607"/>
            <a:ext cx="7684303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목차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00572" y="5221329"/>
            <a:ext cx="6515928" cy="354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프로젝트 범위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전략 및 해결 방법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주요일정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리스크관리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6825" y="5221329"/>
            <a:ext cx="4875777" cy="354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문제 제기 및 시장 분석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프로젝트 목표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프로젝트의 필요성</a:t>
            </a:r>
          </a:p>
          <a:p>
            <a:pPr algn="just">
              <a:lnSpc>
                <a:spcPts val="7269"/>
              </a:lnSpc>
            </a:pPr>
            <a:r>
              <a:rPr lang="en-US" sz="3202" spc="-144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프로젝트 목표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86981" y="7247103"/>
            <a:ext cx="788682" cy="788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86981" y="8157120"/>
            <a:ext cx="788682" cy="788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14478" y="5427068"/>
            <a:ext cx="788682" cy="7886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14478" y="6337085"/>
            <a:ext cx="788682" cy="7886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4478" y="7247103"/>
            <a:ext cx="788682" cy="78868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14478" y="8159610"/>
            <a:ext cx="788682" cy="78868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301972" y="5316579"/>
            <a:ext cx="659009" cy="353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1.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2.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3.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4.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37242" y="5355486"/>
            <a:ext cx="659009" cy="353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5.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6.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7.</a:t>
            </a:r>
          </a:p>
          <a:p>
            <a:pPr algn="just">
              <a:lnSpc>
                <a:spcPts val="6892"/>
              </a:lnSpc>
            </a:pPr>
            <a:r>
              <a:rPr lang="en-US" sz="3725" spc="-167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8.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2024949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311142" y="4154316"/>
            <a:ext cx="11698923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77902" y="4789770"/>
            <a:ext cx="3453320" cy="999731"/>
            <a:chOff x="0" y="0"/>
            <a:chExt cx="909516" cy="263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9516" cy="263304"/>
            </a:xfrm>
            <a:custGeom>
              <a:avLst/>
              <a:gdLst/>
              <a:ahLst/>
              <a:cxnLst/>
              <a:rect r="r" b="b" t="t" l="l"/>
              <a:pathLst>
                <a:path h="263304" w="909516">
                  <a:moveTo>
                    <a:pt x="35870" y="0"/>
                  </a:moveTo>
                  <a:lnTo>
                    <a:pt x="873646" y="0"/>
                  </a:lnTo>
                  <a:cubicBezTo>
                    <a:pt x="883160" y="0"/>
                    <a:pt x="892283" y="3779"/>
                    <a:pt x="899010" y="10506"/>
                  </a:cubicBezTo>
                  <a:cubicBezTo>
                    <a:pt x="905737" y="17233"/>
                    <a:pt x="909516" y="26357"/>
                    <a:pt x="909516" y="35870"/>
                  </a:cubicBezTo>
                  <a:lnTo>
                    <a:pt x="909516" y="227434"/>
                  </a:lnTo>
                  <a:cubicBezTo>
                    <a:pt x="909516" y="247244"/>
                    <a:pt x="893457" y="263304"/>
                    <a:pt x="873646" y="263304"/>
                  </a:cubicBezTo>
                  <a:lnTo>
                    <a:pt x="35870" y="263304"/>
                  </a:lnTo>
                  <a:cubicBezTo>
                    <a:pt x="26357" y="263304"/>
                    <a:pt x="17233" y="259524"/>
                    <a:pt x="10506" y="252798"/>
                  </a:cubicBezTo>
                  <a:cubicBezTo>
                    <a:pt x="3779" y="246071"/>
                    <a:pt x="0" y="236947"/>
                    <a:pt x="0" y="227434"/>
                  </a:cubicBezTo>
                  <a:lnTo>
                    <a:pt x="0" y="35870"/>
                  </a:lnTo>
                  <a:cubicBezTo>
                    <a:pt x="0" y="26357"/>
                    <a:pt x="3779" y="17233"/>
                    <a:pt x="10506" y="10506"/>
                  </a:cubicBezTo>
                  <a:cubicBezTo>
                    <a:pt x="17233" y="3779"/>
                    <a:pt x="26357" y="0"/>
                    <a:pt x="358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09516" cy="301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57468" y="4789770"/>
            <a:ext cx="3422244" cy="999731"/>
            <a:chOff x="0" y="0"/>
            <a:chExt cx="901332" cy="263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1332" cy="263304"/>
            </a:xfrm>
            <a:custGeom>
              <a:avLst/>
              <a:gdLst/>
              <a:ahLst/>
              <a:cxnLst/>
              <a:rect r="r" b="b" t="t" l="l"/>
              <a:pathLst>
                <a:path h="263304" w="901332">
                  <a:moveTo>
                    <a:pt x="36196" y="0"/>
                  </a:moveTo>
                  <a:lnTo>
                    <a:pt x="865136" y="0"/>
                  </a:lnTo>
                  <a:cubicBezTo>
                    <a:pt x="885126" y="0"/>
                    <a:pt x="901332" y="16205"/>
                    <a:pt x="901332" y="36196"/>
                  </a:cubicBezTo>
                  <a:lnTo>
                    <a:pt x="901332" y="227108"/>
                  </a:lnTo>
                  <a:cubicBezTo>
                    <a:pt x="901332" y="247098"/>
                    <a:pt x="885126" y="263304"/>
                    <a:pt x="865136" y="263304"/>
                  </a:cubicBezTo>
                  <a:lnTo>
                    <a:pt x="36196" y="263304"/>
                  </a:lnTo>
                  <a:cubicBezTo>
                    <a:pt x="16205" y="263304"/>
                    <a:pt x="0" y="247098"/>
                    <a:pt x="0" y="227108"/>
                  </a:cubicBezTo>
                  <a:lnTo>
                    <a:pt x="0" y="36196"/>
                  </a:lnTo>
                  <a:cubicBezTo>
                    <a:pt x="0" y="16205"/>
                    <a:pt x="16205" y="0"/>
                    <a:pt x="3619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01332" cy="301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05958" y="4789770"/>
            <a:ext cx="3458311" cy="999731"/>
            <a:chOff x="0" y="0"/>
            <a:chExt cx="910831" cy="263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0831" cy="263304"/>
            </a:xfrm>
            <a:custGeom>
              <a:avLst/>
              <a:gdLst/>
              <a:ahLst/>
              <a:cxnLst/>
              <a:rect r="r" b="b" t="t" l="l"/>
              <a:pathLst>
                <a:path h="263304" w="910831">
                  <a:moveTo>
                    <a:pt x="35818" y="0"/>
                  </a:moveTo>
                  <a:lnTo>
                    <a:pt x="875013" y="0"/>
                  </a:lnTo>
                  <a:cubicBezTo>
                    <a:pt x="894794" y="0"/>
                    <a:pt x="910831" y="16036"/>
                    <a:pt x="910831" y="35818"/>
                  </a:cubicBezTo>
                  <a:lnTo>
                    <a:pt x="910831" y="227485"/>
                  </a:lnTo>
                  <a:cubicBezTo>
                    <a:pt x="910831" y="247267"/>
                    <a:pt x="894794" y="263304"/>
                    <a:pt x="875013" y="263304"/>
                  </a:cubicBezTo>
                  <a:lnTo>
                    <a:pt x="35818" y="263304"/>
                  </a:lnTo>
                  <a:cubicBezTo>
                    <a:pt x="26319" y="263304"/>
                    <a:pt x="17208" y="259530"/>
                    <a:pt x="10491" y="252813"/>
                  </a:cubicBezTo>
                  <a:cubicBezTo>
                    <a:pt x="3774" y="246095"/>
                    <a:pt x="0" y="236985"/>
                    <a:pt x="0" y="227485"/>
                  </a:cubicBezTo>
                  <a:lnTo>
                    <a:pt x="0" y="35818"/>
                  </a:lnTo>
                  <a:cubicBezTo>
                    <a:pt x="0" y="26319"/>
                    <a:pt x="3774" y="17208"/>
                    <a:pt x="10491" y="10491"/>
                  </a:cubicBezTo>
                  <a:cubicBezTo>
                    <a:pt x="17208" y="3774"/>
                    <a:pt x="26319" y="0"/>
                    <a:pt x="3581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0831" cy="301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12970" y="3819739"/>
            <a:ext cx="669155" cy="669155"/>
          </a:xfrm>
          <a:custGeom>
            <a:avLst/>
            <a:gdLst/>
            <a:ahLst/>
            <a:cxnLst/>
            <a:rect r="r" b="b" t="t" l="l"/>
            <a:pathLst>
              <a:path h="669155" w="669155">
                <a:moveTo>
                  <a:pt x="0" y="0"/>
                </a:moveTo>
                <a:lnTo>
                  <a:pt x="669155" y="0"/>
                </a:lnTo>
                <a:lnTo>
                  <a:pt x="669155" y="669155"/>
                </a:lnTo>
                <a:lnTo>
                  <a:pt x="0" y="669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533361" y="3777715"/>
            <a:ext cx="669155" cy="669155"/>
          </a:xfrm>
          <a:custGeom>
            <a:avLst/>
            <a:gdLst/>
            <a:ahLst/>
            <a:cxnLst/>
            <a:rect r="r" b="b" t="t" l="l"/>
            <a:pathLst>
              <a:path h="669155" w="669155">
                <a:moveTo>
                  <a:pt x="0" y="0"/>
                </a:moveTo>
                <a:lnTo>
                  <a:pt x="669155" y="0"/>
                </a:lnTo>
                <a:lnTo>
                  <a:pt x="669155" y="669155"/>
                </a:lnTo>
                <a:lnTo>
                  <a:pt x="0" y="669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988050" y="3831224"/>
            <a:ext cx="646185" cy="646185"/>
          </a:xfrm>
          <a:custGeom>
            <a:avLst/>
            <a:gdLst/>
            <a:ahLst/>
            <a:cxnLst/>
            <a:rect r="r" b="b" t="t" l="l"/>
            <a:pathLst>
              <a:path h="646185" w="646185">
                <a:moveTo>
                  <a:pt x="0" y="0"/>
                </a:moveTo>
                <a:lnTo>
                  <a:pt x="646185" y="0"/>
                </a:lnTo>
                <a:lnTo>
                  <a:pt x="646185" y="646185"/>
                </a:lnTo>
                <a:lnTo>
                  <a:pt x="0" y="64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54459" y="620311"/>
            <a:ext cx="9372694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문제 제기 및 시장 분석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6131" y="6080504"/>
            <a:ext cx="2973892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현재 시장에서 직면하고 있는 구체적인 문제 설명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6131" y="7007941"/>
            <a:ext cx="2973892" cy="147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예) 현 물류 시스템은 높은 비용과 느린 처리 속도로 인해 효율성이 저하되고 있습니다.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45302" y="6080504"/>
            <a:ext cx="3022132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문제를 뒷받침하는 데이터와 통계 제공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5302" y="7007941"/>
            <a:ext cx="3022132" cy="185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예) 최근 조사에 따르면, 물류 비용은 전체 비즈니스 운영 비용의 30% 이상을 차지하며, 이 수치는 지속적으로 증가하고 있습니다.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7569" y="6080504"/>
            <a:ext cx="3215091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주요 경쟁사들의 접근 방식 및 그 한계 설명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27569" y="7007941"/>
            <a:ext cx="3215091" cy="147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예) 경쟁사 X는 자동화 시스템을 도입했지만 초기 투자 비용 대비 효율성 증대는 미미한 수준입니다.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9224" y="5027524"/>
            <a:ext cx="1953337" cy="5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39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문제 제기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79699" y="5027524"/>
            <a:ext cx="1953337" cy="5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39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시장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72220" y="5008647"/>
            <a:ext cx="1953337" cy="5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39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경쟁사 분석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16557" y="4619720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39802" y="6982758"/>
            <a:ext cx="18858857" cy="3443906"/>
            <a:chOff x="0" y="0"/>
            <a:chExt cx="838171" cy="153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8171" cy="153063"/>
            </a:xfrm>
            <a:custGeom>
              <a:avLst/>
              <a:gdLst/>
              <a:ahLst/>
              <a:cxnLst/>
              <a:rect r="r" b="b" t="t" l="l"/>
              <a:pathLst>
                <a:path h="153063" w="838171">
                  <a:moveTo>
                    <a:pt x="0" y="0"/>
                  </a:moveTo>
                  <a:lnTo>
                    <a:pt x="838171" y="0"/>
                  </a:lnTo>
                  <a:lnTo>
                    <a:pt x="838171" y="153063"/>
                  </a:lnTo>
                  <a:lnTo>
                    <a:pt x="0" y="153063"/>
                  </a:lnTo>
                  <a:close/>
                </a:path>
              </a:pathLst>
            </a:custGeom>
            <a:blipFill>
              <a:blip r:embed="rId2"/>
              <a:stretch>
                <a:fillRect l="0" t="-18815" r="0" b="-19810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49440" y="2099016"/>
            <a:ext cx="5380855" cy="20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프로젝트의</a:t>
            </a:r>
          </a:p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필요성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4341" y="2175216"/>
            <a:ext cx="6211481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문제해결의 필요성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4341" y="2761288"/>
            <a:ext cx="10414959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문제를 해결하지 않을 경우 발생할 수 있는 부정적 결과 설명</a:t>
            </a:r>
          </a:p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예) 현재 문제를 해결하지 않으면 물류 비용은 5년 내에 20% 더 증가할 것으로 예상됩니다.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44341" y="4597678"/>
            <a:ext cx="6759903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기회 강조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44341" y="5169178"/>
            <a:ext cx="10414959" cy="110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문제를 해결함으로써 얻을 수 있는 기회와 이점</a:t>
            </a:r>
          </a:p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효율적인 스마트 물류 시스템 도입 시 비용 절감뿐만 아니라 고객 만족도도 크게 향상될 것입니다.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47955"/>
            <a:ext cx="18288000" cy="1375410"/>
            <a:chOff x="0" y="0"/>
            <a:chExt cx="24384000" cy="183388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4775200" cy="1833880"/>
            </a:xfrm>
            <a:prstGeom prst="rect">
              <a:avLst/>
            </a:prstGeom>
            <a:solidFill>
              <a:srgbClr val="D9D9D9"/>
            </a:solidFill>
          </p:spPr>
        </p:sp>
        <p:sp>
          <p:nvSpPr>
            <p:cNvPr name="AutoShape 4" id="4"/>
            <p:cNvSpPr/>
            <p:nvPr/>
          </p:nvSpPr>
          <p:spPr>
            <a:xfrm>
              <a:off x="4902200" y="0"/>
              <a:ext cx="4775200" cy="1833880"/>
            </a:xfrm>
            <a:prstGeom prst="rect">
              <a:avLst/>
            </a:prstGeom>
            <a:solidFill>
              <a:srgbClr val="A6A6A6"/>
            </a:solidFill>
          </p:spPr>
        </p:sp>
        <p:sp>
          <p:nvSpPr>
            <p:cNvPr name="AutoShape 5" id="5"/>
            <p:cNvSpPr/>
            <p:nvPr/>
          </p:nvSpPr>
          <p:spPr>
            <a:xfrm>
              <a:off x="9804400" y="0"/>
              <a:ext cx="4775200" cy="1833880"/>
            </a:xfrm>
            <a:prstGeom prst="rect">
              <a:avLst/>
            </a:prstGeom>
            <a:solidFill>
              <a:srgbClr val="737373"/>
            </a:solidFill>
          </p:spPr>
        </p:sp>
        <p:sp>
          <p:nvSpPr>
            <p:cNvPr name="AutoShape 6" id="6"/>
            <p:cNvSpPr/>
            <p:nvPr/>
          </p:nvSpPr>
          <p:spPr>
            <a:xfrm>
              <a:off x="14706600" y="0"/>
              <a:ext cx="4775200" cy="1833880"/>
            </a:xfrm>
            <a:prstGeom prst="rect">
              <a:avLst/>
            </a:prstGeom>
            <a:solidFill>
              <a:srgbClr val="545454"/>
            </a:solidFill>
          </p:spPr>
        </p:sp>
        <p:sp>
          <p:nvSpPr>
            <p:cNvPr name="AutoShape 7" id="7"/>
            <p:cNvSpPr/>
            <p:nvPr/>
          </p:nvSpPr>
          <p:spPr>
            <a:xfrm>
              <a:off x="19608800" y="0"/>
              <a:ext cx="4775200" cy="1833880"/>
            </a:xfrm>
            <a:prstGeom prst="rect">
              <a:avLst/>
            </a:prstGeom>
            <a:solidFill>
              <a:srgbClr val="27272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647115"/>
            <a:ext cx="18288000" cy="1375410"/>
            <a:chOff x="0" y="0"/>
            <a:chExt cx="24384000" cy="1833880"/>
          </a:xfrm>
        </p:grpSpPr>
        <p:sp>
          <p:nvSpPr>
            <p:cNvPr name="AutoShape 9" id="9"/>
            <p:cNvSpPr/>
            <p:nvPr/>
          </p:nvSpPr>
          <p:spPr>
            <a:xfrm>
              <a:off x="0" y="0"/>
              <a:ext cx="4775200" cy="1833880"/>
            </a:xfrm>
            <a:prstGeom prst="rect">
              <a:avLst/>
            </a:prstGeom>
            <a:solidFill>
              <a:srgbClr val="D9D9D9"/>
            </a:solidFill>
          </p:spPr>
        </p:sp>
        <p:sp>
          <p:nvSpPr>
            <p:cNvPr name="AutoShape 10" id="10"/>
            <p:cNvSpPr/>
            <p:nvPr/>
          </p:nvSpPr>
          <p:spPr>
            <a:xfrm>
              <a:off x="4902200" y="0"/>
              <a:ext cx="4775200" cy="1833880"/>
            </a:xfrm>
            <a:prstGeom prst="rect">
              <a:avLst/>
            </a:prstGeom>
            <a:solidFill>
              <a:srgbClr val="A6A6A6"/>
            </a:solidFill>
          </p:spPr>
        </p:sp>
        <p:sp>
          <p:nvSpPr>
            <p:cNvPr name="AutoShape 11" id="11"/>
            <p:cNvSpPr/>
            <p:nvPr/>
          </p:nvSpPr>
          <p:spPr>
            <a:xfrm>
              <a:off x="9804400" y="0"/>
              <a:ext cx="4775200" cy="1833880"/>
            </a:xfrm>
            <a:prstGeom prst="rect">
              <a:avLst/>
            </a:prstGeom>
            <a:solidFill>
              <a:srgbClr val="737373"/>
            </a:solidFill>
          </p:spPr>
        </p:sp>
        <p:sp>
          <p:nvSpPr>
            <p:cNvPr name="AutoShape 12" id="12"/>
            <p:cNvSpPr/>
            <p:nvPr/>
          </p:nvSpPr>
          <p:spPr>
            <a:xfrm>
              <a:off x="14706600" y="0"/>
              <a:ext cx="4775200" cy="1833880"/>
            </a:xfrm>
            <a:prstGeom prst="rect">
              <a:avLst/>
            </a:prstGeom>
            <a:solidFill>
              <a:srgbClr val="545454"/>
            </a:solidFill>
          </p:spPr>
        </p:sp>
        <p:sp>
          <p:nvSpPr>
            <p:cNvPr name="AutoShape 13" id="13"/>
            <p:cNvSpPr/>
            <p:nvPr/>
          </p:nvSpPr>
          <p:spPr>
            <a:xfrm>
              <a:off x="19608800" y="0"/>
              <a:ext cx="4775200" cy="1833880"/>
            </a:xfrm>
            <a:prstGeom prst="rect">
              <a:avLst/>
            </a:prstGeom>
            <a:solidFill>
              <a:srgbClr val="27272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6171189"/>
            <a:ext cx="18288000" cy="1581742"/>
            <a:chOff x="0" y="0"/>
            <a:chExt cx="24384000" cy="2108990"/>
          </a:xfrm>
        </p:grpSpPr>
        <p:sp>
          <p:nvSpPr>
            <p:cNvPr name="AutoShape 15" id="15"/>
            <p:cNvSpPr/>
            <p:nvPr/>
          </p:nvSpPr>
          <p:spPr>
            <a:xfrm>
              <a:off x="0" y="0"/>
              <a:ext cx="4775200" cy="2108990"/>
            </a:xfrm>
            <a:prstGeom prst="rect">
              <a:avLst/>
            </a:prstGeom>
            <a:solidFill>
              <a:srgbClr val="D9D9D9"/>
            </a:solidFill>
          </p:spPr>
        </p:sp>
        <p:sp>
          <p:nvSpPr>
            <p:cNvPr name="AutoShape 16" id="16"/>
            <p:cNvSpPr/>
            <p:nvPr/>
          </p:nvSpPr>
          <p:spPr>
            <a:xfrm>
              <a:off x="4902200" y="0"/>
              <a:ext cx="4775200" cy="2108990"/>
            </a:xfrm>
            <a:prstGeom prst="rect">
              <a:avLst/>
            </a:prstGeom>
            <a:solidFill>
              <a:srgbClr val="A6A6A6"/>
            </a:solidFill>
          </p:spPr>
        </p:sp>
        <p:sp>
          <p:nvSpPr>
            <p:cNvPr name="AutoShape 17" id="17"/>
            <p:cNvSpPr/>
            <p:nvPr/>
          </p:nvSpPr>
          <p:spPr>
            <a:xfrm>
              <a:off x="9804400" y="0"/>
              <a:ext cx="4775200" cy="2108990"/>
            </a:xfrm>
            <a:prstGeom prst="rect">
              <a:avLst/>
            </a:prstGeom>
            <a:solidFill>
              <a:srgbClr val="737373"/>
            </a:solidFill>
          </p:spPr>
        </p:sp>
        <p:sp>
          <p:nvSpPr>
            <p:cNvPr name="AutoShape 18" id="18"/>
            <p:cNvSpPr/>
            <p:nvPr/>
          </p:nvSpPr>
          <p:spPr>
            <a:xfrm>
              <a:off x="14706600" y="0"/>
              <a:ext cx="4775200" cy="2108990"/>
            </a:xfrm>
            <a:prstGeom prst="rect">
              <a:avLst/>
            </a:prstGeom>
            <a:solidFill>
              <a:srgbClr val="545454"/>
            </a:solidFill>
          </p:spPr>
        </p:sp>
        <p:sp>
          <p:nvSpPr>
            <p:cNvPr name="AutoShape 19" id="19"/>
            <p:cNvSpPr/>
            <p:nvPr/>
          </p:nvSpPr>
          <p:spPr>
            <a:xfrm>
              <a:off x="19608800" y="0"/>
              <a:ext cx="4775200" cy="2108990"/>
            </a:xfrm>
            <a:prstGeom prst="rect">
              <a:avLst/>
            </a:prstGeom>
            <a:solidFill>
              <a:srgbClr val="27272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7905331"/>
            <a:ext cx="18288000" cy="1581742"/>
            <a:chOff x="0" y="0"/>
            <a:chExt cx="24384000" cy="2108990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2"/>
            <a:srcRect l="0" t="16917" r="0" b="16917"/>
            <a:stretch>
              <a:fillRect/>
            </a:stretch>
          </p:blipFill>
          <p:spPr>
            <a:xfrm flipH="false" flipV="false">
              <a:off x="0" y="0"/>
              <a:ext cx="4775200" cy="2108990"/>
            </a:xfrm>
            <a:prstGeom prst="rect">
              <a:avLst/>
            </a:prstGeom>
          </p:spPr>
        </p:pic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3"/>
            <a:srcRect l="0" t="17525" r="0" b="17525"/>
            <a:stretch>
              <a:fillRect/>
            </a:stretch>
          </p:blipFill>
          <p:spPr>
            <a:xfrm flipH="false" flipV="false">
              <a:off x="4902200" y="0"/>
              <a:ext cx="4775200" cy="2108990"/>
            </a:xfrm>
            <a:prstGeom prst="rect">
              <a:avLst/>
            </a:prstGeom>
          </p:spPr>
        </p:pic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4"/>
            <a:srcRect l="0" t="17284" r="0" b="17284"/>
            <a:stretch>
              <a:fillRect/>
            </a:stretch>
          </p:blipFill>
          <p:spPr>
            <a:xfrm flipH="false" flipV="false">
              <a:off x="9804400" y="0"/>
              <a:ext cx="4775200" cy="2108990"/>
            </a:xfrm>
            <a:prstGeom prst="rect">
              <a:avLst/>
            </a:prstGeom>
          </p:spPr>
        </p:pic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5"/>
            <a:srcRect l="0" t="18396" r="0" b="18396"/>
            <a:stretch>
              <a:fillRect/>
            </a:stretch>
          </p:blipFill>
          <p:spPr>
            <a:xfrm flipH="false" flipV="false">
              <a:off x="14706600" y="0"/>
              <a:ext cx="4775200" cy="2108990"/>
            </a:xfrm>
            <a:prstGeom prst="rect">
              <a:avLst/>
            </a:prstGeom>
          </p:spPr>
        </p:pic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6"/>
            <a:srcRect l="0" t="16730" r="0" b="16730"/>
            <a:stretch>
              <a:fillRect/>
            </a:stretch>
          </p:blipFill>
          <p:spPr>
            <a:xfrm flipH="false" flipV="false">
              <a:off x="19608800" y="0"/>
              <a:ext cx="4775200" cy="2108990"/>
            </a:xfrm>
            <a:prstGeom prst="rect">
              <a:avLst/>
            </a:prstGeom>
          </p:spPr>
        </p:pic>
      </p:grpSp>
      <p:sp>
        <p:nvSpPr>
          <p:cNvPr name="AutoShape 26" id="26"/>
          <p:cNvSpPr/>
          <p:nvPr/>
        </p:nvSpPr>
        <p:spPr>
          <a:xfrm>
            <a:off x="-287996" y="2038460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110661" y="755049"/>
            <a:ext cx="7684303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 목표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6602" y="3172868"/>
            <a:ext cx="2537958" cy="119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Specific</a:t>
            </a:r>
          </a:p>
          <a:p>
            <a:pPr algn="ctr" marL="0" indent="0" lvl="0">
              <a:lnSpc>
                <a:spcPts val="485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(구체적)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3713" y="4975022"/>
            <a:ext cx="1863736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3"/>
              </a:lnSpc>
            </a:pPr>
            <a:r>
              <a:rPr lang="en-US" b="true" sz="7670" spc="-613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34422" y="4975022"/>
            <a:ext cx="1863736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3"/>
              </a:lnSpc>
            </a:pPr>
            <a:r>
              <a:rPr lang="en-US" b="true" sz="7670" spc="-613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25131" y="4975022"/>
            <a:ext cx="1863736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3"/>
              </a:lnSpc>
            </a:pPr>
            <a:r>
              <a:rPr lang="en-US" b="true" sz="7670" spc="-613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15840" y="4975022"/>
            <a:ext cx="1863736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3"/>
              </a:lnSpc>
            </a:pPr>
            <a:r>
              <a:rPr lang="en-US" b="true" sz="7670" spc="-613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706549" y="4975022"/>
            <a:ext cx="1863736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3"/>
              </a:lnSpc>
            </a:pPr>
            <a:r>
              <a:rPr lang="en-US" b="true" sz="7670" spc="-613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6725" y="6550790"/>
            <a:ext cx="2550018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물류 시스템 처리 속도를 30% 증가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52858" y="6550790"/>
            <a:ext cx="2550018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향후 6개월 동안 비용을 15% 절감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68991" y="6550790"/>
            <a:ext cx="2550018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최신 기술 도입을 통해 달성 가능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63470" y="6550790"/>
            <a:ext cx="2550018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비즈니스 전략과 일치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38231" y="6550790"/>
            <a:ext cx="2550018" cy="73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완료 기한: 2030년 11월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37597" y="3172868"/>
            <a:ext cx="3232529" cy="119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59"/>
              </a:lnSpc>
              <a:spcBef>
                <a:spcPct val="0"/>
              </a:spcBef>
            </a:pPr>
            <a:r>
              <a:rPr lang="en-US" b="true" sz="2999" spc="-239" strike="noStrike" u="none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Measurable</a:t>
            </a:r>
          </a:p>
          <a:p>
            <a:pPr algn="ctr" marL="0" indent="0" lvl="0">
              <a:lnSpc>
                <a:spcPts val="4859"/>
              </a:lnSpc>
              <a:spcBef>
                <a:spcPct val="0"/>
              </a:spcBef>
            </a:pPr>
            <a:r>
              <a:rPr lang="en-US" b="true" sz="2999" spc="-239" strike="noStrike" u="none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(측정 가능)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27736" y="3172868"/>
            <a:ext cx="3232529" cy="119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Achievable</a:t>
            </a:r>
          </a:p>
          <a:p>
            <a:pPr algn="ctr" marL="0" indent="0" lvl="0">
              <a:lnSpc>
                <a:spcPts val="4859"/>
              </a:lnSpc>
              <a:spcBef>
                <a:spcPct val="0"/>
              </a:spcBef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(달성 가능)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22214" y="3172868"/>
            <a:ext cx="3232529" cy="119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b="true" sz="2999" spc="-239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Relevant</a:t>
            </a:r>
          </a:p>
          <a:p>
            <a:pPr algn="ctr" marL="0" indent="0" lvl="0">
              <a:lnSpc>
                <a:spcPts val="4859"/>
              </a:lnSpc>
              <a:spcBef>
                <a:spcPct val="0"/>
              </a:spcBef>
            </a:pPr>
            <a:r>
              <a:rPr lang="en-US" b="true" sz="2999" spc="-239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(관련성 있는)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896975" y="3172868"/>
            <a:ext cx="3232529" cy="119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b="true" sz="2999" spc="-239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Time-bound</a:t>
            </a:r>
          </a:p>
          <a:p>
            <a:pPr algn="ctr" marL="0" indent="0" lvl="0">
              <a:lnSpc>
                <a:spcPts val="4859"/>
              </a:lnSpc>
              <a:spcBef>
                <a:spcPct val="0"/>
              </a:spcBef>
            </a:pPr>
            <a:r>
              <a:rPr lang="en-US" b="true" sz="2999" spc="-239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(기한 명시)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359048" y="1658180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152080" y="3546123"/>
            <a:ext cx="7549818" cy="5246370"/>
            <a:chOff x="0" y="0"/>
            <a:chExt cx="116966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9664" cy="812800"/>
            </a:xfrm>
            <a:custGeom>
              <a:avLst/>
              <a:gdLst/>
              <a:ahLst/>
              <a:cxnLst/>
              <a:rect r="r" b="b" t="t" l="l"/>
              <a:pathLst>
                <a:path h="812800" w="1169664">
                  <a:moveTo>
                    <a:pt x="0" y="0"/>
                  </a:moveTo>
                  <a:lnTo>
                    <a:pt x="1169664" y="0"/>
                  </a:lnTo>
                  <a:lnTo>
                    <a:pt x="116966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9520" t="0" r="-952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36131" y="365244"/>
            <a:ext cx="5489175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 범위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5934" y="3606250"/>
            <a:ext cx="6116397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포함내용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5934" y="4226131"/>
            <a:ext cx="9440899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자동화된 물류 시스템 설계 및 구축, 기존 시스템과의 통합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5934" y="5706626"/>
            <a:ext cx="3972770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제외내용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5934" y="6326507"/>
            <a:ext cx="9440899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해외 시장 도입은 이번 프로젝트의 범위에서 제외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5934" y="7807001"/>
            <a:ext cx="3972770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한계점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5934" y="8426882"/>
            <a:ext cx="9440899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초기 도입 단계에서 추가 인력 고용은 고려되지 않음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15804" y="3162903"/>
            <a:ext cx="7432954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95159" y="3897557"/>
            <a:ext cx="2504951" cy="2504941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4986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74579" y="3897557"/>
            <a:ext cx="2504951" cy="2504941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4986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54000" y="3897557"/>
            <a:ext cx="2504951" cy="2504941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8277" t="0" r="-2827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35351" y="3897557"/>
            <a:ext cx="2504951" cy="2504941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25046" t="0" r="-2504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580712"/>
            <a:ext cx="7684303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주요 일정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3138" y="6861520"/>
            <a:ext cx="3331915" cy="7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1단계</a:t>
            </a:r>
          </a:p>
          <a:p>
            <a:pPr algn="ctr" marL="0" indent="0" lvl="0">
              <a:lnSpc>
                <a:spcPts val="2957"/>
              </a:lnSpc>
              <a:spcBef>
                <a:spcPct val="0"/>
              </a:spcBef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현 시스템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3138" y="7789766"/>
            <a:ext cx="3331915" cy="147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시스템 문제파악,</a:t>
            </a:r>
          </a:p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수집</a:t>
            </a:r>
          </a:p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현재 시스템의 문제점 및</a:t>
            </a:r>
          </a:p>
          <a:p>
            <a:pPr algn="ctr" marL="0" indent="0" lvl="0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개선 가능성 도출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61097" y="6861520"/>
            <a:ext cx="3331915" cy="7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2단계</a:t>
            </a:r>
          </a:p>
          <a:p>
            <a:pPr algn="ctr" marL="0" indent="0" lvl="0">
              <a:lnSpc>
                <a:spcPts val="2957"/>
              </a:lnSpc>
              <a:spcBef>
                <a:spcPct val="0"/>
              </a:spcBef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솔루션 설계 및 개발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61097" y="7789766"/>
            <a:ext cx="3331915" cy="147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솔루션 설계,</a:t>
            </a:r>
          </a:p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테스트 환경 구축</a:t>
            </a:r>
          </a:p>
          <a:p>
            <a:pPr algn="ctr" marL="0" indent="0" lvl="0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스마트 물류 솔루션의 초기 설계와 개발 완료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40518" y="6861520"/>
            <a:ext cx="3331915" cy="7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3단계</a:t>
            </a:r>
          </a:p>
          <a:p>
            <a:pPr algn="ctr" marL="0" indent="0" lvl="0">
              <a:lnSpc>
                <a:spcPts val="2957"/>
              </a:lnSpc>
              <a:spcBef>
                <a:spcPct val="0"/>
              </a:spcBef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시범 운영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40518" y="7789766"/>
            <a:ext cx="3331915" cy="110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시범 운영 및 데이터 피드백</a:t>
            </a:r>
          </a:p>
          <a:p>
            <a:pPr algn="ctr" marL="0" indent="0" lvl="0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시범 운영을 통한 초기 성과 분석 및 피드백 반영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1869" y="6850492"/>
            <a:ext cx="3331915" cy="7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4단계</a:t>
            </a:r>
          </a:p>
          <a:p>
            <a:pPr algn="ctr" marL="0" indent="0" lvl="0">
              <a:lnSpc>
                <a:spcPts val="2957"/>
              </a:lnSpc>
              <a:spcBef>
                <a:spcPct val="0"/>
              </a:spcBef>
            </a:pPr>
            <a:r>
              <a:rPr lang="en-US" b="true" sz="2275" spc="-182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최적화 및 전체 도입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21869" y="7778738"/>
            <a:ext cx="3331915" cy="110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전면 도입 및 최종 조정</a:t>
            </a:r>
          </a:p>
          <a:p>
            <a:pPr algn="ctr">
              <a:lnSpc>
                <a:spcPts val="2941"/>
              </a:lnSpc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전 단계 완료 후</a:t>
            </a:r>
          </a:p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1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전체 시스템 도입 완료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6764" y="2312111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346220" y="0"/>
            <a:ext cx="7941780" cy="10287000"/>
            <a:chOff x="0" y="0"/>
            <a:chExt cx="352968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2968" cy="457200"/>
            </a:xfrm>
            <a:custGeom>
              <a:avLst/>
              <a:gdLst/>
              <a:ahLst/>
              <a:cxnLst/>
              <a:rect r="r" b="b" t="t" l="l"/>
              <a:pathLst>
                <a:path h="457200" w="352968">
                  <a:moveTo>
                    <a:pt x="0" y="0"/>
                  </a:moveTo>
                  <a:lnTo>
                    <a:pt x="352968" y="0"/>
                  </a:lnTo>
                  <a:lnTo>
                    <a:pt x="3529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/>
              <a:stretch>
                <a:fillRect l="-55955" t="0" r="-5595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31893" y="1028700"/>
            <a:ext cx="7684303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리스크 관리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1893" y="3382079"/>
            <a:ext cx="6411613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예상 리스크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1893" y="4196701"/>
            <a:ext cx="7384905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기술 통합 실패, 예산 초과, 일정 지연 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1893" y="6248386"/>
            <a:ext cx="6411613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999" spc="-239">
                <a:solidFill>
                  <a:srgbClr val="272727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대응방안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1893" y="7063009"/>
            <a:ext cx="7384905" cy="36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940"/>
              </a:lnSpc>
            </a:pPr>
            <a:r>
              <a:rPr lang="en-US" sz="2100">
                <a:solidFill>
                  <a:srgbClr val="272727"/>
                </a:solidFill>
                <a:latin typeface="Nanum Gothic"/>
                <a:ea typeface="Nanum Gothic"/>
                <a:cs typeface="Nanum Gothic"/>
                <a:sym typeface="Nanum Gothic"/>
              </a:rPr>
              <a:t>예산 초과 시, 단계별 비용 조정 및 우선 순위 재설정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6764" y="2312111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74044" y="5143500"/>
            <a:ext cx="1644822" cy="1636244"/>
            <a:chOff x="0" y="0"/>
            <a:chExt cx="168119" cy="1672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119" cy="167242"/>
            </a:xfrm>
            <a:custGeom>
              <a:avLst/>
              <a:gdLst/>
              <a:ahLst/>
              <a:cxnLst/>
              <a:rect r="r" b="b" t="t" l="l"/>
              <a:pathLst>
                <a:path h="167242" w="168119">
                  <a:moveTo>
                    <a:pt x="0" y="0"/>
                  </a:moveTo>
                  <a:lnTo>
                    <a:pt x="168119" y="0"/>
                  </a:lnTo>
                  <a:lnTo>
                    <a:pt x="168119" y="167242"/>
                  </a:lnTo>
                  <a:lnTo>
                    <a:pt x="0" y="167242"/>
                  </a:lnTo>
                  <a:close/>
                </a:path>
              </a:pathLst>
            </a:custGeom>
            <a:blipFill>
              <a:blip r:embed="rId2"/>
              <a:stretch>
                <a:fillRect l="-24515" t="0" r="-2451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493313" y="5143500"/>
            <a:ext cx="1644822" cy="1636244"/>
            <a:chOff x="0" y="0"/>
            <a:chExt cx="168119" cy="1672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119" cy="167242"/>
            </a:xfrm>
            <a:custGeom>
              <a:avLst/>
              <a:gdLst/>
              <a:ahLst/>
              <a:cxnLst/>
              <a:rect r="r" b="b" t="t" l="l"/>
              <a:pathLst>
                <a:path h="167242" w="168119">
                  <a:moveTo>
                    <a:pt x="0" y="0"/>
                  </a:moveTo>
                  <a:lnTo>
                    <a:pt x="168119" y="0"/>
                  </a:lnTo>
                  <a:lnTo>
                    <a:pt x="168119" y="167242"/>
                  </a:lnTo>
                  <a:lnTo>
                    <a:pt x="0" y="167242"/>
                  </a:lnTo>
                  <a:close/>
                </a:path>
              </a:pathLst>
            </a:custGeom>
            <a:blipFill>
              <a:blip r:embed="rId3"/>
              <a:stretch>
                <a:fillRect l="0" t="-18629" r="0" b="-3225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12583" y="5143500"/>
            <a:ext cx="1644822" cy="1636244"/>
            <a:chOff x="0" y="0"/>
            <a:chExt cx="168119" cy="1672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119" cy="167242"/>
            </a:xfrm>
            <a:custGeom>
              <a:avLst/>
              <a:gdLst/>
              <a:ahLst/>
              <a:cxnLst/>
              <a:rect r="r" b="b" t="t" l="l"/>
              <a:pathLst>
                <a:path h="167242" w="168119">
                  <a:moveTo>
                    <a:pt x="0" y="0"/>
                  </a:moveTo>
                  <a:lnTo>
                    <a:pt x="168119" y="0"/>
                  </a:lnTo>
                  <a:lnTo>
                    <a:pt x="168119" y="167242"/>
                  </a:lnTo>
                  <a:lnTo>
                    <a:pt x="0" y="167242"/>
                  </a:lnTo>
                  <a:close/>
                </a:path>
              </a:pathLst>
            </a:custGeom>
            <a:blipFill>
              <a:blip r:embed="rId4"/>
              <a:stretch>
                <a:fillRect l="0" t="-8102" r="0" b="-4277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31893" y="1028700"/>
            <a:ext cx="7684303" cy="10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spc="-454">
                <a:solidFill>
                  <a:srgbClr val="27272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팀원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4044" y="7589216"/>
            <a:ext cx="3254782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팀장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74044" y="8059561"/>
            <a:ext cx="4259399" cy="48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3214" spc="-257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김보라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073" y="7589216"/>
            <a:ext cx="202831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팀원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073" y="8059561"/>
            <a:ext cx="2028311" cy="48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3214" spc="-257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박사랑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2102" y="7589216"/>
            <a:ext cx="142167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팀원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12102" y="8059472"/>
            <a:ext cx="2269510" cy="48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3214" spc="-257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김진수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31852" y="5143500"/>
            <a:ext cx="1644822" cy="1636244"/>
            <a:chOff x="0" y="0"/>
            <a:chExt cx="168119" cy="1672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119" cy="167242"/>
            </a:xfrm>
            <a:custGeom>
              <a:avLst/>
              <a:gdLst/>
              <a:ahLst/>
              <a:cxnLst/>
              <a:rect r="r" b="b" t="t" l="l"/>
              <a:pathLst>
                <a:path h="167242" w="168119">
                  <a:moveTo>
                    <a:pt x="0" y="0"/>
                  </a:moveTo>
                  <a:lnTo>
                    <a:pt x="168119" y="0"/>
                  </a:lnTo>
                  <a:lnTo>
                    <a:pt x="168119" y="167242"/>
                  </a:lnTo>
                  <a:lnTo>
                    <a:pt x="0" y="167242"/>
                  </a:lnTo>
                  <a:close/>
                </a:path>
              </a:pathLst>
            </a:custGeom>
            <a:blipFill>
              <a:blip r:embed="rId4"/>
              <a:stretch>
                <a:fillRect l="0" t="-8102" r="0" b="-4277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181612" y="7589216"/>
            <a:ext cx="1795529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팀원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81612" y="8059472"/>
            <a:ext cx="1595062" cy="48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3214" spc="-257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박수호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451121" y="5143500"/>
            <a:ext cx="1644822" cy="1636244"/>
            <a:chOff x="0" y="0"/>
            <a:chExt cx="168119" cy="1672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119" cy="167242"/>
            </a:xfrm>
            <a:custGeom>
              <a:avLst/>
              <a:gdLst/>
              <a:ahLst/>
              <a:cxnLst/>
              <a:rect r="r" b="b" t="t" l="l"/>
              <a:pathLst>
                <a:path h="167242" w="168119">
                  <a:moveTo>
                    <a:pt x="0" y="0"/>
                  </a:moveTo>
                  <a:lnTo>
                    <a:pt x="168119" y="0"/>
                  </a:lnTo>
                  <a:lnTo>
                    <a:pt x="168119" y="167242"/>
                  </a:lnTo>
                  <a:lnTo>
                    <a:pt x="0" y="167242"/>
                  </a:lnTo>
                  <a:close/>
                </a:path>
              </a:pathLst>
            </a:custGeom>
            <a:blipFill>
              <a:blip r:embed="rId4"/>
              <a:stretch>
                <a:fillRect l="0" t="-8102" r="0" b="-4277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451121" y="7589306"/>
            <a:ext cx="3254782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팀원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51121" y="8059561"/>
            <a:ext cx="2269510" cy="48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3214" spc="-257">
                <a:solidFill>
                  <a:srgbClr val="272727"/>
                </a:solidFill>
                <a:latin typeface="Garet"/>
                <a:ea typeface="Garet"/>
                <a:cs typeface="Garet"/>
                <a:sym typeface="Garet"/>
              </a:rPr>
              <a:t>이소망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060398" y="6577470"/>
            <a:ext cx="6492240" cy="0"/>
          </a:xfrm>
          <a:prstGeom prst="line">
            <a:avLst/>
          </a:prstGeom>
          <a:ln cap="flat" w="190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0015" y="6830237"/>
            <a:ext cx="7085727" cy="155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79"/>
              </a:lnSpc>
            </a:pPr>
            <a:r>
              <a:rPr lang="en-US" sz="2325" spc="116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+123-456-7890</a:t>
            </a:r>
          </a:p>
          <a:p>
            <a:pPr algn="r">
              <a:lnSpc>
                <a:spcPts val="4279"/>
              </a:lnSpc>
            </a:pPr>
            <a:r>
              <a:rPr lang="en-US" sz="2325" spc="116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325" spc="116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@reallygreatsite</a:t>
            </a:r>
          </a:p>
          <a:p>
            <a:pPr algn="r">
              <a:lnSpc>
                <a:spcPts val="4279"/>
              </a:lnSpc>
            </a:pPr>
            <a:r>
              <a:rPr lang="en-US" sz="2325" spc="116">
                <a:solidFill>
                  <a:srgbClr val="272727"/>
                </a:solidFill>
                <a:latin typeface="윤고딕"/>
                <a:ea typeface="윤고딕"/>
                <a:cs typeface="윤고딕"/>
                <a:sym typeface="윤고딕"/>
              </a:rPr>
              <a:t>www.reallygreatsite.com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60398" y="2376302"/>
            <a:ext cx="5317403" cy="101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26"/>
              </a:lnSpc>
            </a:pPr>
            <a:r>
              <a:rPr lang="en-US" sz="8283" spc="-579">
                <a:solidFill>
                  <a:srgbClr val="211E1B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DAHJMG49ImA</dc:identifier>
  <dcterms:modified xsi:type="dcterms:W3CDTF">2011-08-01T06:04:30Z</dcterms:modified>
  <cp:revision>1</cp:revision>
  <dc:title>흰색 검은색 깔끔한 프로젝트 제안 프레젠테이션</dc:title>
</cp:coreProperties>
</file>